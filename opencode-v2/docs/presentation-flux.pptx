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cb68eee-64cf-4918-c605-6c38e7d39647}">
          <p14:sldIdLst>
            <p14:sldId id="256"/>
            <p14:sldId id="257"/>
          </p14:sldIdLst>
        </p14:section>
        <p14:section name="/go" id="{96a4b0a6-c03c-4766-3b6c-6e75c23afdb9}">
          <p14:sldIdLst>
            <p14:sldId id="258"/>
            <p14:sldId id="259"/>
            <p14:sldId id="260"/>
            <p14:sldId id="261"/>
            <p14:sldId id="262"/>
          </p14:sldIdLst>
        </p14:section>
        <p14:section name="Les autres commandes" id="{8cd4f38d-d97c-da63-4b9a-d8e25234bb94}">
          <p14:sldIdLst>
            <p14:sldId id="263"/>
            <p14:sldId id="264"/>
            <p14:sldId id="265"/>
          </p14:sldIdLst>
        </p14:section>
        <p14:section name="Quand ça coince" id="{65756c7f-994b-1e15-534a-0b4443b0196a}">
          <p14:sldIdLst>
            <p14:sldId id="266"/>
          </p14:sldIdLst>
        </p14:section>
        <p14:section name="Conclusion" id="{6d742ae9-c371-d77b-6caa-f38a19a12e97}">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pack prend un ticket Jira et rend une merge request en Draft, avec ses tests et ses preuves. On va voir les quatre commandes qui comptent pour vous, puis ce qui se passe quand quelque chose coince : ce qui repart tout seul, et ce qui s'arrête.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matin, /daily est lancé tout seul et donne le point : sprint, reviews, MR et pipelines. Le développeur lance /go sur son ticket. S'il y a des questions (un ticket ambigu, pas de projet de tests), elles arrivent toutes au début, en un seul QCM, puis il peut partir. Le pack analyse, code étape par étape, prouve, se relit et pousse une MR en Draft. Un clic sur /fix dans le QCM « Suite » : /fix attend la fin de la CI, corrige ce que Sonar, Fortify ou les jobs remontent, et met la MR à jour. Le développeur relit la MR comme celle d'un collègue ; après des commentaires, /fix à nouveau, qui prépare aussi les réponses à coller.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temps. Préparer : la branche, l'analyse du ticket en une fiche, et en parallèle la mesure de la base (develop doit compiler, ses tests rouges sont notés pour ne pas être mis sur le dos du ticket). Coder : une étape à la fois, chacune prouvée avant son commit. Livrer : la suite complète et l'auto-review en même temps, les corrections, le contrôle avant push, la MR en Draft. En dessous, ce qui arrête le run à chaque temps, avec sa raison dans la fiche : on reprend là où ça s'est arrêté.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pilote lit l'état git (un fetch) et crée la branche du ticket. Ensuite, deux choses en parallèle : l'analyste lit le ticket Jira, ses pages Confluence et le code, et écrit la fiche (critères d'acceptation, plan de 2 à 7 étapes, tests attendus, décisions) ; pendant ce temps, la base est mesurée : build et tests de develop. Si develop ne compile pas, si la suite ne tient pas dans le temps d'une commande, ou si la machine n'a pas le bon SDK ou n'atteint pas Artifactory, on s'arrête ici, avec ce qu'il faut régler. Les questions bloquantes arrivent toutes ensemble dans un QCM ; avec la consigne « sans question », le pack prend les réponses recommandées et les note « à valider en review ». Ce qui repart tout seul : un fetch coupé (3 s puis 10 s), un appel Jira en erreur 5xx (un rappel après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bug, le test-guardian écrit d'abord le test qui le montre, rouge sur le code actuel. Pour une étape qui change du code existant, il pose d'abord le filet : au moins 80 % des lignes touchées couvertes par des tests du comportement actuel. Ces tests sont scellés : le coder ne peut pas les modifier. Le coder fait l'étape et ses tests, jusqu'au vert. Puis le pilote lance verify, un script, sans le modèle : scellé intact, vert deux fois, filet gardé, couverture. Tout vert : commit de l'étape. Pas vert : le test-guardian reprend dans sa session. Un échec du coder : le debugger cherche la cause racine, puis un 2e essai ; encore en échec, le run s'arrête avec la raison dans la fiche, et /go reprend là. Si le serveur du modèle coupe un sous-agent, il est repris une fois dans sa session, avec ce qu'il avait déjà 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 plan fini : la suite complète (build, tous les tests, la couverture des lignes modifiées, le front touché) et l'auto-review du checker, en parallèle. Un test rouge dans la suite complète est rejoué une fois : s'il passe alors, il est dit instable dans la MR, jamais caché. Les points bloquants et majeurs sont corrigés, en deux tours au plus. Puis ship.sh : la base fusionnée, le contrôle avant push sans le modèle (secrets, marqueurs de conflit, paquets payants, sorties de build), le push. Une coupure réseau est relancée après 3 puis 10 s ; si la branche a bougé sur GitLab entre-temps, ses commits sont ramenés et le push repart. Un secret ou un conflit : rien n'est poussé. Enfin la MR en Draft, avec ses décisions, ses tests et ses filets, et le QCM « Suite » qui propose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même mécanisme dans /go, /fix et /fortify, pour un bug, une faille ou un refactoring. Avant : le test-guardian mesure le filet, la part des lignes des méthodes touchées (et de celles qui y mènent) que des tests exécutent. Sous 80 %, il écrit d'abord les tests du comportement actuel qui manquent, verts deux fois. Puis les tests du problème : une entrée hostile ou le cas du bug, rouges deux fois pour la bonne raison. S'ils passent déjà, le code résiste : ils restent comme preuve. Un test dont le résultat change d'une fois à l'autre est refusé (FLAKY), jamais relancé jusqu'à passer. Tout est scellé. Après : le coder corrige sans toucher aux tests ; verify, un script, refait les contrôles ; tout vert, commit. Sinon le test-guardian reprend dans sa session ; une régression renvoie au 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tour : la MR, le pipeline de ce push, les projets Sonar et Fortify, par les serveurs MCP ; un appel en erreur 5xx ou sans réponse est rappelé une fois après 20 s. Si la CI tourne encore, /fix attend : une pause de 4 minutes, puis le seul statut du pipeline, 8 fois au plus (32 minutes). Puis le tri : à corriger, à répondre, hors périmètre. Un job tombé pour une raison d'infrastructure (runner, réseau, délai) se relance dans GitLab, jamais par un correctif. Les failles et les bugs passent par le filet et la preuve, trois au plus par run ; les autres points par le coder, par groupes de fichiers. Puis la suite complète et l'auto-review, ship.sh, la MR mise à jour, et les réponses aux discussions, prêtes à coller.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part de develop. /fortify prend les failles Critical et High de l'application dans Fortify, cinq au plus, la même catégorie d'abord. Trois analystes en parallèle écrivent une carte par faille, pendant que develop est mesuré : ses tests déjà rouges ne seront jamais mis sur le dos du lot ; si develop ne compile pas, rien n'est fait. Puis une vague de trois test-guardians au plus, sur des fichiers disjoints : chacun pose le filet et écrit la preuve rouge de sa faille ; les builds passent un par un grâce au verrou du dossier (20 minutes d'attente au plus). Ensuite, une faille à la fois : le coder corrige, verify contrôle. Trois issues : corrigée (fix(security)), le code résiste déjà (test(security), non exploitable), ou échec, mise de côté et récupérable. À la fin, la suite complète et l'auto-review, puis la MR en Draft avec une colonne Filet par faille.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donne un fichier ou une classe, ou rien pour avoir le menu des fichiers sans tests. Le script relève les faits : les projets de tests, bUnit pour les pages Blazor, le travail non commité. S'il manque quelque chose, un seul QCM : créer le projet de tests, ajouter bUnit, commiter d'abord son travail. Puis le test-guardian : la couverture avant, les tests du comportement actuel dans le style du dépôt, verts deux fois et passés à test-lint, la couverture après. Un test qui révèle un bug est écarté et signalé, jamais corrigé au passage. Puis un commit test(...) avec la couverture avant et après, et le QCM « Suite » qui propose /push. Deux variantes : /tests api pour les endpoints d'une API (la factory d'abord, un scénario vert, puis les autres), et /tests env pour vérifier un déploiement en lecture seule, jamais la production ; un environnement qui répond 503 le temps de redémarrer est redemandé après 3 puis 10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familles. Ce qui repart tout seul : une coupure du VPN pendant un fetch ou un push, un Artifactory ou un registre npm qui redémarre, un git status de Rider qui tient l'index au moment du commit, un appel Jira ou GitLab en erreur 5xx, le serveur du modèle qui tombe quelques minutes. Chaque nouvel essai tient dans le temps de la commande, et une ligne RETRY le dit dans la sortie. Ce qui est borné : rien n'attend sans limite, et un script qui atteint sa borne dit ce qui a tourné avant de s'arrêter. Ce qui n'est jamais relancé : tout ce qui échouerait pareil. En particulier un test n'est jamais relancé pour passer au vert : instable, il reste un défaut. Après les essais, une ligne ENVIRONMENT PROBLEM ou STOP dit quoi régler, hors d'OpenCode.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vous, trois choses. Le développeur n'intervient qu'au début, s'il y a des questions, et à la review de la MR. Chaque preuve tourne deux fois, et un test instable est un défaut, pas un aléa. Enfin rien n'attend sans limite : ce qui coince un instant repart seul, le reste s'arrête avec une phrase qui dit quoi faire. Le détail de chaque flux, avec les chiffres, est dans la carte des flux du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1F29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463040"/>
          </a:xfrm>
          <a:prstGeom prst="rect">
            <a:avLst/>
          </a:prstGeom>
          <a:noFill/>
          <a:ln/>
        </p:spPr>
        <p:txBody>
          <a:bodyPr wrap="square" rtlCol="0"/>
          <a:lstStyle>
            <a:lvl1pPr algn="l" indent="0" marL="0">
              <a:buNone/>
              <a:defRPr lang="en-US" sz="44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400" dirty="0"/>
          </a:p>
        </p:txBody>
      </p:sp>
      <p:sp>
        <p:nvSpPr>
          <p:cNvPr id="3" name="Text 0"/>
          <p:cNvSpPr/>
          <p:nvPr>
            <p:ph idx="101" type="body" hasCustomPrompt="1"/>
          </p:nvPr>
        </p:nvSpPr>
        <p:spPr>
          <a:xfrm>
            <a:off x="731520" y="3383280"/>
            <a:ext cx="10698480" cy="1097280"/>
          </a:xfrm>
          <a:prstGeom prst="rect">
            <a:avLst/>
          </a:prstGeom>
          <a:noFill/>
          <a:ln/>
        </p:spPr>
        <p:txBody>
          <a:bodyPr wrap="square" rtlCol="0"/>
          <a:lstStyle>
            <a:lvl1pPr algn="l" indent="0" marL="0">
              <a:buNone/>
              <a:defRPr lang="en-US" sz="2000" dirty="0">
                <a:solidFill>
                  <a:srgbClr val="C9D2D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CHEMA">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rtlCol="0"/>
          <a:lstStyle>
            <a:lvl1pPr algn="l" indent="0" marL="0">
              <a:buNone/>
              <a:defRPr lang="en-US" sz="3000" b="1" dirty="0">
                <a:solidFill>
                  <a:srgbClr val="1F2933"/>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rtlCol="0"/>
          <a:lstStyle>
            <a:lvl1pPr algn="l" indent="0" marL="0">
              <a:buNone/>
              <a:defRPr lang="en-US" sz="1500" dirty="0">
                <a:solidFill>
                  <a:srgbClr val="5B6470"/>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4" name="Shape 0"/>
          <p:cNvSpPr/>
          <p:nvPr/>
        </p:nvSpPr>
        <p:spPr>
          <a:xfrm>
            <a:off x="457200" y="6437376"/>
            <a:ext cx="274320" cy="164592"/>
          </a:xfrm>
          <a:prstGeom prst="rect">
            <a:avLst/>
          </a:prstGeom>
          <a:solidFill>
            <a:srgbClr val="E4EEF8"/>
          </a:solidFill>
          <a:ln w="12700">
            <a:solidFill>
              <a:srgbClr val="2E6DA4"/>
            </a:solidFill>
            <a:prstDash val="solid"/>
          </a:ln>
        </p:spPr>
      </p:sp>
      <p:sp>
        <p:nvSpPr>
          <p:cNvPr id="5" name="Text 1"/>
          <p:cNvSpPr/>
          <p:nvPr/>
        </p:nvSpPr>
        <p:spPr>
          <a:xfrm>
            <a:off x="786384" y="6382512"/>
            <a:ext cx="73152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un agent</a:t>
            </a:r>
            <a:endParaRPr lang="en-US" sz="1000" dirty="0"/>
          </a:p>
        </p:txBody>
      </p:sp>
      <p:sp>
        <p:nvSpPr>
          <p:cNvPr id="6" name="Shape 2"/>
          <p:cNvSpPr/>
          <p:nvPr/>
        </p:nvSpPr>
        <p:spPr>
          <a:xfrm>
            <a:off x="1700784" y="6437376"/>
            <a:ext cx="274320" cy="164592"/>
          </a:xfrm>
          <a:prstGeom prst="rect">
            <a:avLst/>
          </a:prstGeom>
          <a:solidFill>
            <a:srgbClr val="F1E9F7"/>
          </a:solidFill>
          <a:ln w="12700">
            <a:solidFill>
              <a:srgbClr val="7B4F96"/>
            </a:solidFill>
            <a:prstDash val="solid"/>
          </a:ln>
        </p:spPr>
      </p:sp>
      <p:sp>
        <p:nvSpPr>
          <p:cNvPr id="7" name="Text 3"/>
          <p:cNvSpPr/>
          <p:nvPr/>
        </p:nvSpPr>
        <p:spPr>
          <a:xfrm>
            <a:off x="2029968" y="6382512"/>
            <a:ext cx="203454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toi : une commande, un clic</a:t>
            </a:r>
            <a:endParaRPr lang="en-US" sz="1000" dirty="0"/>
          </a:p>
        </p:txBody>
      </p:sp>
      <p:sp>
        <p:nvSpPr>
          <p:cNvPr id="8" name="Shape 4"/>
          <p:cNvSpPr/>
          <p:nvPr/>
        </p:nvSpPr>
        <p:spPr>
          <a:xfrm>
            <a:off x="4247388" y="6437376"/>
            <a:ext cx="274320" cy="164592"/>
          </a:xfrm>
          <a:prstGeom prst="rect">
            <a:avLst/>
          </a:prstGeom>
          <a:solidFill>
            <a:srgbClr val="E3F2E7"/>
          </a:solidFill>
          <a:ln w="12700">
            <a:solidFill>
              <a:srgbClr val="2F7D4F"/>
            </a:solidFill>
            <a:prstDash val="solid"/>
          </a:ln>
        </p:spPr>
      </p:sp>
      <p:sp>
        <p:nvSpPr>
          <p:cNvPr id="9" name="Text 5"/>
          <p:cNvSpPr/>
          <p:nvPr/>
        </p:nvSpPr>
        <p:spPr>
          <a:xfrm>
            <a:off x="4576572" y="6382512"/>
            <a:ext cx="52578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livré</a:t>
            </a:r>
            <a:endParaRPr lang="en-US" sz="1000" dirty="0"/>
          </a:p>
        </p:txBody>
      </p:sp>
      <p:sp>
        <p:nvSpPr>
          <p:cNvPr id="10" name="Shape 6"/>
          <p:cNvSpPr/>
          <p:nvPr/>
        </p:nvSpPr>
        <p:spPr>
          <a:xfrm>
            <a:off x="5285232" y="6437376"/>
            <a:ext cx="274320" cy="164592"/>
          </a:xfrm>
          <a:prstGeom prst="rect">
            <a:avLst/>
          </a:prstGeom>
          <a:solidFill>
            <a:srgbClr val="FBE6E3"/>
          </a:solidFill>
          <a:ln w="12700">
            <a:solidFill>
              <a:srgbClr val="B23A30"/>
            </a:solidFill>
            <a:prstDash val="solid"/>
          </a:ln>
        </p:spPr>
      </p:sp>
      <p:sp>
        <p:nvSpPr>
          <p:cNvPr id="11" name="Text 7"/>
          <p:cNvSpPr/>
          <p:nvPr/>
        </p:nvSpPr>
        <p:spPr>
          <a:xfrm>
            <a:off x="5614416" y="6382512"/>
            <a:ext cx="162306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arrêt, avec sa raison</a:t>
            </a:r>
            <a:endParaRPr lang="en-US" sz="1000" dirty="0"/>
          </a:p>
        </p:txBody>
      </p:sp>
      <p:sp>
        <p:nvSpPr>
          <p:cNvPr id="12" name="Shape 8"/>
          <p:cNvSpPr/>
          <p:nvPr/>
        </p:nvSpPr>
        <p:spPr>
          <a:xfrm>
            <a:off x="7420356" y="6437376"/>
            <a:ext cx="274320" cy="164592"/>
          </a:xfrm>
          <a:prstGeom prst="rect">
            <a:avLst/>
          </a:prstGeom>
          <a:solidFill>
            <a:srgbClr val="FDF0D5"/>
          </a:solidFill>
          <a:ln w="12700">
            <a:solidFill>
              <a:srgbClr val="B7791F"/>
            </a:solidFill>
            <a:prstDash val="solid"/>
          </a:ln>
        </p:spPr>
      </p:sp>
      <p:sp>
        <p:nvSpPr>
          <p:cNvPr id="13" name="Text 9"/>
          <p:cNvSpPr/>
          <p:nvPr/>
        </p:nvSpPr>
        <p:spPr>
          <a:xfrm>
            <a:off x="7749540" y="6382512"/>
            <a:ext cx="148590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 relancé tout seul</a:t>
            </a:r>
            <a:endParaRPr lang="en-US" sz="1000" dirty="0"/>
          </a:p>
        </p:txBody>
      </p:sp>
      <p:sp>
        <p:nvSpPr>
          <p:cNvPr id="14" name="Shape 10"/>
          <p:cNvSpPr/>
          <p:nvPr/>
        </p:nvSpPr>
        <p:spPr>
          <a:xfrm>
            <a:off x="9418320" y="6437376"/>
            <a:ext cx="274320" cy="164592"/>
          </a:xfrm>
          <a:prstGeom prst="rect">
            <a:avLst/>
          </a:prstGeom>
          <a:solidFill>
            <a:srgbClr val="EEF1F6"/>
          </a:solidFill>
          <a:ln w="12700">
            <a:solidFill>
              <a:srgbClr val="4A5B78"/>
            </a:solidFill>
            <a:prstDash val="dash"/>
          </a:ln>
        </p:spPr>
      </p:sp>
      <p:sp>
        <p:nvSpPr>
          <p:cNvPr id="15" name="Text 11"/>
          <p:cNvSpPr/>
          <p:nvPr/>
        </p:nvSpPr>
        <p:spPr>
          <a:xfrm>
            <a:off x="9747504" y="6382512"/>
            <a:ext cx="162306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 borné dans le temps</a:t>
            </a:r>
            <a:endParaRPr lang="en-US" sz="100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rtlCol="0"/>
          <a:lstStyle>
            <a:lvl1pPr algn="l" indent="0" marL="0">
              <a:buNone/>
              <a:defRPr lang="en-US" sz="3000" b="1" dirty="0">
                <a:solidFill>
                  <a:srgbClr val="1F2933"/>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rtlCol="0"/>
          <a:lstStyle>
            <a:lvl1pPr algn="l" indent="0" marL="0">
              <a:buNone/>
              <a:defRPr lang="en-US" sz="1500" dirty="0">
                <a:solidFill>
                  <a:srgbClr val="5B6470"/>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463040"/>
          </a:xfrm>
          <a:prstGeom prst="rect">
            <a:avLst/>
          </a:prstGeom>
          <a:noFill/>
          <a:ln/>
        </p:spPr>
        <p:txBody>
          <a:bodyPr wrap="square" lIns="0" tIns="0" rIns="0" bIns="0" rtlCol="0" anchor="b"/>
          <a:lstStyle/>
          <a:p>
            <a:pPr algn="l" indent="0" marL="0">
              <a:buNone/>
            </a:pPr>
            <a:r>
              <a:rPr lang="en-US" sz="4400" b="1" dirty="0">
                <a:solidFill>
                  <a:srgbClr val="FFFFFF"/>
                </a:solidFill>
                <a:latin typeface="Calibri" pitchFamily="34" charset="0"/>
                <a:ea typeface="Calibri" pitchFamily="34" charset="-122"/>
                <a:cs typeface="Calibri" pitchFamily="34" charset="-120"/>
              </a:rPr>
              <a:t>Du ticket à la merge request</a:t>
            </a:r>
            <a:endParaRPr lang="en-US" sz="4400" dirty="0"/>
          </a:p>
        </p:txBody>
      </p:sp>
      <p:sp>
        <p:nvSpPr>
          <p:cNvPr id="3" name="Text 0"/>
          <p:cNvSpPr/>
          <p:nvPr>
            <p:ph idx="101" type="body" hasCustomPrompt="1"/>
          </p:nvPr>
        </p:nvSpPr>
        <p:spPr>
          <a:xfrm>
            <a:off x="731520" y="3383280"/>
            <a:ext cx="10698480" cy="1097280"/>
          </a:xfrm>
          <a:prstGeom prst="rect">
            <a:avLst/>
          </a:prstGeom>
          <a:noFill/>
          <a:ln/>
        </p:spPr>
        <p:txBody>
          <a:bodyPr wrap="square" lIns="0" tIns="0" rIns="0" bIns="0" rtlCol="0" anchor="t"/>
          <a:lstStyle/>
          <a:p>
            <a:pPr algn="l" indent="0" marL="0">
              <a:buNone/>
            </a:pPr>
            <a:r>
              <a:rPr lang="en-US" sz="2000" dirty="0">
                <a:solidFill>
                  <a:srgbClr val="C9D2DC"/>
                </a:solidFill>
                <a:latin typeface="Calibri" pitchFamily="34" charset="0"/>
                <a:ea typeface="Calibri" pitchFamily="34" charset="-122"/>
                <a:cs typeface="Calibri" pitchFamily="34" charset="-120"/>
              </a:rPr>
              <a:t>Les flux du pack OpenRDCode : /go, /fix, /fortify, /tests, et ce qui se passe quand ça coince</a:t>
            </a:r>
            <a:endParaRPr lang="en-US" sz="2000" dirty="0"/>
          </a:p>
        </p:txBody>
      </p:sp>
      <p:sp>
        <p:nvSpPr>
          <p:cNvPr id="4" name="chip-/go"/>
          <p:cNvSpPr/>
          <p:nvPr/>
        </p:nvSpPr>
        <p:spPr>
          <a:xfrm>
            <a:off x="731520" y="4846320"/>
            <a:ext cx="1371600" cy="502920"/>
          </a:xfrm>
          <a:prstGeom prst="roundRect">
            <a:avLst>
              <a:gd name="adj" fmla="val 18182"/>
            </a:avLst>
          </a:prstGeom>
          <a:solidFill>
            <a:srgbClr val="2B3743"/>
          </a:solidFill>
          <a:ln w="12700">
            <a:solidFill>
              <a:srgbClr val="52606D"/>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/go</a:t>
            </a:r>
            <a:endParaRPr lang="en-US" sz="1600" dirty="0"/>
          </a:p>
        </p:txBody>
      </p:sp>
      <p:sp>
        <p:nvSpPr>
          <p:cNvPr id="5" name="chip-/fix"/>
          <p:cNvSpPr/>
          <p:nvPr/>
        </p:nvSpPr>
        <p:spPr>
          <a:xfrm>
            <a:off x="2331720" y="4846320"/>
            <a:ext cx="1371600" cy="502920"/>
          </a:xfrm>
          <a:prstGeom prst="roundRect">
            <a:avLst>
              <a:gd name="adj" fmla="val 18182"/>
            </a:avLst>
          </a:prstGeom>
          <a:solidFill>
            <a:srgbClr val="2B3743"/>
          </a:solidFill>
          <a:ln w="12700">
            <a:solidFill>
              <a:srgbClr val="52606D"/>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/fix</a:t>
            </a:r>
            <a:endParaRPr lang="en-US" sz="1600" dirty="0"/>
          </a:p>
        </p:txBody>
      </p:sp>
      <p:sp>
        <p:nvSpPr>
          <p:cNvPr id="6" name="chip-/fortify"/>
          <p:cNvSpPr/>
          <p:nvPr/>
        </p:nvSpPr>
        <p:spPr>
          <a:xfrm>
            <a:off x="3931920" y="4846320"/>
            <a:ext cx="1371600" cy="502920"/>
          </a:xfrm>
          <a:prstGeom prst="roundRect">
            <a:avLst>
              <a:gd name="adj" fmla="val 18182"/>
            </a:avLst>
          </a:prstGeom>
          <a:solidFill>
            <a:srgbClr val="2B3743"/>
          </a:solidFill>
          <a:ln w="12700">
            <a:solidFill>
              <a:srgbClr val="52606D"/>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/fortify</a:t>
            </a:r>
            <a:endParaRPr lang="en-US" sz="1600" dirty="0"/>
          </a:p>
        </p:txBody>
      </p:sp>
      <p:sp>
        <p:nvSpPr>
          <p:cNvPr id="7" name="chip-/tests"/>
          <p:cNvSpPr/>
          <p:nvPr/>
        </p:nvSpPr>
        <p:spPr>
          <a:xfrm>
            <a:off x="5532120" y="4846320"/>
            <a:ext cx="1371600" cy="502920"/>
          </a:xfrm>
          <a:prstGeom prst="roundRect">
            <a:avLst>
              <a:gd name="adj" fmla="val 18182"/>
            </a:avLst>
          </a:prstGeom>
          <a:solidFill>
            <a:srgbClr val="2B3743"/>
          </a:solidFill>
          <a:ln w="12700">
            <a:solidFill>
              <a:srgbClr val="52606D"/>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/tests</a:t>
            </a:r>
            <a:endParaRPr lang="en-US" sz="1600" dirty="0"/>
          </a:p>
        </p:txBody>
      </p:sp>
      <p:sp>
        <p:nvSpPr>
          <p:cNvPr id="8" name="date"/>
          <p:cNvSpPr txBox="1"/>
          <p:nvPr/>
        </p:nvSpPr>
        <p:spPr>
          <a:xfrm>
            <a:off x="731520" y="5989320"/>
            <a:ext cx="7315200" cy="365760"/>
          </a:xfrm>
          <a:prstGeom prst="rect">
            <a:avLst/>
          </a:prstGeom>
          <a:noFill/>
          <a:ln/>
        </p:spPr>
        <p:txBody>
          <a:bodyPr wrap="square" lIns="0" tIns="0" rIns="0" bIns="0" rtlCol="0" anchor="ctr"/>
          <a:lstStyle/>
          <a:p>
            <a:pPr indent="0" marL="0">
              <a:buNone/>
            </a:pPr>
            <a:r>
              <a:rPr lang="en-US" sz="1300" dirty="0">
                <a:solidFill>
                  <a:srgbClr val="9AA5B1"/>
                </a:solidFill>
                <a:latin typeface="Calibri" pitchFamily="34" charset="0"/>
                <a:ea typeface="Calibri" pitchFamily="34" charset="-122"/>
                <a:cs typeface="Calibri" pitchFamily="34" charset="-120"/>
              </a:rPr>
              <a:t>OpenCode v2 · Qwen 3.8 · octobre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Une journée avec le pack</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Deux moments pour le développeur : les questions du début et la relecture de la MR.</a:t>
            </a:r>
            <a:endParaRPr lang="en-US" sz="1500" dirty="0"/>
          </a:p>
        </p:txBody>
      </p:sp>
      <p:sp>
        <p:nvSpPr>
          <p:cNvPr id="5" name="lane-1"/>
          <p:cNvSpPr/>
          <p:nvPr/>
        </p:nvSpPr>
        <p:spPr>
          <a:xfrm>
            <a:off x="457200" y="1463040"/>
            <a:ext cx="11274552" cy="1325880"/>
          </a:xfrm>
          <a:prstGeom prst="rect">
            <a:avLst/>
          </a:prstGeom>
          <a:solidFill>
            <a:srgbClr val="F7F8FA"/>
          </a:solidFill>
          <a:ln w="12700">
            <a:solidFill>
              <a:srgbClr val="F7F8FA"/>
            </a:solidFill>
            <a:prstDash val="solid"/>
          </a:ln>
        </p:spPr>
      </p:sp>
      <p:sp>
        <p:nvSpPr>
          <p:cNvPr id="6" name="lane-label-2"/>
          <p:cNvSpPr txBox="1"/>
          <p:nvPr/>
        </p:nvSpPr>
        <p:spPr>
          <a:xfrm>
            <a:off x="548640" y="1463040"/>
            <a:ext cx="1051560" cy="1325880"/>
          </a:xfrm>
          <a:prstGeom prst="rect">
            <a:avLst/>
          </a:prstGeom>
          <a:noFill/>
          <a:ln/>
        </p:spPr>
        <p:txBody>
          <a:bodyPr wrap="square" lIns="0" tIns="0" rIns="0" bIns="0" rtlCol="0" anchor="ctr"/>
          <a:lstStyle/>
          <a:p>
            <a:pPr indent="0" marL="0">
              <a:buNone/>
            </a:pPr>
            <a:r>
              <a:rPr lang="en-US" sz="1300" b="1" dirty="0">
                <a:solidFill>
                  <a:srgbClr val="5B6470"/>
                </a:solidFill>
                <a:latin typeface="Calibri" pitchFamily="34" charset="0"/>
                <a:ea typeface="Calibri" pitchFamily="34" charset="-122"/>
                <a:cs typeface="Calibri" pitchFamily="34" charset="-120"/>
              </a:rPr>
              <a:t>Toi</a:t>
            </a:r>
            <a:endParaRPr lang="en-US" sz="1300" dirty="0"/>
          </a:p>
        </p:txBody>
      </p:sp>
      <p:sp>
        <p:nvSpPr>
          <p:cNvPr id="7" name="lane-3"/>
          <p:cNvSpPr/>
          <p:nvPr/>
        </p:nvSpPr>
        <p:spPr>
          <a:xfrm>
            <a:off x="457200" y="2880360"/>
            <a:ext cx="11274552" cy="1600200"/>
          </a:xfrm>
          <a:prstGeom prst="rect">
            <a:avLst/>
          </a:prstGeom>
          <a:solidFill>
            <a:srgbClr val="F7F8FA"/>
          </a:solidFill>
          <a:ln w="12700">
            <a:solidFill>
              <a:srgbClr val="F7F8FA"/>
            </a:solidFill>
            <a:prstDash val="solid"/>
          </a:ln>
        </p:spPr>
      </p:sp>
      <p:sp>
        <p:nvSpPr>
          <p:cNvPr id="8" name="lane-label-4"/>
          <p:cNvSpPr txBox="1"/>
          <p:nvPr/>
        </p:nvSpPr>
        <p:spPr>
          <a:xfrm>
            <a:off x="548640" y="2880360"/>
            <a:ext cx="1051560" cy="1600200"/>
          </a:xfrm>
          <a:prstGeom prst="rect">
            <a:avLst/>
          </a:prstGeom>
          <a:noFill/>
          <a:ln/>
        </p:spPr>
        <p:txBody>
          <a:bodyPr wrap="square" lIns="0" tIns="0" rIns="0" bIns="0" rtlCol="0" anchor="ctr"/>
          <a:lstStyle/>
          <a:p>
            <a:pPr indent="0" marL="0">
              <a:buNone/>
            </a:pPr>
            <a:r>
              <a:rPr lang="en-US" sz="1300" b="1" dirty="0">
                <a:solidFill>
                  <a:srgbClr val="5B6470"/>
                </a:solidFill>
                <a:latin typeface="Calibri" pitchFamily="34" charset="0"/>
                <a:ea typeface="Calibri" pitchFamily="34" charset="-122"/>
                <a:cs typeface="Calibri" pitchFamily="34" charset="-120"/>
              </a:rPr>
              <a:t>Le pack</a:t>
            </a:r>
            <a:endParaRPr lang="en-US" sz="1300" dirty="0"/>
          </a:p>
        </p:txBody>
      </p:sp>
      <p:sp>
        <p:nvSpPr>
          <p:cNvPr id="9" name="lane-5"/>
          <p:cNvSpPr/>
          <p:nvPr/>
        </p:nvSpPr>
        <p:spPr>
          <a:xfrm>
            <a:off x="457200" y="4572000"/>
            <a:ext cx="11274552" cy="1280160"/>
          </a:xfrm>
          <a:prstGeom prst="rect">
            <a:avLst/>
          </a:prstGeom>
          <a:solidFill>
            <a:srgbClr val="F7F8FA"/>
          </a:solidFill>
          <a:ln w="12700">
            <a:solidFill>
              <a:srgbClr val="F7F8FA"/>
            </a:solidFill>
            <a:prstDash val="solid"/>
          </a:ln>
        </p:spPr>
      </p:sp>
      <p:sp>
        <p:nvSpPr>
          <p:cNvPr id="10" name="lane-label-6"/>
          <p:cNvSpPr txBox="1"/>
          <p:nvPr/>
        </p:nvSpPr>
        <p:spPr>
          <a:xfrm>
            <a:off x="548640" y="4572000"/>
            <a:ext cx="1051560" cy="1280160"/>
          </a:xfrm>
          <a:prstGeom prst="rect">
            <a:avLst/>
          </a:prstGeom>
          <a:noFill/>
          <a:ln/>
        </p:spPr>
        <p:txBody>
          <a:bodyPr wrap="square" lIns="0" tIns="0" rIns="0" bIns="0" rtlCol="0" anchor="ctr"/>
          <a:lstStyle/>
          <a:p>
            <a:pPr indent="0" marL="0">
              <a:buNone/>
            </a:pPr>
            <a:r>
              <a:rPr lang="en-US" sz="1300" b="1" dirty="0">
                <a:solidFill>
                  <a:srgbClr val="5B6470"/>
                </a:solidFill>
                <a:latin typeface="Calibri" pitchFamily="34" charset="0"/>
                <a:ea typeface="Calibri" pitchFamily="34" charset="-122"/>
                <a:cs typeface="Calibri" pitchFamily="34" charset="-120"/>
              </a:rPr>
              <a:t>GitLab, CI</a:t>
            </a:r>
            <a:endParaRPr lang="en-US" sz="1300" dirty="0"/>
          </a:p>
        </p:txBody>
      </p:sp>
      <p:sp>
        <p:nvSpPr>
          <p:cNvPr id="11" name="p1"/>
          <p:cNvSpPr/>
          <p:nvPr/>
        </p:nvSpPr>
        <p:spPr>
          <a:xfrm>
            <a:off x="1737360" y="3246120"/>
            <a:ext cx="1280160" cy="868680"/>
          </a:xfrm>
          <a:prstGeom prst="roundRect">
            <a:avLst>
              <a:gd name="adj" fmla="val 8421"/>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/daily</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08:45, planifié</a:t>
            </a:r>
            <a:endParaRPr lang="en-US" sz="1300" dirty="0"/>
          </a:p>
        </p:txBody>
      </p:sp>
      <p:sp>
        <p:nvSpPr>
          <p:cNvPr id="12" name="t1"/>
          <p:cNvSpPr/>
          <p:nvPr/>
        </p:nvSpPr>
        <p:spPr>
          <a:xfrm>
            <a:off x="1737360" y="1691640"/>
            <a:ext cx="1280160" cy="868680"/>
          </a:xfrm>
          <a:prstGeom prst="roundRect">
            <a:avLst>
              <a:gd name="adj" fmla="val 8421"/>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Point du matin</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sprint, MR, CI</a:t>
            </a:r>
            <a:endParaRPr lang="en-US" sz="1300" dirty="0"/>
          </a:p>
        </p:txBody>
      </p:sp>
      <p:sp>
        <p:nvSpPr>
          <p:cNvPr id="13" name="t2"/>
          <p:cNvSpPr/>
          <p:nvPr/>
        </p:nvSpPr>
        <p:spPr>
          <a:xfrm>
            <a:off x="3136392" y="1691640"/>
            <a:ext cx="1280160" cy="868680"/>
          </a:xfrm>
          <a:prstGeom prst="roundRect">
            <a:avLst>
              <a:gd name="adj" fmla="val 8421"/>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/go ABC-123</a:t>
            </a:r>
            <a:endParaRPr lang="en-US" sz="1300" dirty="0"/>
          </a:p>
        </p:txBody>
      </p:sp>
      <p:sp>
        <p:nvSpPr>
          <p:cNvPr id="14" name="p2"/>
          <p:cNvSpPr/>
          <p:nvPr/>
        </p:nvSpPr>
        <p:spPr>
          <a:xfrm>
            <a:off x="3136392" y="3246120"/>
            <a:ext cx="1280160" cy="868680"/>
          </a:xfrm>
          <a:prstGeom prst="roundRect">
            <a:avLst>
              <a:gd name="adj" fmla="val 8421"/>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Questions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toutes au début</a:t>
            </a:r>
            <a:endParaRPr lang="en-US" sz="1300" dirty="0"/>
          </a:p>
        </p:txBody>
      </p:sp>
      <p:sp>
        <p:nvSpPr>
          <p:cNvPr id="15" name="t3"/>
          <p:cNvSpPr/>
          <p:nvPr/>
        </p:nvSpPr>
        <p:spPr>
          <a:xfrm>
            <a:off x="4535424" y="1691640"/>
            <a:ext cx="1280160" cy="868680"/>
          </a:xfrm>
          <a:prstGeom prst="roundRect">
            <a:avLst>
              <a:gd name="adj" fmla="val 8421"/>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Un clic</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par réponse</a:t>
            </a:r>
            <a:endParaRPr lang="en-US" sz="1300" dirty="0"/>
          </a:p>
        </p:txBody>
      </p:sp>
      <p:sp>
        <p:nvSpPr>
          <p:cNvPr id="16" name="p3"/>
          <p:cNvSpPr/>
          <p:nvPr/>
        </p:nvSpPr>
        <p:spPr>
          <a:xfrm>
            <a:off x="5934456" y="3246120"/>
            <a:ext cx="1280160" cy="868680"/>
          </a:xfrm>
          <a:prstGeom prst="roundRect">
            <a:avLst>
              <a:gd name="adj" fmla="val 8421"/>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Analyse, code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preuves, relecture</a:t>
            </a:r>
            <a:endParaRPr lang="en-US" sz="1300" dirty="0"/>
          </a:p>
        </p:txBody>
      </p:sp>
      <p:sp>
        <p:nvSpPr>
          <p:cNvPr id="17" name="g1"/>
          <p:cNvSpPr/>
          <p:nvPr/>
        </p:nvSpPr>
        <p:spPr>
          <a:xfrm>
            <a:off x="5934456" y="4773168"/>
            <a:ext cx="1280160" cy="868680"/>
          </a:xfrm>
          <a:prstGeom prst="roundRect">
            <a:avLst>
              <a:gd name="adj" fmla="val 8421"/>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MR en Draft</a:t>
            </a:r>
            <a:endParaRPr lang="en-US" sz="1300" dirty="0"/>
          </a:p>
        </p:txBody>
      </p:sp>
      <p:sp>
        <p:nvSpPr>
          <p:cNvPr id="18" name="t4"/>
          <p:cNvSpPr/>
          <p:nvPr/>
        </p:nvSpPr>
        <p:spPr>
          <a:xfrm>
            <a:off x="7333488" y="1691640"/>
            <a:ext cx="1280160" cy="868680"/>
          </a:xfrm>
          <a:prstGeom prst="roundRect">
            <a:avLst>
              <a:gd name="adj" fmla="val 8421"/>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/fix</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un clic</a:t>
            </a:r>
            <a:endParaRPr lang="en-US" sz="1300" dirty="0"/>
          </a:p>
        </p:txBody>
      </p:sp>
      <p:sp>
        <p:nvSpPr>
          <p:cNvPr id="19" name="p4"/>
          <p:cNvSpPr/>
          <p:nvPr/>
        </p:nvSpPr>
        <p:spPr>
          <a:xfrm>
            <a:off x="8732520" y="3246120"/>
            <a:ext cx="1280160" cy="868680"/>
          </a:xfrm>
          <a:prstGeom prst="roundRect">
            <a:avLst>
              <a:gd name="adj" fmla="val 8421"/>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Attend la CI</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puis corrige</a:t>
            </a:r>
            <a:endParaRPr lang="en-US" sz="1300" dirty="0"/>
          </a:p>
        </p:txBody>
      </p:sp>
      <p:sp>
        <p:nvSpPr>
          <p:cNvPr id="20" name="g2"/>
          <p:cNvSpPr/>
          <p:nvPr/>
        </p:nvSpPr>
        <p:spPr>
          <a:xfrm>
            <a:off x="8732520" y="4773168"/>
            <a:ext cx="1280160" cy="868680"/>
          </a:xfrm>
          <a:prstGeom prst="roundRect">
            <a:avLst>
              <a:gd name="adj" fmla="val 8421"/>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MR à jour</a:t>
            </a:r>
            <a:endParaRPr lang="en-US" sz="1300" dirty="0"/>
          </a:p>
        </p:txBody>
      </p:sp>
      <p:sp>
        <p:nvSpPr>
          <p:cNvPr id="21" name="t5"/>
          <p:cNvSpPr/>
          <p:nvPr/>
        </p:nvSpPr>
        <p:spPr>
          <a:xfrm>
            <a:off x="10131552" y="1691640"/>
            <a:ext cx="1280160" cy="868680"/>
          </a:xfrm>
          <a:prstGeom prst="roundRect">
            <a:avLst>
              <a:gd name="adj" fmla="val 8421"/>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Relecture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puis /fix si besoin</a:t>
            </a:r>
            <a:endParaRPr lang="en-US" sz="1300" dirty="0"/>
          </a:p>
        </p:txBody>
      </p:sp>
      <p:sp>
        <p:nvSpPr>
          <p:cNvPr id="22" name="wire-7"/>
          <p:cNvSpPr/>
          <p:nvPr/>
        </p:nvSpPr>
        <p:spPr>
          <a:xfrm flipV="1">
            <a:off x="2377440" y="2560320"/>
            <a:ext cx="0" cy="685800"/>
          </a:xfrm>
          <a:prstGeom prst="line">
            <a:avLst/>
          </a:prstGeom>
          <a:noFill/>
          <a:ln w="15875">
            <a:solidFill>
              <a:srgbClr val="6B7280"/>
            </a:solidFill>
            <a:prstDash val="solid"/>
            <a:tailEnd type="triangle"/>
          </a:ln>
        </p:spPr>
      </p:sp>
      <p:sp>
        <p:nvSpPr>
          <p:cNvPr id="23" name="wire-8"/>
          <p:cNvSpPr/>
          <p:nvPr/>
        </p:nvSpPr>
        <p:spPr>
          <a:xfrm>
            <a:off x="3017520" y="2125980"/>
            <a:ext cx="118872" cy="0"/>
          </a:xfrm>
          <a:prstGeom prst="line">
            <a:avLst/>
          </a:prstGeom>
          <a:noFill/>
          <a:ln w="15875">
            <a:solidFill>
              <a:srgbClr val="6B7280"/>
            </a:solidFill>
            <a:prstDash val="solid"/>
            <a:tailEnd type="triangle"/>
          </a:ln>
        </p:spPr>
      </p:sp>
      <p:sp>
        <p:nvSpPr>
          <p:cNvPr id="24" name="wire-9"/>
          <p:cNvSpPr/>
          <p:nvPr/>
        </p:nvSpPr>
        <p:spPr>
          <a:xfrm>
            <a:off x="3776472" y="2560320"/>
            <a:ext cx="0" cy="685800"/>
          </a:xfrm>
          <a:prstGeom prst="line">
            <a:avLst/>
          </a:prstGeom>
          <a:noFill/>
          <a:ln w="15875">
            <a:solidFill>
              <a:srgbClr val="6B7280"/>
            </a:solidFill>
            <a:prstDash val="solid"/>
            <a:tailEnd type="triangle"/>
          </a:ln>
        </p:spPr>
      </p:sp>
      <p:sp>
        <p:nvSpPr>
          <p:cNvPr id="25" name="wire-10"/>
          <p:cNvSpPr/>
          <p:nvPr/>
        </p:nvSpPr>
        <p:spPr>
          <a:xfrm>
            <a:off x="4416552" y="3680460"/>
            <a:ext cx="59436" cy="0"/>
          </a:xfrm>
          <a:prstGeom prst="line">
            <a:avLst/>
          </a:prstGeom>
          <a:noFill/>
          <a:ln w="15875">
            <a:solidFill>
              <a:srgbClr val="6B7280"/>
            </a:solidFill>
            <a:prstDash val="solid"/>
          </a:ln>
        </p:spPr>
      </p:sp>
      <p:sp>
        <p:nvSpPr>
          <p:cNvPr id="26" name="wire-11"/>
          <p:cNvSpPr/>
          <p:nvPr/>
        </p:nvSpPr>
        <p:spPr>
          <a:xfrm flipV="1">
            <a:off x="4475988" y="2121408"/>
            <a:ext cx="0" cy="1559052"/>
          </a:xfrm>
          <a:prstGeom prst="line">
            <a:avLst/>
          </a:prstGeom>
          <a:noFill/>
          <a:ln w="15875">
            <a:solidFill>
              <a:srgbClr val="6B7280"/>
            </a:solidFill>
            <a:prstDash val="solid"/>
          </a:ln>
        </p:spPr>
      </p:sp>
      <p:sp>
        <p:nvSpPr>
          <p:cNvPr id="27" name="wire-12"/>
          <p:cNvSpPr/>
          <p:nvPr/>
        </p:nvSpPr>
        <p:spPr>
          <a:xfrm>
            <a:off x="4475988" y="2121408"/>
            <a:ext cx="59436" cy="4572"/>
          </a:xfrm>
          <a:prstGeom prst="line">
            <a:avLst/>
          </a:prstGeom>
          <a:noFill/>
          <a:ln w="15875">
            <a:solidFill>
              <a:srgbClr val="6B7280"/>
            </a:solidFill>
            <a:prstDash val="solid"/>
            <a:tailEnd type="triangle"/>
          </a:ln>
        </p:spPr>
      </p:sp>
      <p:sp>
        <p:nvSpPr>
          <p:cNvPr id="28" name="wire-13"/>
          <p:cNvSpPr/>
          <p:nvPr/>
        </p:nvSpPr>
        <p:spPr>
          <a:xfrm>
            <a:off x="5815584" y="2125980"/>
            <a:ext cx="59436" cy="0"/>
          </a:xfrm>
          <a:prstGeom prst="line">
            <a:avLst/>
          </a:prstGeom>
          <a:noFill/>
          <a:ln w="15875">
            <a:solidFill>
              <a:srgbClr val="6B7280"/>
            </a:solidFill>
            <a:prstDash val="solid"/>
          </a:ln>
        </p:spPr>
      </p:sp>
      <p:sp>
        <p:nvSpPr>
          <p:cNvPr id="29" name="wire-14"/>
          <p:cNvSpPr/>
          <p:nvPr/>
        </p:nvSpPr>
        <p:spPr>
          <a:xfrm>
            <a:off x="5875020" y="2125980"/>
            <a:ext cx="0" cy="1549908"/>
          </a:xfrm>
          <a:prstGeom prst="line">
            <a:avLst/>
          </a:prstGeom>
          <a:noFill/>
          <a:ln w="15875">
            <a:solidFill>
              <a:srgbClr val="6B7280"/>
            </a:solidFill>
            <a:prstDash val="solid"/>
          </a:ln>
        </p:spPr>
      </p:sp>
      <p:sp>
        <p:nvSpPr>
          <p:cNvPr id="30" name="wire-15"/>
          <p:cNvSpPr/>
          <p:nvPr/>
        </p:nvSpPr>
        <p:spPr>
          <a:xfrm>
            <a:off x="5875020" y="3675888"/>
            <a:ext cx="59436" cy="4572"/>
          </a:xfrm>
          <a:prstGeom prst="line">
            <a:avLst/>
          </a:prstGeom>
          <a:noFill/>
          <a:ln w="15875">
            <a:solidFill>
              <a:srgbClr val="6B7280"/>
            </a:solidFill>
            <a:prstDash val="solid"/>
            <a:tailEnd type="triangle"/>
          </a:ln>
        </p:spPr>
      </p:sp>
      <p:sp>
        <p:nvSpPr>
          <p:cNvPr id="31" name="wire-16"/>
          <p:cNvSpPr/>
          <p:nvPr/>
        </p:nvSpPr>
        <p:spPr>
          <a:xfrm>
            <a:off x="6574536" y="4114800"/>
            <a:ext cx="0" cy="658368"/>
          </a:xfrm>
          <a:prstGeom prst="line">
            <a:avLst/>
          </a:prstGeom>
          <a:noFill/>
          <a:ln w="15875">
            <a:solidFill>
              <a:srgbClr val="6B7280"/>
            </a:solidFill>
            <a:prstDash val="solid"/>
            <a:tailEnd type="triangle"/>
          </a:ln>
        </p:spPr>
      </p:sp>
      <p:sp>
        <p:nvSpPr>
          <p:cNvPr id="32" name="wire-17"/>
          <p:cNvSpPr/>
          <p:nvPr/>
        </p:nvSpPr>
        <p:spPr>
          <a:xfrm>
            <a:off x="7214616" y="5207508"/>
            <a:ext cx="59436" cy="0"/>
          </a:xfrm>
          <a:prstGeom prst="line">
            <a:avLst/>
          </a:prstGeom>
          <a:noFill/>
          <a:ln w="15875">
            <a:solidFill>
              <a:srgbClr val="6B7280"/>
            </a:solidFill>
            <a:prstDash val="solid"/>
          </a:ln>
        </p:spPr>
      </p:sp>
      <p:sp>
        <p:nvSpPr>
          <p:cNvPr id="33" name="wire-18"/>
          <p:cNvSpPr/>
          <p:nvPr/>
        </p:nvSpPr>
        <p:spPr>
          <a:xfrm flipV="1">
            <a:off x="7274052" y="2121408"/>
            <a:ext cx="0" cy="3086100"/>
          </a:xfrm>
          <a:prstGeom prst="line">
            <a:avLst/>
          </a:prstGeom>
          <a:noFill/>
          <a:ln w="15875">
            <a:solidFill>
              <a:srgbClr val="6B7280"/>
            </a:solidFill>
            <a:prstDash val="solid"/>
          </a:ln>
        </p:spPr>
      </p:sp>
      <p:sp>
        <p:nvSpPr>
          <p:cNvPr id="34" name="wire-19"/>
          <p:cNvSpPr/>
          <p:nvPr/>
        </p:nvSpPr>
        <p:spPr>
          <a:xfrm>
            <a:off x="7274052" y="2121408"/>
            <a:ext cx="59436" cy="4572"/>
          </a:xfrm>
          <a:prstGeom prst="line">
            <a:avLst/>
          </a:prstGeom>
          <a:noFill/>
          <a:ln w="15875">
            <a:solidFill>
              <a:srgbClr val="6B7280"/>
            </a:solidFill>
            <a:prstDash val="solid"/>
            <a:tailEnd type="triangle"/>
          </a:ln>
        </p:spPr>
      </p:sp>
      <p:sp>
        <p:nvSpPr>
          <p:cNvPr id="35" name="wire-20"/>
          <p:cNvSpPr/>
          <p:nvPr/>
        </p:nvSpPr>
        <p:spPr>
          <a:xfrm>
            <a:off x="8613648" y="2125980"/>
            <a:ext cx="59436" cy="0"/>
          </a:xfrm>
          <a:prstGeom prst="line">
            <a:avLst/>
          </a:prstGeom>
          <a:noFill/>
          <a:ln w="15875">
            <a:solidFill>
              <a:srgbClr val="6B7280"/>
            </a:solidFill>
            <a:prstDash val="solid"/>
          </a:ln>
        </p:spPr>
      </p:sp>
      <p:sp>
        <p:nvSpPr>
          <p:cNvPr id="36" name="wire-21"/>
          <p:cNvSpPr/>
          <p:nvPr/>
        </p:nvSpPr>
        <p:spPr>
          <a:xfrm>
            <a:off x="8673084" y="2125980"/>
            <a:ext cx="0" cy="1549908"/>
          </a:xfrm>
          <a:prstGeom prst="line">
            <a:avLst/>
          </a:prstGeom>
          <a:noFill/>
          <a:ln w="15875">
            <a:solidFill>
              <a:srgbClr val="6B7280"/>
            </a:solidFill>
            <a:prstDash val="solid"/>
          </a:ln>
        </p:spPr>
      </p:sp>
      <p:sp>
        <p:nvSpPr>
          <p:cNvPr id="37" name="wire-22"/>
          <p:cNvSpPr/>
          <p:nvPr/>
        </p:nvSpPr>
        <p:spPr>
          <a:xfrm>
            <a:off x="8673084" y="3675888"/>
            <a:ext cx="59436" cy="4572"/>
          </a:xfrm>
          <a:prstGeom prst="line">
            <a:avLst/>
          </a:prstGeom>
          <a:noFill/>
          <a:ln w="15875">
            <a:solidFill>
              <a:srgbClr val="6B7280"/>
            </a:solidFill>
            <a:prstDash val="solid"/>
            <a:tailEnd type="triangle"/>
          </a:ln>
        </p:spPr>
      </p:sp>
      <p:sp>
        <p:nvSpPr>
          <p:cNvPr id="38" name="wire-23"/>
          <p:cNvSpPr/>
          <p:nvPr/>
        </p:nvSpPr>
        <p:spPr>
          <a:xfrm>
            <a:off x="9372600" y="4114800"/>
            <a:ext cx="0" cy="658368"/>
          </a:xfrm>
          <a:prstGeom prst="line">
            <a:avLst/>
          </a:prstGeom>
          <a:noFill/>
          <a:ln w="15875">
            <a:solidFill>
              <a:srgbClr val="6B7280"/>
            </a:solidFill>
            <a:prstDash val="solid"/>
            <a:tailEnd type="triangle"/>
          </a:ln>
        </p:spPr>
      </p:sp>
      <p:sp>
        <p:nvSpPr>
          <p:cNvPr id="39" name="wire-24"/>
          <p:cNvSpPr/>
          <p:nvPr/>
        </p:nvSpPr>
        <p:spPr>
          <a:xfrm>
            <a:off x="10012680" y="5207508"/>
            <a:ext cx="59436" cy="0"/>
          </a:xfrm>
          <a:prstGeom prst="line">
            <a:avLst/>
          </a:prstGeom>
          <a:noFill/>
          <a:ln w="15875">
            <a:solidFill>
              <a:srgbClr val="6B7280"/>
            </a:solidFill>
            <a:prstDash val="solid"/>
          </a:ln>
        </p:spPr>
      </p:sp>
      <p:sp>
        <p:nvSpPr>
          <p:cNvPr id="40" name="wire-25"/>
          <p:cNvSpPr/>
          <p:nvPr/>
        </p:nvSpPr>
        <p:spPr>
          <a:xfrm flipV="1">
            <a:off x="10072116" y="2121408"/>
            <a:ext cx="0" cy="3086100"/>
          </a:xfrm>
          <a:prstGeom prst="line">
            <a:avLst/>
          </a:prstGeom>
          <a:noFill/>
          <a:ln w="15875">
            <a:solidFill>
              <a:srgbClr val="6B7280"/>
            </a:solidFill>
            <a:prstDash val="solid"/>
          </a:ln>
        </p:spPr>
      </p:sp>
      <p:sp>
        <p:nvSpPr>
          <p:cNvPr id="41" name="wire-26"/>
          <p:cNvSpPr/>
          <p:nvPr/>
        </p:nvSpPr>
        <p:spPr>
          <a:xfrm>
            <a:off x="10072116" y="2121408"/>
            <a:ext cx="59436" cy="4572"/>
          </a:xfrm>
          <a:prstGeom prst="line">
            <a:avLst/>
          </a:prstGeom>
          <a:noFill/>
          <a:ln w="15875">
            <a:solidFill>
              <a:srgbClr val="6B7280"/>
            </a:solidFill>
            <a:prstDash val="solid"/>
            <a:tailEnd type="triangle"/>
          </a:ln>
        </p:spPr>
      </p:sp>
      <p:sp>
        <p:nvSpPr>
          <p:cNvPr id="42" name="tag-27"/>
          <p:cNvSpPr/>
          <p:nvPr/>
        </p:nvSpPr>
        <p:spPr>
          <a:xfrm>
            <a:off x="8979408" y="3090672"/>
            <a:ext cx="1143000" cy="274320"/>
          </a:xfrm>
          <a:prstGeom prst="roundRect">
            <a:avLst>
              <a:gd name="adj" fmla="val 50000"/>
            </a:avLst>
          </a:prstGeom>
          <a:solidFill>
            <a:srgbClr val="EEF1F6"/>
          </a:solidFill>
          <a:ln w="12700">
            <a:solidFill>
              <a:srgbClr val="4A5B78"/>
            </a:solidFill>
            <a:prstDash val="dash"/>
          </a:ln>
        </p:spPr>
        <p:txBody>
          <a:bodyPr wrap="square" lIns="0" tIns="0" rIns="0" bIns="0" rtlCol="0" anchor="ctr"/>
          <a:lstStyle/>
          <a:p>
            <a:pPr algn="ctr" indent="0" marL="0">
              <a:buNone/>
            </a:pPr>
            <a:r>
              <a:rPr lang="en-US" sz="1050" b="1" dirty="0">
                <a:solidFill>
                  <a:srgbClr val="2F3B52"/>
                </a:solidFill>
                <a:latin typeface="Calibri" pitchFamily="34" charset="0"/>
                <a:ea typeface="Calibri" pitchFamily="34" charset="-122"/>
                <a:cs typeface="Calibri" pitchFamily="34" charset="-120"/>
              </a:rPr>
              <a:t>≤ 32 min de CI</a:t>
            </a:r>
            <a:endParaRPr lang="en-US" sz="1050" dirty="0"/>
          </a:p>
        </p:txBody>
      </p:sp>
      <p:sp>
        <p:nvSpPr>
          <p:cNvPr id="43" name="label-28"/>
          <p:cNvSpPr txBox="1"/>
          <p:nvPr/>
        </p:nvSpPr>
        <p:spPr>
          <a:xfrm>
            <a:off x="5669280" y="5925312"/>
            <a:ext cx="6035040" cy="237744"/>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À tout moment : /tests, /push, /sync, /outil vitesse</a:t>
            </a:r>
            <a:endParaRPr lang="en-US" sz="105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/go en un coup d'œil</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Un ticket entre, une MR en Draft sort. Trois temps, chacun avec ses arrêts.</a:t>
            </a:r>
            <a:endParaRPr lang="en-US" sz="1500" dirty="0"/>
          </a:p>
        </p:txBody>
      </p:sp>
      <p:sp>
        <p:nvSpPr>
          <p:cNvPr id="5" name="phase-1"/>
          <p:cNvSpPr/>
          <p:nvPr/>
        </p:nvSpPr>
        <p:spPr>
          <a:xfrm>
            <a:off x="457200" y="1600200"/>
            <a:ext cx="3749040" cy="777240"/>
          </a:xfrm>
          <a:prstGeom prst="homePlate">
            <a:avLst/>
          </a:prstGeom>
          <a:solidFill>
            <a:srgbClr val="1F2933"/>
          </a:solidFill>
          <a:ln>
            <a:solidFill>
              <a:srgbClr val="1F2933"/>
            </a:solid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 · Préparer</a:t>
            </a:r>
            <a:endParaRPr lang="en-US" sz="1800" dirty="0"/>
          </a:p>
        </p:txBody>
      </p:sp>
      <p:sp>
        <p:nvSpPr>
          <p:cNvPr id="6" name="phase-2"/>
          <p:cNvSpPr/>
          <p:nvPr/>
        </p:nvSpPr>
        <p:spPr>
          <a:xfrm>
            <a:off x="3977640" y="1600200"/>
            <a:ext cx="3886200" cy="777240"/>
          </a:xfrm>
          <a:prstGeom prst="chevron">
            <a:avLst/>
          </a:prstGeom>
          <a:solidFill>
            <a:srgbClr val="3E4C59"/>
          </a:solidFill>
          <a:ln>
            <a:solidFill>
              <a:srgbClr val="3E4C59"/>
            </a:solid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 · Coder, étape par étape</a:t>
            </a:r>
            <a:endParaRPr lang="en-US" sz="1800" dirty="0"/>
          </a:p>
        </p:txBody>
      </p:sp>
      <p:sp>
        <p:nvSpPr>
          <p:cNvPr id="7" name="phase-3"/>
          <p:cNvSpPr/>
          <p:nvPr/>
        </p:nvSpPr>
        <p:spPr>
          <a:xfrm>
            <a:off x="7635240" y="1600200"/>
            <a:ext cx="4096512" cy="777240"/>
          </a:xfrm>
          <a:prstGeom prst="chevron">
            <a:avLst/>
          </a:prstGeom>
          <a:solidFill>
            <a:srgbClr val="52606D"/>
          </a:solidFill>
          <a:ln>
            <a:solidFill>
              <a:srgbClr val="52606D"/>
            </a:solid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 · Vérifier et livrer</a:t>
            </a:r>
            <a:endParaRPr lang="en-US" sz="1800" dirty="0"/>
          </a:p>
        </p:txBody>
      </p:sp>
      <p:sp>
        <p:nvSpPr>
          <p:cNvPr id="8" name="c0-0"/>
          <p:cNvSpPr/>
          <p:nvPr/>
        </p:nvSpPr>
        <p:spPr>
          <a:xfrm>
            <a:off x="640080" y="2697480"/>
            <a:ext cx="3200400" cy="475488"/>
          </a:xfrm>
          <a:prstGeom prst="roundRect">
            <a:avLst>
              <a:gd name="adj" fmla="val 15385"/>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Branche du ticket</a:t>
            </a:r>
            <a:endParaRPr lang="en-US" sz="1300" dirty="0"/>
          </a:p>
        </p:txBody>
      </p:sp>
      <p:sp>
        <p:nvSpPr>
          <p:cNvPr id="9" name="c0-1"/>
          <p:cNvSpPr/>
          <p:nvPr/>
        </p:nvSpPr>
        <p:spPr>
          <a:xfrm>
            <a:off x="640080" y="3319272"/>
            <a:ext cx="3200400" cy="475488"/>
          </a:xfrm>
          <a:prstGeom prst="roundRect">
            <a:avLst>
              <a:gd name="adj" fmla="val 15385"/>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Analyse → la fiche</a:t>
            </a:r>
            <a:endParaRPr lang="en-US" sz="1300" dirty="0"/>
          </a:p>
        </p:txBody>
      </p:sp>
      <p:sp>
        <p:nvSpPr>
          <p:cNvPr id="10" name="c0-2"/>
          <p:cNvSpPr/>
          <p:nvPr/>
        </p:nvSpPr>
        <p:spPr>
          <a:xfrm>
            <a:off x="640080" y="3941064"/>
            <a:ext cx="3200400" cy="475488"/>
          </a:xfrm>
          <a:prstGeom prst="roundRect">
            <a:avLst>
              <a:gd name="adj" fmla="val 15385"/>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Mesure de la base</a:t>
            </a:r>
            <a:endParaRPr lang="en-US" sz="1300" dirty="0"/>
          </a:p>
        </p:txBody>
      </p:sp>
      <p:sp>
        <p:nvSpPr>
          <p:cNvPr id="11" name="c0-3"/>
          <p:cNvSpPr/>
          <p:nvPr/>
        </p:nvSpPr>
        <p:spPr>
          <a:xfrm>
            <a:off x="640080" y="4562856"/>
            <a:ext cx="3200400" cy="475488"/>
          </a:xfrm>
          <a:prstGeom prst="roundRect">
            <a:avLst>
              <a:gd name="adj" fmla="val 15385"/>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Questions, une seule fois</a:t>
            </a:r>
            <a:endParaRPr lang="en-US" sz="1300" dirty="0"/>
          </a:p>
        </p:txBody>
      </p:sp>
      <p:sp>
        <p:nvSpPr>
          <p:cNvPr id="12" name="stop0"/>
          <p:cNvSpPr/>
          <p:nvPr/>
        </p:nvSpPr>
        <p:spPr>
          <a:xfrm>
            <a:off x="640080" y="5303520"/>
            <a:ext cx="3200400" cy="731520"/>
          </a:xfrm>
          <a:prstGeom prst="roundRect">
            <a:avLst>
              <a:gd name="adj" fmla="val 10000"/>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Base cassée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ou suite trop longue</a:t>
            </a:r>
            <a:endParaRPr lang="en-US" sz="1300" dirty="0"/>
          </a:p>
        </p:txBody>
      </p:sp>
      <p:sp>
        <p:nvSpPr>
          <p:cNvPr id="13" name="c1-0"/>
          <p:cNvSpPr/>
          <p:nvPr/>
        </p:nvSpPr>
        <p:spPr>
          <a:xfrm>
            <a:off x="4343400" y="2697480"/>
            <a:ext cx="3200400" cy="475488"/>
          </a:xfrm>
          <a:prstGeom prst="roundRect">
            <a:avLst>
              <a:gd name="adj" fmla="val 15385"/>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Filet, ou test du bug</a:t>
            </a:r>
            <a:endParaRPr lang="en-US" sz="1300" dirty="0"/>
          </a:p>
        </p:txBody>
      </p:sp>
      <p:sp>
        <p:nvSpPr>
          <p:cNvPr id="14" name="c1-1"/>
          <p:cNvSpPr/>
          <p:nvPr/>
        </p:nvSpPr>
        <p:spPr>
          <a:xfrm>
            <a:off x="4343400" y="3319272"/>
            <a:ext cx="3200400" cy="475488"/>
          </a:xfrm>
          <a:prstGeom prst="roundRect">
            <a:avLst>
              <a:gd name="adj" fmla="val 15385"/>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Coder sans toucher aux tests</a:t>
            </a:r>
            <a:endParaRPr lang="en-US" sz="1300" dirty="0"/>
          </a:p>
        </p:txBody>
      </p:sp>
      <p:sp>
        <p:nvSpPr>
          <p:cNvPr id="15" name="c1-2"/>
          <p:cNvSpPr/>
          <p:nvPr/>
        </p:nvSpPr>
        <p:spPr>
          <a:xfrm>
            <a:off x="4343400" y="3941064"/>
            <a:ext cx="3200400" cy="475488"/>
          </a:xfrm>
          <a:prstGeom prst="roundRect">
            <a:avLst>
              <a:gd name="adj" fmla="val 15385"/>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verify, par script</a:t>
            </a:r>
            <a:endParaRPr lang="en-US" sz="1300" dirty="0"/>
          </a:p>
        </p:txBody>
      </p:sp>
      <p:sp>
        <p:nvSpPr>
          <p:cNvPr id="16" name="c1-3"/>
          <p:cNvSpPr/>
          <p:nvPr/>
        </p:nvSpPr>
        <p:spPr>
          <a:xfrm>
            <a:off x="4343400" y="4562856"/>
            <a:ext cx="3200400" cy="475488"/>
          </a:xfrm>
          <a:prstGeom prst="roundRect">
            <a:avLst>
              <a:gd name="adj" fmla="val 15385"/>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Un commit par étape</a:t>
            </a:r>
            <a:endParaRPr lang="en-US" sz="1300" dirty="0"/>
          </a:p>
        </p:txBody>
      </p:sp>
      <p:sp>
        <p:nvSpPr>
          <p:cNvPr id="17" name="stop1"/>
          <p:cNvSpPr/>
          <p:nvPr/>
        </p:nvSpPr>
        <p:spPr>
          <a:xfrm>
            <a:off x="4343400" y="5303520"/>
            <a:ext cx="3200400" cy="731520"/>
          </a:xfrm>
          <a:prstGeom prst="roundRect">
            <a:avLst>
              <a:gd name="adj" fmla="val 10000"/>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2 échecs sur l'étape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raison dans la fiche</a:t>
            </a:r>
            <a:endParaRPr lang="en-US" sz="1300" dirty="0"/>
          </a:p>
        </p:txBody>
      </p:sp>
      <p:sp>
        <p:nvSpPr>
          <p:cNvPr id="18" name="c2-0"/>
          <p:cNvSpPr/>
          <p:nvPr/>
        </p:nvSpPr>
        <p:spPr>
          <a:xfrm>
            <a:off x="8092440" y="2697480"/>
            <a:ext cx="3200400" cy="475488"/>
          </a:xfrm>
          <a:prstGeom prst="roundRect">
            <a:avLst>
              <a:gd name="adj" fmla="val 15385"/>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Suite complète ∥ auto-review</a:t>
            </a:r>
            <a:endParaRPr lang="en-US" sz="1300" dirty="0"/>
          </a:p>
        </p:txBody>
      </p:sp>
      <p:sp>
        <p:nvSpPr>
          <p:cNvPr id="19" name="c2-1"/>
          <p:cNvSpPr/>
          <p:nvPr/>
        </p:nvSpPr>
        <p:spPr>
          <a:xfrm>
            <a:off x="8092440" y="3319272"/>
            <a:ext cx="3200400" cy="475488"/>
          </a:xfrm>
          <a:prstGeom prst="roundRect">
            <a:avLst>
              <a:gd name="adj" fmla="val 15385"/>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Corrections, 2 tours max</a:t>
            </a:r>
            <a:endParaRPr lang="en-US" sz="1300" dirty="0"/>
          </a:p>
        </p:txBody>
      </p:sp>
      <p:sp>
        <p:nvSpPr>
          <p:cNvPr id="20" name="c2-2"/>
          <p:cNvSpPr/>
          <p:nvPr/>
        </p:nvSpPr>
        <p:spPr>
          <a:xfrm>
            <a:off x="8092440" y="3941064"/>
            <a:ext cx="3200400" cy="475488"/>
          </a:xfrm>
          <a:prstGeom prst="roundRect">
            <a:avLst>
              <a:gd name="adj" fmla="val 15385"/>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Contrôle avant push</a:t>
            </a:r>
            <a:endParaRPr lang="en-US" sz="1300" dirty="0"/>
          </a:p>
        </p:txBody>
      </p:sp>
      <p:sp>
        <p:nvSpPr>
          <p:cNvPr id="21" name="c2-3"/>
          <p:cNvSpPr/>
          <p:nvPr/>
        </p:nvSpPr>
        <p:spPr>
          <a:xfrm>
            <a:off x="8092440" y="4562856"/>
            <a:ext cx="3200400" cy="475488"/>
          </a:xfrm>
          <a:prstGeom prst="roundRect">
            <a:avLst>
              <a:gd name="adj" fmla="val 15385"/>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MR en Draft</a:t>
            </a:r>
            <a:endParaRPr lang="en-US" sz="1300" dirty="0"/>
          </a:p>
        </p:txBody>
      </p:sp>
      <p:sp>
        <p:nvSpPr>
          <p:cNvPr id="22" name="stop2"/>
          <p:cNvSpPr/>
          <p:nvPr/>
        </p:nvSpPr>
        <p:spPr>
          <a:xfrm>
            <a:off x="8092440" y="5303520"/>
            <a:ext cx="3200400" cy="731520"/>
          </a:xfrm>
          <a:prstGeom prst="roundRect">
            <a:avLst>
              <a:gd name="adj" fmla="val 10000"/>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Rien n'est poussé</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secret, conflit, identifiants</a:t>
            </a:r>
            <a:endParaRPr lang="en-US" sz="130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/go · 1. Préparer</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Avant la première ligne de code : tout ce qui ferait échouer le ticket pour une raison extérieure.</a:t>
            </a:r>
            <a:endParaRPr lang="en-US" sz="1500" dirty="0"/>
          </a:p>
        </p:txBody>
      </p:sp>
      <p:sp>
        <p:nvSpPr>
          <p:cNvPr id="5" name="a"/>
          <p:cNvSpPr/>
          <p:nvPr/>
        </p:nvSpPr>
        <p:spPr>
          <a:xfrm>
            <a:off x="457200" y="2697480"/>
            <a:ext cx="1371600" cy="822960"/>
          </a:xfrm>
          <a:prstGeom prst="roundRect">
            <a:avLst>
              <a:gd name="adj" fmla="val 8889"/>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/go ABC-123</a:t>
            </a:r>
            <a:endParaRPr lang="en-US" sz="1300" dirty="0"/>
          </a:p>
        </p:txBody>
      </p:sp>
      <p:sp>
        <p:nvSpPr>
          <p:cNvPr id="6" name="b"/>
          <p:cNvSpPr/>
          <p:nvPr/>
        </p:nvSpPr>
        <p:spPr>
          <a:xfrm>
            <a:off x="2194560" y="2697480"/>
            <a:ext cx="1828800" cy="822960"/>
          </a:xfrm>
          <a:prstGeom prst="roundRect">
            <a:avLst>
              <a:gd name="adj" fmla="val 8889"/>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État git, branche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un fetch, la branche</a:t>
            </a:r>
            <a:endParaRPr lang="en-US" sz="1300" dirty="0"/>
          </a:p>
        </p:txBody>
      </p:sp>
      <p:sp>
        <p:nvSpPr>
          <p:cNvPr id="7" name="tag-1"/>
          <p:cNvSpPr/>
          <p:nvPr/>
        </p:nvSpPr>
        <p:spPr>
          <a:xfrm>
            <a:off x="2715768" y="2542032"/>
            <a:ext cx="141732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fetch : 3 s, 10 s</a:t>
            </a:r>
            <a:endParaRPr lang="en-US" sz="1050" dirty="0"/>
          </a:p>
        </p:txBody>
      </p:sp>
      <p:sp>
        <p:nvSpPr>
          <p:cNvPr id="8" name="group-2"/>
          <p:cNvSpPr/>
          <p:nvPr/>
        </p:nvSpPr>
        <p:spPr>
          <a:xfrm>
            <a:off x="4434840" y="1508760"/>
            <a:ext cx="2606040" cy="3291840"/>
          </a:xfrm>
          <a:prstGeom prst="roundRect">
            <a:avLst>
              <a:gd name="adj" fmla="val 3509"/>
            </a:avLst>
          </a:prstGeom>
          <a:solidFill>
            <a:srgbClr val="FFFFFF">
              <a:alpha val="0"/>
            </a:srgbClr>
          </a:solidFill>
          <a:ln w="12700">
            <a:solidFill>
              <a:srgbClr val="A3AAB3"/>
            </a:solidFill>
            <a:prstDash val="dash"/>
          </a:ln>
        </p:spPr>
      </p:sp>
      <p:sp>
        <p:nvSpPr>
          <p:cNvPr id="9" name="group-label-3"/>
          <p:cNvSpPr txBox="1"/>
          <p:nvPr/>
        </p:nvSpPr>
        <p:spPr>
          <a:xfrm>
            <a:off x="4544568" y="1545336"/>
            <a:ext cx="2386584" cy="237744"/>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en parallèle</a:t>
            </a:r>
            <a:endParaRPr lang="en-US" sz="1050" dirty="0"/>
          </a:p>
        </p:txBody>
      </p:sp>
      <p:sp>
        <p:nvSpPr>
          <p:cNvPr id="10" name="an"/>
          <p:cNvSpPr/>
          <p:nvPr/>
        </p:nvSpPr>
        <p:spPr>
          <a:xfrm>
            <a:off x="4617720" y="1874520"/>
            <a:ext cx="2240280" cy="868680"/>
          </a:xfrm>
          <a:prstGeom prst="roundRect">
            <a:avLst>
              <a:gd name="adj" fmla="val 8421"/>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analyst</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ticket, Confluence, code → la fiche</a:t>
            </a:r>
            <a:endParaRPr lang="en-US" sz="1300" dirty="0"/>
          </a:p>
        </p:txBody>
      </p:sp>
      <p:sp>
        <p:nvSpPr>
          <p:cNvPr id="11" name="tag-4"/>
          <p:cNvSpPr/>
          <p:nvPr/>
        </p:nvSpPr>
        <p:spPr>
          <a:xfrm>
            <a:off x="5596128" y="1719072"/>
            <a:ext cx="137160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Jira : 1 rappel</a:t>
            </a:r>
            <a:endParaRPr lang="en-US" sz="1050" dirty="0"/>
          </a:p>
        </p:txBody>
      </p:sp>
      <p:sp>
        <p:nvSpPr>
          <p:cNvPr id="12" name="me"/>
          <p:cNvSpPr/>
          <p:nvPr/>
        </p:nvSpPr>
        <p:spPr>
          <a:xfrm>
            <a:off x="4617720" y="3429000"/>
            <a:ext cx="2240280" cy="868680"/>
          </a:xfrm>
          <a:prstGeom prst="roundRect">
            <a:avLst>
              <a:gd name="adj" fmla="val 8421"/>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Mesure de la base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build et tests de develop</a:t>
            </a:r>
            <a:endParaRPr lang="en-US" sz="1300" dirty="0"/>
          </a:p>
        </p:txBody>
      </p:sp>
      <p:sp>
        <p:nvSpPr>
          <p:cNvPr id="13" name="tag-5"/>
          <p:cNvSpPr/>
          <p:nvPr/>
        </p:nvSpPr>
        <p:spPr>
          <a:xfrm>
            <a:off x="5916168" y="3273552"/>
            <a:ext cx="1051560" cy="274320"/>
          </a:xfrm>
          <a:prstGeom prst="roundRect">
            <a:avLst>
              <a:gd name="adj" fmla="val 50000"/>
            </a:avLst>
          </a:prstGeom>
          <a:solidFill>
            <a:srgbClr val="EEF1F6"/>
          </a:solidFill>
          <a:ln w="12700">
            <a:solidFill>
              <a:srgbClr val="4A5B78"/>
            </a:solidFill>
            <a:prstDash val="dash"/>
          </a:ln>
        </p:spPr>
        <p:txBody>
          <a:bodyPr wrap="square" lIns="0" tIns="0" rIns="0" bIns="0" rtlCol="0" anchor="ctr"/>
          <a:lstStyle/>
          <a:p>
            <a:pPr algn="ctr" indent="0" marL="0">
              <a:buNone/>
            </a:pPr>
            <a:r>
              <a:rPr lang="en-US" sz="1050" b="1" dirty="0">
                <a:solidFill>
                  <a:srgbClr val="2F3B52"/>
                </a:solidFill>
                <a:latin typeface="Calibri" pitchFamily="34" charset="0"/>
                <a:ea typeface="Calibri" pitchFamily="34" charset="-122"/>
                <a:cs typeface="Calibri" pitchFamily="34" charset="-120"/>
              </a:rPr>
              <a:t>≤ 42 min</a:t>
            </a:r>
            <a:endParaRPr lang="en-US" sz="1050" dirty="0"/>
          </a:p>
        </p:txBody>
      </p:sp>
      <p:sp>
        <p:nvSpPr>
          <p:cNvPr id="14" name="q"/>
          <p:cNvSpPr/>
          <p:nvPr/>
        </p:nvSpPr>
        <p:spPr>
          <a:xfrm>
            <a:off x="7406640" y="2514600"/>
            <a:ext cx="1783080" cy="1188720"/>
          </a:xfrm>
          <a:prstGeom prst="diamond">
            <a:avLst/>
          </a:prstGeom>
          <a:solidFill>
            <a:srgbClr val="FFFFFF"/>
          </a:solidFill>
          <a:ln w="15875">
            <a:solidFill>
              <a:srgbClr val="7A828C"/>
            </a:solid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Questions</a:t>
            </a:r>
            <a:endParaRPr lang="en-US" sz="1200" dirty="0"/>
          </a:p>
          <a:p>
            <a:pPr algn="ctr" indent="0" marL="0">
              <a:buNone/>
            </a:pPr>
            <a:r>
              <a:rPr lang="en-US" sz="1200" b="1" dirty="0">
                <a:solidFill>
                  <a:srgbClr val="1F2933"/>
                </a:solidFill>
                <a:latin typeface="Calibri" pitchFamily="34" charset="0"/>
                <a:ea typeface="Calibri" pitchFamily="34" charset="-122"/>
                <a:cs typeface="Calibri" pitchFamily="34" charset="-120"/>
              </a:rPr>
              <a:t>bloquantes ?</a:t>
            </a:r>
            <a:endParaRPr lang="en-US" sz="1200" dirty="0"/>
          </a:p>
        </p:txBody>
      </p:sp>
      <p:sp>
        <p:nvSpPr>
          <p:cNvPr id="15" name="qcm"/>
          <p:cNvSpPr/>
          <p:nvPr/>
        </p:nvSpPr>
        <p:spPr>
          <a:xfrm>
            <a:off x="9418320" y="1691640"/>
            <a:ext cx="2286000" cy="822960"/>
          </a:xfrm>
          <a:prstGeom prst="roundRect">
            <a:avLst>
              <a:gd name="adj" fmla="val 8889"/>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Un seul QCM</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ou « je demande au PO »</a:t>
            </a:r>
            <a:endParaRPr lang="en-US" sz="1300" dirty="0"/>
          </a:p>
        </p:txBody>
      </p:sp>
      <p:sp>
        <p:nvSpPr>
          <p:cNvPr id="16" name="plan"/>
          <p:cNvSpPr/>
          <p:nvPr/>
        </p:nvSpPr>
        <p:spPr>
          <a:xfrm>
            <a:off x="9418320" y="4069080"/>
            <a:ext cx="2286000" cy="822960"/>
          </a:xfrm>
          <a:prstGeom prst="roundRect">
            <a:avLst>
              <a:gd name="adj" fmla="val 8889"/>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Le plan</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2 à 7 étapes</a:t>
            </a:r>
            <a:endParaRPr lang="en-US" sz="1300" dirty="0"/>
          </a:p>
        </p:txBody>
      </p:sp>
      <p:sp>
        <p:nvSpPr>
          <p:cNvPr id="17" name="s1"/>
          <p:cNvSpPr/>
          <p:nvPr/>
        </p:nvSpPr>
        <p:spPr>
          <a:xfrm>
            <a:off x="2743200" y="5257800"/>
            <a:ext cx="1737360" cy="685800"/>
          </a:xfrm>
          <a:prstGeom prst="roundRect">
            <a:avLst>
              <a:gd name="adj" fmla="val 10667"/>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Base cassée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hors sujet du ticket</a:t>
            </a:r>
            <a:endParaRPr lang="en-US" sz="1300" dirty="0"/>
          </a:p>
        </p:txBody>
      </p:sp>
      <p:sp>
        <p:nvSpPr>
          <p:cNvPr id="18" name="s2"/>
          <p:cNvSpPr/>
          <p:nvPr/>
        </p:nvSpPr>
        <p:spPr>
          <a:xfrm>
            <a:off x="4709160" y="5257800"/>
            <a:ext cx="1965960" cy="685800"/>
          </a:xfrm>
          <a:prstGeom prst="roundRect">
            <a:avLst>
              <a:gd name="adj" fmla="val 10667"/>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Suite trop longue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TESTS: TIMEOUT</a:t>
            </a:r>
            <a:endParaRPr lang="en-US" sz="1300" dirty="0"/>
          </a:p>
        </p:txBody>
      </p:sp>
      <p:sp>
        <p:nvSpPr>
          <p:cNvPr id="19" name="s3"/>
          <p:cNvSpPr/>
          <p:nvPr/>
        </p:nvSpPr>
        <p:spPr>
          <a:xfrm>
            <a:off x="6903720" y="5257800"/>
            <a:ext cx="1828800" cy="685800"/>
          </a:xfrm>
          <a:prstGeom prst="roundRect">
            <a:avLst>
              <a:gd name="adj" fmla="val 10667"/>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Machine incomplète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SDK, runtime, feed</a:t>
            </a:r>
            <a:endParaRPr lang="en-US" sz="1300" dirty="0"/>
          </a:p>
        </p:txBody>
      </p:sp>
      <p:sp>
        <p:nvSpPr>
          <p:cNvPr id="20" name="wire-6"/>
          <p:cNvSpPr/>
          <p:nvPr/>
        </p:nvSpPr>
        <p:spPr>
          <a:xfrm>
            <a:off x="1828800" y="3108960"/>
            <a:ext cx="365760" cy="0"/>
          </a:xfrm>
          <a:prstGeom prst="line">
            <a:avLst/>
          </a:prstGeom>
          <a:noFill/>
          <a:ln w="15875">
            <a:solidFill>
              <a:srgbClr val="6B7280"/>
            </a:solidFill>
            <a:prstDash val="solid"/>
            <a:tailEnd type="triangle"/>
          </a:ln>
        </p:spPr>
      </p:sp>
      <p:sp>
        <p:nvSpPr>
          <p:cNvPr id="21" name="wire-7"/>
          <p:cNvSpPr/>
          <p:nvPr/>
        </p:nvSpPr>
        <p:spPr>
          <a:xfrm flipV="1">
            <a:off x="4023360" y="3108960"/>
            <a:ext cx="274320" cy="0"/>
          </a:xfrm>
          <a:prstGeom prst="line">
            <a:avLst/>
          </a:prstGeom>
          <a:noFill/>
          <a:ln w="15875">
            <a:solidFill>
              <a:srgbClr val="6B7280"/>
            </a:solidFill>
            <a:prstDash val="solid"/>
          </a:ln>
        </p:spPr>
      </p:sp>
      <p:sp>
        <p:nvSpPr>
          <p:cNvPr id="22" name="wire-8"/>
          <p:cNvSpPr/>
          <p:nvPr/>
        </p:nvSpPr>
        <p:spPr>
          <a:xfrm>
            <a:off x="4297680" y="2304288"/>
            <a:ext cx="0" cy="1554480"/>
          </a:xfrm>
          <a:prstGeom prst="line">
            <a:avLst/>
          </a:prstGeom>
          <a:noFill/>
          <a:ln w="15875">
            <a:solidFill>
              <a:srgbClr val="6B7280"/>
            </a:solidFill>
            <a:prstDash val="solid"/>
          </a:ln>
        </p:spPr>
      </p:sp>
      <p:sp>
        <p:nvSpPr>
          <p:cNvPr id="23" name="wire-9"/>
          <p:cNvSpPr/>
          <p:nvPr/>
        </p:nvSpPr>
        <p:spPr>
          <a:xfrm>
            <a:off x="4297680" y="2304288"/>
            <a:ext cx="320040" cy="4572"/>
          </a:xfrm>
          <a:prstGeom prst="line">
            <a:avLst/>
          </a:prstGeom>
          <a:noFill/>
          <a:ln w="15875">
            <a:solidFill>
              <a:srgbClr val="6B7280"/>
            </a:solidFill>
            <a:prstDash val="solid"/>
            <a:tailEnd type="triangle"/>
          </a:ln>
        </p:spPr>
      </p:sp>
      <p:sp>
        <p:nvSpPr>
          <p:cNvPr id="24" name="wire-10"/>
          <p:cNvSpPr/>
          <p:nvPr/>
        </p:nvSpPr>
        <p:spPr>
          <a:xfrm>
            <a:off x="4297680" y="3858768"/>
            <a:ext cx="320040" cy="4572"/>
          </a:xfrm>
          <a:prstGeom prst="line">
            <a:avLst/>
          </a:prstGeom>
          <a:noFill/>
          <a:ln w="15875">
            <a:solidFill>
              <a:srgbClr val="6B7280"/>
            </a:solidFill>
            <a:prstDash val="solid"/>
            <a:tailEnd type="triangle"/>
          </a:ln>
        </p:spPr>
      </p:sp>
      <p:sp>
        <p:nvSpPr>
          <p:cNvPr id="25" name="wire-11"/>
          <p:cNvSpPr/>
          <p:nvPr/>
        </p:nvSpPr>
        <p:spPr>
          <a:xfrm flipV="1">
            <a:off x="6858000" y="2304288"/>
            <a:ext cx="411480" cy="4572"/>
          </a:xfrm>
          <a:prstGeom prst="line">
            <a:avLst/>
          </a:prstGeom>
          <a:noFill/>
          <a:ln w="15875">
            <a:solidFill>
              <a:srgbClr val="6B7280"/>
            </a:solidFill>
            <a:prstDash val="solid"/>
          </a:ln>
        </p:spPr>
      </p:sp>
      <p:sp>
        <p:nvSpPr>
          <p:cNvPr id="26" name="wire-12"/>
          <p:cNvSpPr/>
          <p:nvPr/>
        </p:nvSpPr>
        <p:spPr>
          <a:xfrm flipV="1">
            <a:off x="6858000" y="3858768"/>
            <a:ext cx="411480" cy="4572"/>
          </a:xfrm>
          <a:prstGeom prst="line">
            <a:avLst/>
          </a:prstGeom>
          <a:noFill/>
          <a:ln w="15875">
            <a:solidFill>
              <a:srgbClr val="6B7280"/>
            </a:solidFill>
            <a:prstDash val="solid"/>
          </a:ln>
        </p:spPr>
      </p:sp>
      <p:sp>
        <p:nvSpPr>
          <p:cNvPr id="27" name="wire-13"/>
          <p:cNvSpPr/>
          <p:nvPr/>
        </p:nvSpPr>
        <p:spPr>
          <a:xfrm>
            <a:off x="7269480" y="2304288"/>
            <a:ext cx="0" cy="1554480"/>
          </a:xfrm>
          <a:prstGeom prst="line">
            <a:avLst/>
          </a:prstGeom>
          <a:noFill/>
          <a:ln w="15875">
            <a:solidFill>
              <a:srgbClr val="6B7280"/>
            </a:solidFill>
            <a:prstDash val="solid"/>
          </a:ln>
        </p:spPr>
      </p:sp>
      <p:sp>
        <p:nvSpPr>
          <p:cNvPr id="28" name="wire-14"/>
          <p:cNvSpPr/>
          <p:nvPr/>
        </p:nvSpPr>
        <p:spPr>
          <a:xfrm>
            <a:off x="7269480" y="3108960"/>
            <a:ext cx="137160" cy="0"/>
          </a:xfrm>
          <a:prstGeom prst="line">
            <a:avLst/>
          </a:prstGeom>
          <a:noFill/>
          <a:ln w="15875">
            <a:solidFill>
              <a:srgbClr val="6B7280"/>
            </a:solidFill>
            <a:prstDash val="solid"/>
            <a:tailEnd type="triangle"/>
          </a:ln>
        </p:spPr>
      </p:sp>
      <p:sp>
        <p:nvSpPr>
          <p:cNvPr id="29" name="wire-15"/>
          <p:cNvSpPr/>
          <p:nvPr/>
        </p:nvSpPr>
        <p:spPr>
          <a:xfrm flipH="1">
            <a:off x="5733288" y="4297680"/>
            <a:ext cx="4572" cy="594360"/>
          </a:xfrm>
          <a:prstGeom prst="line">
            <a:avLst/>
          </a:prstGeom>
          <a:noFill/>
          <a:ln w="15875">
            <a:solidFill>
              <a:srgbClr val="6B7280"/>
            </a:solidFill>
            <a:prstDash val="solid"/>
          </a:ln>
        </p:spPr>
      </p:sp>
      <p:sp>
        <p:nvSpPr>
          <p:cNvPr id="30" name="wire-16"/>
          <p:cNvSpPr/>
          <p:nvPr/>
        </p:nvSpPr>
        <p:spPr>
          <a:xfrm>
            <a:off x="3611880" y="4892040"/>
            <a:ext cx="4206240" cy="0"/>
          </a:xfrm>
          <a:prstGeom prst="line">
            <a:avLst/>
          </a:prstGeom>
          <a:noFill/>
          <a:ln w="15875">
            <a:solidFill>
              <a:srgbClr val="6B7280"/>
            </a:solidFill>
            <a:prstDash val="solid"/>
          </a:ln>
        </p:spPr>
      </p:sp>
      <p:sp>
        <p:nvSpPr>
          <p:cNvPr id="31" name="wire-17"/>
          <p:cNvSpPr/>
          <p:nvPr/>
        </p:nvSpPr>
        <p:spPr>
          <a:xfrm>
            <a:off x="3611880" y="4892040"/>
            <a:ext cx="0" cy="365760"/>
          </a:xfrm>
          <a:prstGeom prst="line">
            <a:avLst/>
          </a:prstGeom>
          <a:noFill/>
          <a:ln w="15875">
            <a:solidFill>
              <a:srgbClr val="6B7280"/>
            </a:solidFill>
            <a:prstDash val="solid"/>
            <a:tailEnd type="triangle"/>
          </a:ln>
        </p:spPr>
      </p:sp>
      <p:sp>
        <p:nvSpPr>
          <p:cNvPr id="32" name="wire-18"/>
          <p:cNvSpPr/>
          <p:nvPr/>
        </p:nvSpPr>
        <p:spPr>
          <a:xfrm>
            <a:off x="5692140" y="4892040"/>
            <a:ext cx="0" cy="365760"/>
          </a:xfrm>
          <a:prstGeom prst="line">
            <a:avLst/>
          </a:prstGeom>
          <a:noFill/>
          <a:ln w="15875">
            <a:solidFill>
              <a:srgbClr val="6B7280"/>
            </a:solidFill>
            <a:prstDash val="solid"/>
            <a:tailEnd type="triangle"/>
          </a:ln>
        </p:spPr>
      </p:sp>
      <p:sp>
        <p:nvSpPr>
          <p:cNvPr id="33" name="wire-19"/>
          <p:cNvSpPr/>
          <p:nvPr/>
        </p:nvSpPr>
        <p:spPr>
          <a:xfrm>
            <a:off x="7818120" y="4892040"/>
            <a:ext cx="0" cy="365760"/>
          </a:xfrm>
          <a:prstGeom prst="line">
            <a:avLst/>
          </a:prstGeom>
          <a:noFill/>
          <a:ln w="15875">
            <a:solidFill>
              <a:srgbClr val="6B7280"/>
            </a:solidFill>
            <a:prstDash val="solid"/>
            <a:tailEnd type="triangle"/>
          </a:ln>
        </p:spPr>
      </p:sp>
      <p:sp>
        <p:nvSpPr>
          <p:cNvPr id="34" name="wire-20"/>
          <p:cNvSpPr/>
          <p:nvPr/>
        </p:nvSpPr>
        <p:spPr>
          <a:xfrm flipV="1">
            <a:off x="8298180" y="2103120"/>
            <a:ext cx="0" cy="411480"/>
          </a:xfrm>
          <a:prstGeom prst="line">
            <a:avLst/>
          </a:prstGeom>
          <a:noFill/>
          <a:ln w="15875">
            <a:solidFill>
              <a:srgbClr val="6B7280"/>
            </a:solidFill>
            <a:prstDash val="solid"/>
          </a:ln>
        </p:spPr>
      </p:sp>
      <p:sp>
        <p:nvSpPr>
          <p:cNvPr id="35" name="wire-21"/>
          <p:cNvSpPr/>
          <p:nvPr/>
        </p:nvSpPr>
        <p:spPr>
          <a:xfrm>
            <a:off x="8298180" y="2103120"/>
            <a:ext cx="1120140" cy="0"/>
          </a:xfrm>
          <a:prstGeom prst="line">
            <a:avLst/>
          </a:prstGeom>
          <a:noFill/>
          <a:ln w="15875">
            <a:solidFill>
              <a:srgbClr val="6B7280"/>
            </a:solidFill>
            <a:prstDash val="solid"/>
            <a:tailEnd type="triangle"/>
          </a:ln>
        </p:spPr>
      </p:sp>
      <p:sp>
        <p:nvSpPr>
          <p:cNvPr id="36" name="label-22"/>
          <p:cNvSpPr txBox="1"/>
          <p:nvPr/>
        </p:nvSpPr>
        <p:spPr>
          <a:xfrm>
            <a:off x="8412480" y="2176272"/>
            <a:ext cx="54864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oui</a:t>
            </a:r>
            <a:endParaRPr lang="en-US" sz="1050" dirty="0"/>
          </a:p>
        </p:txBody>
      </p:sp>
      <p:sp>
        <p:nvSpPr>
          <p:cNvPr id="37" name="wire-23"/>
          <p:cNvSpPr/>
          <p:nvPr/>
        </p:nvSpPr>
        <p:spPr>
          <a:xfrm>
            <a:off x="8298180" y="3703320"/>
            <a:ext cx="0" cy="777240"/>
          </a:xfrm>
          <a:prstGeom prst="line">
            <a:avLst/>
          </a:prstGeom>
          <a:noFill/>
          <a:ln w="15875">
            <a:solidFill>
              <a:srgbClr val="6B7280"/>
            </a:solidFill>
            <a:prstDash val="solid"/>
          </a:ln>
        </p:spPr>
      </p:sp>
      <p:sp>
        <p:nvSpPr>
          <p:cNvPr id="38" name="wire-24"/>
          <p:cNvSpPr/>
          <p:nvPr/>
        </p:nvSpPr>
        <p:spPr>
          <a:xfrm>
            <a:off x="8298180" y="4480560"/>
            <a:ext cx="1120140" cy="0"/>
          </a:xfrm>
          <a:prstGeom prst="line">
            <a:avLst/>
          </a:prstGeom>
          <a:noFill/>
          <a:ln w="15875">
            <a:solidFill>
              <a:srgbClr val="6B7280"/>
            </a:solidFill>
            <a:prstDash val="solid"/>
            <a:tailEnd type="triangle"/>
          </a:ln>
        </p:spPr>
      </p:sp>
      <p:sp>
        <p:nvSpPr>
          <p:cNvPr id="39" name="label-25"/>
          <p:cNvSpPr txBox="1"/>
          <p:nvPr/>
        </p:nvSpPr>
        <p:spPr>
          <a:xfrm>
            <a:off x="8412480" y="4160520"/>
            <a:ext cx="54864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non</a:t>
            </a:r>
            <a:endParaRPr lang="en-US" sz="1050" dirty="0"/>
          </a:p>
        </p:txBody>
      </p:sp>
      <p:sp>
        <p:nvSpPr>
          <p:cNvPr id="40" name="wire-26"/>
          <p:cNvSpPr/>
          <p:nvPr/>
        </p:nvSpPr>
        <p:spPr>
          <a:xfrm>
            <a:off x="10561320" y="2514600"/>
            <a:ext cx="0" cy="1554480"/>
          </a:xfrm>
          <a:prstGeom prst="line">
            <a:avLst/>
          </a:prstGeom>
          <a:noFill/>
          <a:ln w="15875">
            <a:solidFill>
              <a:srgbClr val="6B7280"/>
            </a:solidFill>
            <a:prstDash val="solid"/>
            <a:tailEnd type="triangle"/>
          </a:ln>
        </p:spPr>
      </p:sp>
      <p:sp>
        <p:nvSpPr>
          <p:cNvPr id="41" name="label-27"/>
          <p:cNvSpPr txBox="1"/>
          <p:nvPr/>
        </p:nvSpPr>
        <p:spPr>
          <a:xfrm>
            <a:off x="10652760" y="2926080"/>
            <a:ext cx="1097280" cy="502920"/>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 sans question » :</a:t>
            </a:r>
            <a:endParaRPr lang="en-US" sz="1050" dirty="0"/>
          </a:p>
          <a:p>
            <a:pPr algn="l" indent="0" marL="0">
              <a:buNone/>
            </a:pPr>
            <a:r>
              <a:rPr lang="en-US" sz="1050" dirty="0">
                <a:solidFill>
                  <a:srgbClr val="5B6470"/>
                </a:solidFill>
                <a:latin typeface="Calibri" pitchFamily="34" charset="0"/>
                <a:ea typeface="Calibri" pitchFamily="34" charset="-122"/>
                <a:cs typeface="Calibri" pitchFamily="34" charset="-120"/>
              </a:rPr>
              <a:t>réponses recommandées</a:t>
            </a:r>
            <a:endParaRPr lang="en-US" sz="105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/go · 2. Une étape du plan</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Chaque étape est prouvée avant son commit. Le coder ne touche jamais aux tests qui le jugent.</a:t>
            </a:r>
            <a:endParaRPr lang="en-US" sz="1500" dirty="0"/>
          </a:p>
        </p:txBody>
      </p:sp>
      <p:sp>
        <p:nvSpPr>
          <p:cNvPr id="5" name="a"/>
          <p:cNvSpPr/>
          <p:nvPr/>
        </p:nvSpPr>
        <p:spPr>
          <a:xfrm>
            <a:off x="457200" y="2011680"/>
            <a:ext cx="1371600" cy="868680"/>
          </a:xfrm>
          <a:prstGeom prst="roundRect">
            <a:avLst>
              <a:gd name="adj" fmla="val 8421"/>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Étape N</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du plan</a:t>
            </a:r>
            <a:endParaRPr lang="en-US" sz="1300" dirty="0"/>
          </a:p>
        </p:txBody>
      </p:sp>
      <p:sp>
        <p:nvSpPr>
          <p:cNvPr id="6" name="b"/>
          <p:cNvSpPr/>
          <p:nvPr/>
        </p:nvSpPr>
        <p:spPr>
          <a:xfrm>
            <a:off x="2240280" y="2011680"/>
            <a:ext cx="2011680" cy="868680"/>
          </a:xfrm>
          <a:prstGeom prst="roundRect">
            <a:avLst>
              <a:gd name="adj" fmla="val 8421"/>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test-guardian</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filet, ou test du bug</a:t>
            </a:r>
            <a:endParaRPr lang="en-US" sz="1300" dirty="0"/>
          </a:p>
        </p:txBody>
      </p:sp>
      <p:sp>
        <p:nvSpPr>
          <p:cNvPr id="7" name="c"/>
          <p:cNvSpPr/>
          <p:nvPr/>
        </p:nvSpPr>
        <p:spPr>
          <a:xfrm>
            <a:off x="4617720" y="2011680"/>
            <a:ext cx="1600200" cy="868680"/>
          </a:xfrm>
          <a:prstGeom prst="roundRect">
            <a:avLst>
              <a:gd name="adj" fmla="val 8421"/>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Tests scellés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intouchables</a:t>
            </a:r>
            <a:endParaRPr lang="en-US" sz="1300" dirty="0"/>
          </a:p>
        </p:txBody>
      </p:sp>
      <p:sp>
        <p:nvSpPr>
          <p:cNvPr id="8" name="d"/>
          <p:cNvSpPr/>
          <p:nvPr/>
        </p:nvSpPr>
        <p:spPr>
          <a:xfrm>
            <a:off x="6583680" y="2011680"/>
            <a:ext cx="1737360" cy="868680"/>
          </a:xfrm>
          <a:prstGeom prst="roundRect">
            <a:avLst>
              <a:gd name="adj" fmla="val 8421"/>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coder</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l'étape + ses tests</a:t>
            </a:r>
            <a:endParaRPr lang="en-US" sz="1300" dirty="0"/>
          </a:p>
        </p:txBody>
      </p:sp>
      <p:sp>
        <p:nvSpPr>
          <p:cNvPr id="9" name="tag-1"/>
          <p:cNvSpPr/>
          <p:nvPr/>
        </p:nvSpPr>
        <p:spPr>
          <a:xfrm>
            <a:off x="7104888" y="1856232"/>
            <a:ext cx="132588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repris 1 fois</a:t>
            </a:r>
            <a:endParaRPr lang="en-US" sz="1050" dirty="0"/>
          </a:p>
        </p:txBody>
      </p:sp>
      <p:sp>
        <p:nvSpPr>
          <p:cNvPr id="10" name="e"/>
          <p:cNvSpPr/>
          <p:nvPr/>
        </p:nvSpPr>
        <p:spPr>
          <a:xfrm>
            <a:off x="8686800" y="1892808"/>
            <a:ext cx="1417320" cy="1097280"/>
          </a:xfrm>
          <a:prstGeom prst="diamond">
            <a:avLst/>
          </a:prstGeom>
          <a:solidFill>
            <a:srgbClr val="FFFFFF"/>
          </a:solidFill>
          <a:ln w="15875">
            <a:solidFill>
              <a:srgbClr val="7A828C"/>
            </a:solid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verify</a:t>
            </a:r>
            <a:endParaRPr lang="en-US" sz="1200" dirty="0"/>
          </a:p>
          <a:p>
            <a:pPr algn="ctr" indent="0" marL="0">
              <a:buNone/>
            </a:pPr>
            <a:r>
              <a:rPr lang="en-US" sz="1200" b="1" dirty="0">
                <a:solidFill>
                  <a:srgbClr val="1F2933"/>
                </a:solidFill>
                <a:latin typeface="Calibri" pitchFamily="34" charset="0"/>
                <a:ea typeface="Calibri" pitchFamily="34" charset="-122"/>
                <a:cs typeface="Calibri" pitchFamily="34" charset="-120"/>
              </a:rPr>
              <a:t>(script)</a:t>
            </a:r>
            <a:endParaRPr lang="en-US" sz="1200" dirty="0"/>
          </a:p>
        </p:txBody>
      </p:sp>
      <p:sp>
        <p:nvSpPr>
          <p:cNvPr id="11" name="f"/>
          <p:cNvSpPr/>
          <p:nvPr/>
        </p:nvSpPr>
        <p:spPr>
          <a:xfrm>
            <a:off x="10469880" y="2011680"/>
            <a:ext cx="1234440" cy="868680"/>
          </a:xfrm>
          <a:prstGeom prst="roundRect">
            <a:avLst>
              <a:gd name="adj" fmla="val 8421"/>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Commit</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case cochée</a:t>
            </a:r>
            <a:endParaRPr lang="en-US" sz="1300" dirty="0"/>
          </a:p>
        </p:txBody>
      </p:sp>
      <p:sp>
        <p:nvSpPr>
          <p:cNvPr id="12" name="g"/>
          <p:cNvSpPr/>
          <p:nvPr/>
        </p:nvSpPr>
        <p:spPr>
          <a:xfrm>
            <a:off x="6583680" y="3794760"/>
            <a:ext cx="1737360" cy="868680"/>
          </a:xfrm>
          <a:prstGeom prst="roundRect">
            <a:avLst>
              <a:gd name="adj" fmla="val 8421"/>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debugger</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cause racine</a:t>
            </a:r>
            <a:endParaRPr lang="en-US" sz="1300" dirty="0"/>
          </a:p>
        </p:txBody>
      </p:sp>
      <p:sp>
        <p:nvSpPr>
          <p:cNvPr id="13" name="h"/>
          <p:cNvSpPr/>
          <p:nvPr/>
        </p:nvSpPr>
        <p:spPr>
          <a:xfrm>
            <a:off x="8549640" y="3794760"/>
            <a:ext cx="1691640" cy="868680"/>
          </a:xfrm>
          <a:prstGeom prst="roundRect">
            <a:avLst>
              <a:gd name="adj" fmla="val 8421"/>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test-guardian</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même session</a:t>
            </a:r>
            <a:endParaRPr lang="en-US" sz="1300" dirty="0"/>
          </a:p>
        </p:txBody>
      </p:sp>
      <p:sp>
        <p:nvSpPr>
          <p:cNvPr id="14" name="s"/>
          <p:cNvSpPr/>
          <p:nvPr/>
        </p:nvSpPr>
        <p:spPr>
          <a:xfrm>
            <a:off x="6583680" y="5120640"/>
            <a:ext cx="1737360" cy="731520"/>
          </a:xfrm>
          <a:prstGeom prst="roundRect">
            <a:avLst>
              <a:gd name="adj" fmla="val 10000"/>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Encore en échec</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raison dans la fiche</a:t>
            </a:r>
            <a:endParaRPr lang="en-US" sz="1300" dirty="0"/>
          </a:p>
        </p:txBody>
      </p:sp>
      <p:sp>
        <p:nvSpPr>
          <p:cNvPr id="15" name="wire-2"/>
          <p:cNvSpPr/>
          <p:nvPr/>
        </p:nvSpPr>
        <p:spPr>
          <a:xfrm>
            <a:off x="1828800" y="2446020"/>
            <a:ext cx="411480" cy="0"/>
          </a:xfrm>
          <a:prstGeom prst="line">
            <a:avLst/>
          </a:prstGeom>
          <a:noFill/>
          <a:ln w="15875">
            <a:solidFill>
              <a:srgbClr val="6B7280"/>
            </a:solidFill>
            <a:prstDash val="solid"/>
            <a:tailEnd type="triangle"/>
          </a:ln>
        </p:spPr>
      </p:sp>
      <p:sp>
        <p:nvSpPr>
          <p:cNvPr id="16" name="wire-3"/>
          <p:cNvSpPr/>
          <p:nvPr/>
        </p:nvSpPr>
        <p:spPr>
          <a:xfrm>
            <a:off x="4251960" y="2446020"/>
            <a:ext cx="365760" cy="0"/>
          </a:xfrm>
          <a:prstGeom prst="line">
            <a:avLst/>
          </a:prstGeom>
          <a:noFill/>
          <a:ln w="15875">
            <a:solidFill>
              <a:srgbClr val="6B7280"/>
            </a:solidFill>
            <a:prstDash val="solid"/>
            <a:tailEnd type="triangle"/>
          </a:ln>
        </p:spPr>
      </p:sp>
      <p:sp>
        <p:nvSpPr>
          <p:cNvPr id="17" name="wire-4"/>
          <p:cNvSpPr/>
          <p:nvPr/>
        </p:nvSpPr>
        <p:spPr>
          <a:xfrm>
            <a:off x="6217920" y="2446020"/>
            <a:ext cx="365760" cy="0"/>
          </a:xfrm>
          <a:prstGeom prst="line">
            <a:avLst/>
          </a:prstGeom>
          <a:noFill/>
          <a:ln w="15875">
            <a:solidFill>
              <a:srgbClr val="6B7280"/>
            </a:solidFill>
            <a:prstDash val="solid"/>
            <a:tailEnd type="triangle"/>
          </a:ln>
        </p:spPr>
      </p:sp>
      <p:sp>
        <p:nvSpPr>
          <p:cNvPr id="18" name="wire-5"/>
          <p:cNvSpPr/>
          <p:nvPr/>
        </p:nvSpPr>
        <p:spPr>
          <a:xfrm flipV="1">
            <a:off x="8321040" y="2441448"/>
            <a:ext cx="365760" cy="4572"/>
          </a:xfrm>
          <a:prstGeom prst="line">
            <a:avLst/>
          </a:prstGeom>
          <a:noFill/>
          <a:ln w="15875">
            <a:solidFill>
              <a:srgbClr val="6B7280"/>
            </a:solidFill>
            <a:prstDash val="solid"/>
            <a:tailEnd type="triangle"/>
          </a:ln>
        </p:spPr>
      </p:sp>
      <p:sp>
        <p:nvSpPr>
          <p:cNvPr id="19" name="wire-6"/>
          <p:cNvSpPr/>
          <p:nvPr/>
        </p:nvSpPr>
        <p:spPr>
          <a:xfrm>
            <a:off x="10104120" y="2441448"/>
            <a:ext cx="365760" cy="4572"/>
          </a:xfrm>
          <a:prstGeom prst="line">
            <a:avLst/>
          </a:prstGeom>
          <a:noFill/>
          <a:ln w="15875">
            <a:solidFill>
              <a:srgbClr val="6B7280"/>
            </a:solidFill>
            <a:prstDash val="solid"/>
            <a:tailEnd type="triangle"/>
          </a:ln>
        </p:spPr>
      </p:sp>
      <p:sp>
        <p:nvSpPr>
          <p:cNvPr id="20" name="label-7"/>
          <p:cNvSpPr txBox="1"/>
          <p:nvPr/>
        </p:nvSpPr>
        <p:spPr>
          <a:xfrm>
            <a:off x="10104120" y="2176272"/>
            <a:ext cx="365760" cy="237744"/>
          </a:xfrm>
          <a:prstGeom prst="rect">
            <a:avLst/>
          </a:prstGeom>
          <a:noFill/>
          <a:ln/>
        </p:spPr>
        <p:txBody>
          <a:bodyPr wrap="square" lIns="0" tIns="0" rIns="0" bIns="0" rtlCol="0" anchor="ctr"/>
          <a:lstStyle/>
          <a:p>
            <a:pPr algn="ctr" indent="0" marL="0">
              <a:buNone/>
            </a:pPr>
            <a:r>
              <a:rPr lang="en-US" sz="1050" dirty="0">
                <a:solidFill>
                  <a:srgbClr val="5B6470"/>
                </a:solidFill>
                <a:latin typeface="Calibri" pitchFamily="34" charset="0"/>
                <a:ea typeface="Calibri" pitchFamily="34" charset="-122"/>
                <a:cs typeface="Calibri" pitchFamily="34" charset="-120"/>
              </a:rPr>
              <a:t>OK</a:t>
            </a:r>
            <a:endParaRPr lang="en-US" sz="1050" dirty="0"/>
          </a:p>
        </p:txBody>
      </p:sp>
      <p:sp>
        <p:nvSpPr>
          <p:cNvPr id="21" name="wire-8"/>
          <p:cNvSpPr/>
          <p:nvPr/>
        </p:nvSpPr>
        <p:spPr>
          <a:xfrm flipV="1">
            <a:off x="1463040" y="1645920"/>
            <a:ext cx="0" cy="365760"/>
          </a:xfrm>
          <a:prstGeom prst="line">
            <a:avLst/>
          </a:prstGeom>
          <a:noFill/>
          <a:ln w="15875">
            <a:solidFill>
              <a:srgbClr val="6B7280"/>
            </a:solidFill>
            <a:prstDash val="dash"/>
          </a:ln>
        </p:spPr>
      </p:sp>
      <p:sp>
        <p:nvSpPr>
          <p:cNvPr id="22" name="wire-9"/>
          <p:cNvSpPr/>
          <p:nvPr/>
        </p:nvSpPr>
        <p:spPr>
          <a:xfrm>
            <a:off x="1463040" y="1645920"/>
            <a:ext cx="5989320" cy="0"/>
          </a:xfrm>
          <a:prstGeom prst="line">
            <a:avLst/>
          </a:prstGeom>
          <a:noFill/>
          <a:ln w="15875">
            <a:solidFill>
              <a:srgbClr val="6B7280"/>
            </a:solidFill>
            <a:prstDash val="dash"/>
          </a:ln>
        </p:spPr>
      </p:sp>
      <p:sp>
        <p:nvSpPr>
          <p:cNvPr id="23" name="wire-10"/>
          <p:cNvSpPr/>
          <p:nvPr/>
        </p:nvSpPr>
        <p:spPr>
          <a:xfrm>
            <a:off x="7452360" y="1645920"/>
            <a:ext cx="0" cy="365760"/>
          </a:xfrm>
          <a:prstGeom prst="line">
            <a:avLst/>
          </a:prstGeom>
          <a:noFill/>
          <a:ln w="15875">
            <a:solidFill>
              <a:srgbClr val="6B7280"/>
            </a:solidFill>
            <a:prstDash val="dash"/>
            <a:tailEnd type="triangle"/>
          </a:ln>
        </p:spPr>
      </p:sp>
      <p:sp>
        <p:nvSpPr>
          <p:cNvPr id="24" name="label-11"/>
          <p:cNvSpPr txBox="1"/>
          <p:nvPr/>
        </p:nvSpPr>
        <p:spPr>
          <a:xfrm>
            <a:off x="2926080" y="1673352"/>
            <a:ext cx="128016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code nouveau</a:t>
            </a:r>
            <a:endParaRPr lang="en-US" sz="1050" dirty="0"/>
          </a:p>
        </p:txBody>
      </p:sp>
      <p:sp>
        <p:nvSpPr>
          <p:cNvPr id="25" name="wire-12"/>
          <p:cNvSpPr/>
          <p:nvPr/>
        </p:nvSpPr>
        <p:spPr>
          <a:xfrm>
            <a:off x="7452360" y="2880360"/>
            <a:ext cx="0" cy="914400"/>
          </a:xfrm>
          <a:prstGeom prst="line">
            <a:avLst/>
          </a:prstGeom>
          <a:noFill/>
          <a:ln w="15875">
            <a:solidFill>
              <a:srgbClr val="6B7280"/>
            </a:solidFill>
            <a:prstDash val="solid"/>
            <a:tailEnd type="triangle"/>
          </a:ln>
        </p:spPr>
      </p:sp>
      <p:sp>
        <p:nvSpPr>
          <p:cNvPr id="26" name="label-13"/>
          <p:cNvSpPr txBox="1"/>
          <p:nvPr/>
        </p:nvSpPr>
        <p:spPr>
          <a:xfrm>
            <a:off x="7543800" y="3154680"/>
            <a:ext cx="64008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échec</a:t>
            </a:r>
            <a:endParaRPr lang="en-US" sz="1050" dirty="0"/>
          </a:p>
        </p:txBody>
      </p:sp>
      <p:sp>
        <p:nvSpPr>
          <p:cNvPr id="27" name="wire-14"/>
          <p:cNvSpPr/>
          <p:nvPr/>
        </p:nvSpPr>
        <p:spPr>
          <a:xfrm flipH="1" flipV="1">
            <a:off x="6355080" y="4224528"/>
            <a:ext cx="228600" cy="4572"/>
          </a:xfrm>
          <a:prstGeom prst="line">
            <a:avLst/>
          </a:prstGeom>
          <a:noFill/>
          <a:ln w="15875">
            <a:solidFill>
              <a:srgbClr val="6B7280"/>
            </a:solidFill>
            <a:prstDash val="solid"/>
          </a:ln>
        </p:spPr>
      </p:sp>
      <p:sp>
        <p:nvSpPr>
          <p:cNvPr id="28" name="wire-15"/>
          <p:cNvSpPr/>
          <p:nvPr/>
        </p:nvSpPr>
        <p:spPr>
          <a:xfrm flipV="1">
            <a:off x="6355080" y="2697480"/>
            <a:ext cx="0" cy="1527048"/>
          </a:xfrm>
          <a:prstGeom prst="line">
            <a:avLst/>
          </a:prstGeom>
          <a:noFill/>
          <a:ln w="15875">
            <a:solidFill>
              <a:srgbClr val="6B7280"/>
            </a:solidFill>
            <a:prstDash val="solid"/>
          </a:ln>
        </p:spPr>
      </p:sp>
      <p:sp>
        <p:nvSpPr>
          <p:cNvPr id="29" name="wire-16"/>
          <p:cNvSpPr/>
          <p:nvPr/>
        </p:nvSpPr>
        <p:spPr>
          <a:xfrm>
            <a:off x="6355080" y="2697480"/>
            <a:ext cx="228600" cy="0"/>
          </a:xfrm>
          <a:prstGeom prst="line">
            <a:avLst/>
          </a:prstGeom>
          <a:noFill/>
          <a:ln w="15875">
            <a:solidFill>
              <a:srgbClr val="6B7280"/>
            </a:solidFill>
            <a:prstDash val="solid"/>
            <a:tailEnd type="triangle"/>
          </a:ln>
        </p:spPr>
      </p:sp>
      <p:sp>
        <p:nvSpPr>
          <p:cNvPr id="30" name="label-17"/>
          <p:cNvSpPr txBox="1"/>
          <p:nvPr/>
        </p:nvSpPr>
        <p:spPr>
          <a:xfrm>
            <a:off x="5486400" y="3337560"/>
            <a:ext cx="822960" cy="237744"/>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2e essai</a:t>
            </a:r>
            <a:endParaRPr lang="en-US" sz="1050" dirty="0"/>
          </a:p>
        </p:txBody>
      </p:sp>
      <p:sp>
        <p:nvSpPr>
          <p:cNvPr id="31" name="wire-18"/>
          <p:cNvSpPr/>
          <p:nvPr/>
        </p:nvSpPr>
        <p:spPr>
          <a:xfrm>
            <a:off x="7452360" y="4663440"/>
            <a:ext cx="0" cy="457200"/>
          </a:xfrm>
          <a:prstGeom prst="line">
            <a:avLst/>
          </a:prstGeom>
          <a:noFill/>
          <a:ln w="15875">
            <a:solidFill>
              <a:srgbClr val="6B7280"/>
            </a:solidFill>
            <a:prstDash val="solid"/>
            <a:tailEnd type="triangle"/>
          </a:ln>
        </p:spPr>
      </p:sp>
      <p:sp>
        <p:nvSpPr>
          <p:cNvPr id="32" name="wire-19"/>
          <p:cNvSpPr/>
          <p:nvPr/>
        </p:nvSpPr>
        <p:spPr>
          <a:xfrm>
            <a:off x="9395460" y="2990088"/>
            <a:ext cx="0" cy="804672"/>
          </a:xfrm>
          <a:prstGeom prst="line">
            <a:avLst/>
          </a:prstGeom>
          <a:noFill/>
          <a:ln w="15875">
            <a:solidFill>
              <a:srgbClr val="6B7280"/>
            </a:solidFill>
            <a:prstDash val="solid"/>
            <a:tailEnd type="triangle"/>
          </a:ln>
        </p:spPr>
      </p:sp>
      <p:sp>
        <p:nvSpPr>
          <p:cNvPr id="33" name="label-20"/>
          <p:cNvSpPr txBox="1"/>
          <p:nvPr/>
        </p:nvSpPr>
        <p:spPr>
          <a:xfrm>
            <a:off x="9491472" y="3154680"/>
            <a:ext cx="82296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pas vert</a:t>
            </a:r>
            <a:endParaRPr lang="en-US" sz="1050" dirty="0"/>
          </a:p>
        </p:txBody>
      </p:sp>
      <p:sp>
        <p:nvSpPr>
          <p:cNvPr id="34" name="wire-21"/>
          <p:cNvSpPr/>
          <p:nvPr/>
        </p:nvSpPr>
        <p:spPr>
          <a:xfrm flipV="1">
            <a:off x="10241280" y="4224528"/>
            <a:ext cx="841248" cy="4572"/>
          </a:xfrm>
          <a:prstGeom prst="line">
            <a:avLst/>
          </a:prstGeom>
          <a:noFill/>
          <a:ln w="15875">
            <a:solidFill>
              <a:srgbClr val="6B7280"/>
            </a:solidFill>
            <a:prstDash val="solid"/>
          </a:ln>
        </p:spPr>
      </p:sp>
      <p:sp>
        <p:nvSpPr>
          <p:cNvPr id="35" name="wire-22"/>
          <p:cNvSpPr/>
          <p:nvPr/>
        </p:nvSpPr>
        <p:spPr>
          <a:xfrm flipV="1">
            <a:off x="11082528" y="2880360"/>
            <a:ext cx="0" cy="1344168"/>
          </a:xfrm>
          <a:prstGeom prst="line">
            <a:avLst/>
          </a:prstGeom>
          <a:noFill/>
          <a:ln w="15875">
            <a:solidFill>
              <a:srgbClr val="6B7280"/>
            </a:solidFill>
            <a:prstDash val="solid"/>
            <a:tailEnd type="triangle"/>
          </a:ln>
        </p:spPr>
      </p:sp>
      <p:sp>
        <p:nvSpPr>
          <p:cNvPr id="36" name="label-23"/>
          <p:cNvSpPr txBox="1"/>
          <p:nvPr/>
        </p:nvSpPr>
        <p:spPr>
          <a:xfrm>
            <a:off x="11155680" y="3429000"/>
            <a:ext cx="54864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vert</a:t>
            </a:r>
            <a:endParaRPr lang="en-US" sz="1050" dirty="0"/>
          </a:p>
        </p:txBody>
      </p:sp>
      <p:sp>
        <p:nvSpPr>
          <p:cNvPr id="37" name="label-24"/>
          <p:cNvSpPr txBox="1"/>
          <p:nvPr/>
        </p:nvSpPr>
        <p:spPr>
          <a:xfrm>
            <a:off x="8549640" y="4709160"/>
            <a:ext cx="1691640" cy="237744"/>
          </a:xfrm>
          <a:prstGeom prst="rect">
            <a:avLst/>
          </a:prstGeom>
          <a:noFill/>
          <a:ln/>
        </p:spPr>
        <p:txBody>
          <a:bodyPr wrap="square" lIns="0" tIns="0" rIns="0" bIns="0" rtlCol="0" anchor="ctr"/>
          <a:lstStyle/>
          <a:p>
            <a:pPr algn="ctr" indent="0" marL="0">
              <a:buNone/>
            </a:pPr>
            <a:r>
              <a:rPr lang="en-US" sz="1050" dirty="0">
                <a:solidFill>
                  <a:srgbClr val="5B6470"/>
                </a:solidFill>
                <a:latin typeface="Calibri" pitchFamily="34" charset="0"/>
                <a:ea typeface="Calibri" pitchFamily="34" charset="-122"/>
                <a:cs typeface="Calibri" pitchFamily="34" charset="-120"/>
              </a:rPr>
              <a:t>régression → coder</a:t>
            </a:r>
            <a:endParaRPr lang="en-US" sz="1050" dirty="0"/>
          </a:p>
        </p:txBody>
      </p:sp>
      <p:sp>
        <p:nvSpPr>
          <p:cNvPr id="38" name="wire-25"/>
          <p:cNvSpPr/>
          <p:nvPr/>
        </p:nvSpPr>
        <p:spPr>
          <a:xfrm flipV="1">
            <a:off x="11082528" y="1389888"/>
            <a:ext cx="0" cy="621792"/>
          </a:xfrm>
          <a:prstGeom prst="line">
            <a:avLst/>
          </a:prstGeom>
          <a:noFill/>
          <a:ln w="15875">
            <a:solidFill>
              <a:srgbClr val="6B7280"/>
            </a:solidFill>
            <a:prstDash val="dash"/>
          </a:ln>
        </p:spPr>
      </p:sp>
      <p:sp>
        <p:nvSpPr>
          <p:cNvPr id="39" name="wire-26"/>
          <p:cNvSpPr/>
          <p:nvPr/>
        </p:nvSpPr>
        <p:spPr>
          <a:xfrm flipH="1">
            <a:off x="777240" y="1389888"/>
            <a:ext cx="10305288" cy="0"/>
          </a:xfrm>
          <a:prstGeom prst="line">
            <a:avLst/>
          </a:prstGeom>
          <a:noFill/>
          <a:ln w="15875">
            <a:solidFill>
              <a:srgbClr val="6B7280"/>
            </a:solidFill>
            <a:prstDash val="dash"/>
          </a:ln>
        </p:spPr>
      </p:sp>
      <p:sp>
        <p:nvSpPr>
          <p:cNvPr id="40" name="wire-27"/>
          <p:cNvSpPr/>
          <p:nvPr/>
        </p:nvSpPr>
        <p:spPr>
          <a:xfrm>
            <a:off x="777240" y="1389888"/>
            <a:ext cx="0" cy="621792"/>
          </a:xfrm>
          <a:prstGeom prst="line">
            <a:avLst/>
          </a:prstGeom>
          <a:noFill/>
          <a:ln w="15875">
            <a:solidFill>
              <a:srgbClr val="6B7280"/>
            </a:solidFill>
            <a:prstDash val="dash"/>
            <a:tailEnd type="triangle"/>
          </a:ln>
        </p:spPr>
      </p:sp>
      <p:sp>
        <p:nvSpPr>
          <p:cNvPr id="41" name="label-28"/>
          <p:cNvSpPr txBox="1"/>
          <p:nvPr/>
        </p:nvSpPr>
        <p:spPr>
          <a:xfrm>
            <a:off x="8778240" y="1152144"/>
            <a:ext cx="1463040" cy="237744"/>
          </a:xfrm>
          <a:prstGeom prst="rect">
            <a:avLst/>
          </a:prstGeom>
          <a:noFill/>
          <a:ln/>
        </p:spPr>
        <p:txBody>
          <a:bodyPr wrap="square" lIns="0" tIns="0" rIns="0" bIns="0" rtlCol="0" anchor="ctr"/>
          <a:lstStyle/>
          <a:p>
            <a:pPr algn="ctr" indent="0" marL="0">
              <a:buNone/>
            </a:pPr>
            <a:r>
              <a:rPr lang="en-US" sz="1050" dirty="0">
                <a:solidFill>
                  <a:srgbClr val="5B6470"/>
                </a:solidFill>
                <a:latin typeface="Calibri" pitchFamily="34" charset="0"/>
                <a:ea typeface="Calibri" pitchFamily="34" charset="-122"/>
                <a:cs typeface="Calibri" pitchFamily="34" charset="-120"/>
              </a:rPr>
              <a:t>étape suivante</a:t>
            </a:r>
            <a:endParaRPr lang="en-US" sz="105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/go · 3. Vérifier et livrer</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La suite complète et l'auto-review tournent ensemble. Rien ne part sans le contrôle avant push.</a:t>
            </a:r>
            <a:endParaRPr lang="en-US" sz="1500" dirty="0"/>
          </a:p>
        </p:txBody>
      </p:sp>
      <p:sp>
        <p:nvSpPr>
          <p:cNvPr id="5" name="a"/>
          <p:cNvSpPr/>
          <p:nvPr/>
        </p:nvSpPr>
        <p:spPr>
          <a:xfrm>
            <a:off x="457200" y="2743200"/>
            <a:ext cx="1280160" cy="822960"/>
          </a:xfrm>
          <a:prstGeom prst="roundRect">
            <a:avLst>
              <a:gd name="adj" fmla="val 8889"/>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Plan fini</a:t>
            </a:r>
            <a:endParaRPr lang="en-US" sz="1300" dirty="0"/>
          </a:p>
        </p:txBody>
      </p:sp>
      <p:sp>
        <p:nvSpPr>
          <p:cNvPr id="6" name="group-1"/>
          <p:cNvSpPr/>
          <p:nvPr/>
        </p:nvSpPr>
        <p:spPr>
          <a:xfrm>
            <a:off x="2103120" y="1508760"/>
            <a:ext cx="2651760" cy="3246120"/>
          </a:xfrm>
          <a:prstGeom prst="roundRect">
            <a:avLst>
              <a:gd name="adj" fmla="val 3448"/>
            </a:avLst>
          </a:prstGeom>
          <a:solidFill>
            <a:srgbClr val="FFFFFF">
              <a:alpha val="0"/>
            </a:srgbClr>
          </a:solidFill>
          <a:ln w="12700">
            <a:solidFill>
              <a:srgbClr val="A3AAB3"/>
            </a:solidFill>
            <a:prstDash val="dash"/>
          </a:ln>
        </p:spPr>
      </p:sp>
      <p:sp>
        <p:nvSpPr>
          <p:cNvPr id="7" name="group-label-2"/>
          <p:cNvSpPr txBox="1"/>
          <p:nvPr/>
        </p:nvSpPr>
        <p:spPr>
          <a:xfrm>
            <a:off x="2212848" y="1545336"/>
            <a:ext cx="2432304" cy="237744"/>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en parallèle</a:t>
            </a:r>
            <a:endParaRPr lang="en-US" sz="1050" dirty="0"/>
          </a:p>
        </p:txBody>
      </p:sp>
      <p:sp>
        <p:nvSpPr>
          <p:cNvPr id="8" name="su"/>
          <p:cNvSpPr/>
          <p:nvPr/>
        </p:nvSpPr>
        <p:spPr>
          <a:xfrm>
            <a:off x="2286000" y="1874520"/>
            <a:ext cx="2286000" cy="914400"/>
          </a:xfrm>
          <a:prstGeom prst="roundRect">
            <a:avLst>
              <a:gd name="adj" fmla="val 8000"/>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Suite complète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tests, couverture modifiée</a:t>
            </a:r>
            <a:endParaRPr lang="en-US" sz="1300" dirty="0"/>
          </a:p>
        </p:txBody>
      </p:sp>
      <p:sp>
        <p:nvSpPr>
          <p:cNvPr id="9" name="tag-3"/>
          <p:cNvSpPr/>
          <p:nvPr/>
        </p:nvSpPr>
        <p:spPr>
          <a:xfrm>
            <a:off x="3630168" y="1719072"/>
            <a:ext cx="1051560" cy="274320"/>
          </a:xfrm>
          <a:prstGeom prst="roundRect">
            <a:avLst>
              <a:gd name="adj" fmla="val 50000"/>
            </a:avLst>
          </a:prstGeom>
          <a:solidFill>
            <a:srgbClr val="EEF1F6"/>
          </a:solidFill>
          <a:ln w="12700">
            <a:solidFill>
              <a:srgbClr val="4A5B78"/>
            </a:solidFill>
            <a:prstDash val="dash"/>
          </a:ln>
        </p:spPr>
        <p:txBody>
          <a:bodyPr wrap="square" lIns="0" tIns="0" rIns="0" bIns="0" rtlCol="0" anchor="ctr"/>
          <a:lstStyle/>
          <a:p>
            <a:pPr algn="ctr" indent="0" marL="0">
              <a:buNone/>
            </a:pPr>
            <a:r>
              <a:rPr lang="en-US" sz="1050" b="1" dirty="0">
                <a:solidFill>
                  <a:srgbClr val="2F3B52"/>
                </a:solidFill>
                <a:latin typeface="Calibri" pitchFamily="34" charset="0"/>
                <a:ea typeface="Calibri" pitchFamily="34" charset="-122"/>
                <a:cs typeface="Calibri" pitchFamily="34" charset="-120"/>
              </a:rPr>
              <a:t>≤ 25 min</a:t>
            </a:r>
            <a:endParaRPr lang="en-US" sz="1050" dirty="0"/>
          </a:p>
        </p:txBody>
      </p:sp>
      <p:sp>
        <p:nvSpPr>
          <p:cNvPr id="10" name="tag-4"/>
          <p:cNvSpPr/>
          <p:nvPr/>
        </p:nvSpPr>
        <p:spPr>
          <a:xfrm>
            <a:off x="2377440" y="2926080"/>
            <a:ext cx="2103120" cy="274320"/>
          </a:xfrm>
          <a:prstGeom prst="roundRect">
            <a:avLst>
              <a:gd name="adj" fmla="val 50000"/>
            </a:avLst>
          </a:prstGeom>
          <a:solidFill>
            <a:srgbClr val="FFFFFF"/>
          </a:solidFill>
          <a:ln w="12700">
            <a:solidFill>
              <a:srgbClr val="A3AAB3"/>
            </a:solidFill>
            <a:prstDash val="solid"/>
          </a:ln>
        </p:spPr>
        <p:txBody>
          <a:bodyPr wrap="square" lIns="0" tIns="0" rIns="0" bIns="0" rtlCol="0" anchor="ctr"/>
          <a:lstStyle/>
          <a:p>
            <a:pPr algn="ctr" indent="0" marL="0">
              <a:buNone/>
            </a:pPr>
            <a:r>
              <a:rPr lang="en-US" sz="1050" b="1" dirty="0">
                <a:solidFill>
                  <a:srgbClr val="5B6470"/>
                </a:solidFill>
                <a:latin typeface="Calibri" pitchFamily="34" charset="0"/>
                <a:ea typeface="Calibri" pitchFamily="34" charset="-122"/>
                <a:cs typeface="Calibri" pitchFamily="34" charset="-120"/>
              </a:rPr>
              <a:t>test rouge : rejoué 1 fois</a:t>
            </a:r>
            <a:endParaRPr lang="en-US" sz="1050" dirty="0"/>
          </a:p>
        </p:txBody>
      </p:sp>
      <p:sp>
        <p:nvSpPr>
          <p:cNvPr id="11" name="ck"/>
          <p:cNvSpPr/>
          <p:nvPr/>
        </p:nvSpPr>
        <p:spPr>
          <a:xfrm>
            <a:off x="2286000" y="3520440"/>
            <a:ext cx="2286000" cy="914400"/>
          </a:xfrm>
          <a:prstGeom prst="roundRect">
            <a:avLst>
              <a:gd name="adj" fmla="val 8000"/>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checker</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auto-review</a:t>
            </a:r>
            <a:endParaRPr lang="en-US" sz="1300" dirty="0"/>
          </a:p>
        </p:txBody>
      </p:sp>
      <p:sp>
        <p:nvSpPr>
          <p:cNvPr id="12" name="fx"/>
          <p:cNvSpPr/>
          <p:nvPr/>
        </p:nvSpPr>
        <p:spPr>
          <a:xfrm>
            <a:off x="5166360" y="2743200"/>
            <a:ext cx="173736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Corrections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2 tours max</a:t>
            </a:r>
            <a:endParaRPr lang="en-US" sz="1300" dirty="0"/>
          </a:p>
        </p:txBody>
      </p:sp>
      <p:sp>
        <p:nvSpPr>
          <p:cNvPr id="13" name="sh"/>
          <p:cNvSpPr/>
          <p:nvPr/>
        </p:nvSpPr>
        <p:spPr>
          <a:xfrm>
            <a:off x="7269480" y="2743200"/>
            <a:ext cx="1828800" cy="822960"/>
          </a:xfrm>
          <a:prstGeom prst="roundRect">
            <a:avLst>
              <a:gd name="adj" fmla="val 8889"/>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ship.sh</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base, contrôle, push</a:t>
            </a:r>
            <a:endParaRPr lang="en-US" sz="1300" dirty="0"/>
          </a:p>
        </p:txBody>
      </p:sp>
      <p:sp>
        <p:nvSpPr>
          <p:cNvPr id="14" name="tag-5"/>
          <p:cNvSpPr/>
          <p:nvPr/>
        </p:nvSpPr>
        <p:spPr>
          <a:xfrm>
            <a:off x="7178040" y="2011680"/>
            <a:ext cx="201168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réseau : 3 s, 10 s</a:t>
            </a:r>
            <a:endParaRPr lang="en-US" sz="1050" dirty="0"/>
          </a:p>
        </p:txBody>
      </p:sp>
      <p:sp>
        <p:nvSpPr>
          <p:cNvPr id="15" name="tag-6"/>
          <p:cNvSpPr/>
          <p:nvPr/>
        </p:nvSpPr>
        <p:spPr>
          <a:xfrm>
            <a:off x="7178040" y="2359152"/>
            <a:ext cx="201168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branche bougée : re-push</a:t>
            </a:r>
            <a:endParaRPr lang="en-US" sz="1050" dirty="0"/>
          </a:p>
        </p:txBody>
      </p:sp>
      <p:sp>
        <p:nvSpPr>
          <p:cNvPr id="16" name="mr"/>
          <p:cNvSpPr/>
          <p:nvPr/>
        </p:nvSpPr>
        <p:spPr>
          <a:xfrm>
            <a:off x="9509760" y="2743200"/>
            <a:ext cx="2194560" cy="822960"/>
          </a:xfrm>
          <a:prstGeom prst="roundRect">
            <a:avLst>
              <a:gd name="adj" fmla="val 8889"/>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MR en Draft</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décisions, tests, filets</a:t>
            </a:r>
            <a:endParaRPr lang="en-US" sz="1300" dirty="0"/>
          </a:p>
        </p:txBody>
      </p:sp>
      <p:sp>
        <p:nvSpPr>
          <p:cNvPr id="17" name="tag-7"/>
          <p:cNvSpPr/>
          <p:nvPr/>
        </p:nvSpPr>
        <p:spPr>
          <a:xfrm>
            <a:off x="10396728" y="2587752"/>
            <a:ext cx="141732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GitLab : 1 rappel</a:t>
            </a:r>
            <a:endParaRPr lang="en-US" sz="1050" dirty="0"/>
          </a:p>
        </p:txBody>
      </p:sp>
      <p:sp>
        <p:nvSpPr>
          <p:cNvPr id="18" name="nx"/>
          <p:cNvSpPr/>
          <p:nvPr/>
        </p:nvSpPr>
        <p:spPr>
          <a:xfrm>
            <a:off x="9509760" y="4343400"/>
            <a:ext cx="2194560" cy="731520"/>
          </a:xfrm>
          <a:prstGeom prst="roundRect">
            <a:avLst>
              <a:gd name="adj" fmla="val 10000"/>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Suite : /fix</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après la CI</a:t>
            </a:r>
            <a:endParaRPr lang="en-US" sz="1300" dirty="0"/>
          </a:p>
        </p:txBody>
      </p:sp>
      <p:sp>
        <p:nvSpPr>
          <p:cNvPr id="19" name="st"/>
          <p:cNvSpPr/>
          <p:nvPr/>
        </p:nvSpPr>
        <p:spPr>
          <a:xfrm>
            <a:off x="7269480" y="4343400"/>
            <a:ext cx="1828800" cy="731520"/>
          </a:xfrm>
          <a:prstGeom prst="roundRect">
            <a:avLst>
              <a:gd name="adj" fmla="val 10000"/>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Rien n'est poussé</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secret, conflit</a:t>
            </a:r>
            <a:endParaRPr lang="en-US" sz="1300" dirty="0"/>
          </a:p>
        </p:txBody>
      </p:sp>
      <p:sp>
        <p:nvSpPr>
          <p:cNvPr id="20" name="wire-8"/>
          <p:cNvSpPr/>
          <p:nvPr/>
        </p:nvSpPr>
        <p:spPr>
          <a:xfrm>
            <a:off x="1737360" y="3154680"/>
            <a:ext cx="228600" cy="0"/>
          </a:xfrm>
          <a:prstGeom prst="line">
            <a:avLst/>
          </a:prstGeom>
          <a:noFill/>
          <a:ln w="15875">
            <a:solidFill>
              <a:srgbClr val="6B7280"/>
            </a:solidFill>
            <a:prstDash val="solid"/>
          </a:ln>
        </p:spPr>
      </p:sp>
      <p:sp>
        <p:nvSpPr>
          <p:cNvPr id="21" name="wire-9"/>
          <p:cNvSpPr/>
          <p:nvPr/>
        </p:nvSpPr>
        <p:spPr>
          <a:xfrm>
            <a:off x="1965960" y="2331720"/>
            <a:ext cx="0" cy="1645920"/>
          </a:xfrm>
          <a:prstGeom prst="line">
            <a:avLst/>
          </a:prstGeom>
          <a:noFill/>
          <a:ln w="15875">
            <a:solidFill>
              <a:srgbClr val="6B7280"/>
            </a:solidFill>
            <a:prstDash val="solid"/>
          </a:ln>
        </p:spPr>
      </p:sp>
      <p:sp>
        <p:nvSpPr>
          <p:cNvPr id="22" name="wire-10"/>
          <p:cNvSpPr/>
          <p:nvPr/>
        </p:nvSpPr>
        <p:spPr>
          <a:xfrm>
            <a:off x="1965960" y="2331720"/>
            <a:ext cx="320040" cy="0"/>
          </a:xfrm>
          <a:prstGeom prst="line">
            <a:avLst/>
          </a:prstGeom>
          <a:noFill/>
          <a:ln w="15875">
            <a:solidFill>
              <a:srgbClr val="6B7280"/>
            </a:solidFill>
            <a:prstDash val="solid"/>
            <a:tailEnd type="triangle"/>
          </a:ln>
        </p:spPr>
      </p:sp>
      <p:sp>
        <p:nvSpPr>
          <p:cNvPr id="23" name="wire-11"/>
          <p:cNvSpPr/>
          <p:nvPr/>
        </p:nvSpPr>
        <p:spPr>
          <a:xfrm>
            <a:off x="1965960" y="3977640"/>
            <a:ext cx="320040" cy="0"/>
          </a:xfrm>
          <a:prstGeom prst="line">
            <a:avLst/>
          </a:prstGeom>
          <a:noFill/>
          <a:ln w="15875">
            <a:solidFill>
              <a:srgbClr val="6B7280"/>
            </a:solidFill>
            <a:prstDash val="solid"/>
            <a:tailEnd type="triangle"/>
          </a:ln>
        </p:spPr>
      </p:sp>
      <p:sp>
        <p:nvSpPr>
          <p:cNvPr id="24" name="wire-12"/>
          <p:cNvSpPr/>
          <p:nvPr/>
        </p:nvSpPr>
        <p:spPr>
          <a:xfrm>
            <a:off x="4572000" y="2331720"/>
            <a:ext cx="365760" cy="0"/>
          </a:xfrm>
          <a:prstGeom prst="line">
            <a:avLst/>
          </a:prstGeom>
          <a:noFill/>
          <a:ln w="15875">
            <a:solidFill>
              <a:srgbClr val="6B7280"/>
            </a:solidFill>
            <a:prstDash val="solid"/>
          </a:ln>
        </p:spPr>
      </p:sp>
      <p:sp>
        <p:nvSpPr>
          <p:cNvPr id="25" name="wire-13"/>
          <p:cNvSpPr/>
          <p:nvPr/>
        </p:nvSpPr>
        <p:spPr>
          <a:xfrm>
            <a:off x="4572000" y="3977640"/>
            <a:ext cx="365760" cy="0"/>
          </a:xfrm>
          <a:prstGeom prst="line">
            <a:avLst/>
          </a:prstGeom>
          <a:noFill/>
          <a:ln w="15875">
            <a:solidFill>
              <a:srgbClr val="6B7280"/>
            </a:solidFill>
            <a:prstDash val="solid"/>
          </a:ln>
        </p:spPr>
      </p:sp>
      <p:sp>
        <p:nvSpPr>
          <p:cNvPr id="26" name="wire-14"/>
          <p:cNvSpPr/>
          <p:nvPr/>
        </p:nvSpPr>
        <p:spPr>
          <a:xfrm>
            <a:off x="4937760" y="2331720"/>
            <a:ext cx="0" cy="1645920"/>
          </a:xfrm>
          <a:prstGeom prst="line">
            <a:avLst/>
          </a:prstGeom>
          <a:noFill/>
          <a:ln w="15875">
            <a:solidFill>
              <a:srgbClr val="6B7280"/>
            </a:solidFill>
            <a:prstDash val="solid"/>
          </a:ln>
        </p:spPr>
      </p:sp>
      <p:sp>
        <p:nvSpPr>
          <p:cNvPr id="27" name="wire-15"/>
          <p:cNvSpPr/>
          <p:nvPr/>
        </p:nvSpPr>
        <p:spPr>
          <a:xfrm>
            <a:off x="4937760" y="3154680"/>
            <a:ext cx="228600" cy="0"/>
          </a:xfrm>
          <a:prstGeom prst="line">
            <a:avLst/>
          </a:prstGeom>
          <a:noFill/>
          <a:ln w="15875">
            <a:solidFill>
              <a:srgbClr val="6B7280"/>
            </a:solidFill>
            <a:prstDash val="solid"/>
            <a:tailEnd type="triangle"/>
          </a:ln>
        </p:spPr>
      </p:sp>
      <p:sp>
        <p:nvSpPr>
          <p:cNvPr id="28" name="wire-16"/>
          <p:cNvSpPr/>
          <p:nvPr/>
        </p:nvSpPr>
        <p:spPr>
          <a:xfrm>
            <a:off x="6903720" y="3154680"/>
            <a:ext cx="365760" cy="0"/>
          </a:xfrm>
          <a:prstGeom prst="line">
            <a:avLst/>
          </a:prstGeom>
          <a:noFill/>
          <a:ln w="15875">
            <a:solidFill>
              <a:srgbClr val="6B7280"/>
            </a:solidFill>
            <a:prstDash val="solid"/>
            <a:tailEnd type="triangle"/>
          </a:ln>
        </p:spPr>
      </p:sp>
      <p:sp>
        <p:nvSpPr>
          <p:cNvPr id="29" name="wire-17"/>
          <p:cNvSpPr/>
          <p:nvPr/>
        </p:nvSpPr>
        <p:spPr>
          <a:xfrm>
            <a:off x="9098280" y="3154680"/>
            <a:ext cx="411480" cy="0"/>
          </a:xfrm>
          <a:prstGeom prst="line">
            <a:avLst/>
          </a:prstGeom>
          <a:noFill/>
          <a:ln w="15875">
            <a:solidFill>
              <a:srgbClr val="6B7280"/>
            </a:solidFill>
            <a:prstDash val="solid"/>
            <a:tailEnd type="triangle"/>
          </a:ln>
        </p:spPr>
      </p:sp>
      <p:sp>
        <p:nvSpPr>
          <p:cNvPr id="30" name="wire-18"/>
          <p:cNvSpPr/>
          <p:nvPr/>
        </p:nvSpPr>
        <p:spPr>
          <a:xfrm>
            <a:off x="8183880" y="3566160"/>
            <a:ext cx="0" cy="777240"/>
          </a:xfrm>
          <a:prstGeom prst="line">
            <a:avLst/>
          </a:prstGeom>
          <a:noFill/>
          <a:ln w="15875">
            <a:solidFill>
              <a:srgbClr val="6B7280"/>
            </a:solidFill>
            <a:prstDash val="solid"/>
            <a:tailEnd type="triangle"/>
          </a:ln>
        </p:spPr>
      </p:sp>
      <p:sp>
        <p:nvSpPr>
          <p:cNvPr id="31" name="wire-19"/>
          <p:cNvSpPr/>
          <p:nvPr/>
        </p:nvSpPr>
        <p:spPr>
          <a:xfrm>
            <a:off x="10607040" y="3566160"/>
            <a:ext cx="0" cy="777240"/>
          </a:xfrm>
          <a:prstGeom prst="line">
            <a:avLst/>
          </a:prstGeom>
          <a:noFill/>
          <a:ln w="15875">
            <a:solidFill>
              <a:srgbClr val="6B7280"/>
            </a:solidFill>
            <a:prstDash val="solid"/>
            <a:tailEnd type="triangle"/>
          </a:ln>
        </p:spPr>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Filet de test et preuve</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Avant le correctif : un filet sous le code et une preuve rouge. Après : les mêmes tests, verts, rien de perdu.</a:t>
            </a:r>
            <a:endParaRPr lang="en-US" sz="1500" dirty="0"/>
          </a:p>
        </p:txBody>
      </p:sp>
      <p:sp>
        <p:nvSpPr>
          <p:cNvPr id="5" name="group-1"/>
          <p:cNvSpPr/>
          <p:nvPr/>
        </p:nvSpPr>
        <p:spPr>
          <a:xfrm>
            <a:off x="457200" y="1508760"/>
            <a:ext cx="5349240" cy="4526280"/>
          </a:xfrm>
          <a:prstGeom prst="roundRect">
            <a:avLst>
              <a:gd name="adj" fmla="val 2020"/>
            </a:avLst>
          </a:prstGeom>
          <a:solidFill>
            <a:srgbClr val="FFFFFF">
              <a:alpha val="0"/>
            </a:srgbClr>
          </a:solidFill>
          <a:ln w="12700">
            <a:solidFill>
              <a:srgbClr val="A3AAB3"/>
            </a:solidFill>
            <a:prstDash val="dash"/>
          </a:ln>
        </p:spPr>
      </p:sp>
      <p:sp>
        <p:nvSpPr>
          <p:cNvPr id="6" name="group-label-2"/>
          <p:cNvSpPr txBox="1"/>
          <p:nvPr/>
        </p:nvSpPr>
        <p:spPr>
          <a:xfrm>
            <a:off x="566928" y="1545336"/>
            <a:ext cx="5129784" cy="237744"/>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avant le correctif · test-guardian</a:t>
            </a:r>
            <a:endParaRPr lang="en-US" sz="1050" dirty="0"/>
          </a:p>
        </p:txBody>
      </p:sp>
      <p:sp>
        <p:nvSpPr>
          <p:cNvPr id="7" name="group-3"/>
          <p:cNvSpPr/>
          <p:nvPr/>
        </p:nvSpPr>
        <p:spPr>
          <a:xfrm>
            <a:off x="6172200" y="1508760"/>
            <a:ext cx="5559552" cy="4526280"/>
          </a:xfrm>
          <a:prstGeom prst="roundRect">
            <a:avLst>
              <a:gd name="adj" fmla="val 2020"/>
            </a:avLst>
          </a:prstGeom>
          <a:solidFill>
            <a:srgbClr val="FFFFFF">
              <a:alpha val="0"/>
            </a:srgbClr>
          </a:solidFill>
          <a:ln w="12700">
            <a:solidFill>
              <a:srgbClr val="A3AAB3"/>
            </a:solidFill>
            <a:prstDash val="dash"/>
          </a:ln>
        </p:spPr>
      </p:sp>
      <p:sp>
        <p:nvSpPr>
          <p:cNvPr id="8" name="group-label-4"/>
          <p:cNvSpPr txBox="1"/>
          <p:nvPr/>
        </p:nvSpPr>
        <p:spPr>
          <a:xfrm>
            <a:off x="6281928" y="1545336"/>
            <a:ext cx="5340096" cy="237744"/>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après le correctif</a:t>
            </a:r>
            <a:endParaRPr lang="en-US" sz="1050" dirty="0"/>
          </a:p>
        </p:txBody>
      </p:sp>
      <p:sp>
        <p:nvSpPr>
          <p:cNvPr id="9" name="a"/>
          <p:cNvSpPr/>
          <p:nvPr/>
        </p:nvSpPr>
        <p:spPr>
          <a:xfrm>
            <a:off x="731520" y="1828800"/>
            <a:ext cx="2286000" cy="777240"/>
          </a:xfrm>
          <a:prstGeom prst="roundRect">
            <a:avLst>
              <a:gd name="adj" fmla="val 9412"/>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Filet mesuré</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méthodes touchées</a:t>
            </a:r>
            <a:endParaRPr lang="en-US" sz="1300" dirty="0"/>
          </a:p>
        </p:txBody>
      </p:sp>
      <p:sp>
        <p:nvSpPr>
          <p:cNvPr id="10" name="b"/>
          <p:cNvSpPr/>
          <p:nvPr/>
        </p:nvSpPr>
        <p:spPr>
          <a:xfrm>
            <a:off x="1143000" y="2788920"/>
            <a:ext cx="1463040" cy="914400"/>
          </a:xfrm>
          <a:prstGeom prst="diamond">
            <a:avLst/>
          </a:prstGeom>
          <a:solidFill>
            <a:srgbClr val="FFFFFF"/>
          </a:solidFill>
          <a:ln w="15875">
            <a:solidFill>
              <a:srgbClr val="7A828C"/>
            </a:solid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 80 % ?</a:t>
            </a:r>
            <a:endParaRPr lang="en-US" sz="1200" dirty="0"/>
          </a:p>
        </p:txBody>
      </p:sp>
      <p:sp>
        <p:nvSpPr>
          <p:cNvPr id="11" name="c"/>
          <p:cNvSpPr/>
          <p:nvPr/>
        </p:nvSpPr>
        <p:spPr>
          <a:xfrm>
            <a:off x="3337560" y="2834640"/>
            <a:ext cx="219456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Tests actuels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verts deux fois</a:t>
            </a:r>
            <a:endParaRPr lang="en-US" sz="1300" dirty="0"/>
          </a:p>
        </p:txBody>
      </p:sp>
      <p:sp>
        <p:nvSpPr>
          <p:cNvPr id="12" name="d"/>
          <p:cNvSpPr/>
          <p:nvPr/>
        </p:nvSpPr>
        <p:spPr>
          <a:xfrm>
            <a:off x="731520" y="4023360"/>
            <a:ext cx="228600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Tests du problème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rouges deux fois ?</a:t>
            </a:r>
            <a:endParaRPr lang="en-US" sz="1300" dirty="0"/>
          </a:p>
        </p:txBody>
      </p:sp>
      <p:sp>
        <p:nvSpPr>
          <p:cNvPr id="13" name="e"/>
          <p:cNvSpPr/>
          <p:nvPr/>
        </p:nvSpPr>
        <p:spPr>
          <a:xfrm>
            <a:off x="3337560" y="4023360"/>
            <a:ext cx="2194560" cy="822960"/>
          </a:xfrm>
          <a:prstGeom prst="roundRect">
            <a:avLst>
              <a:gd name="adj" fmla="val 8889"/>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Scellés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preuve + filet</a:t>
            </a:r>
            <a:endParaRPr lang="en-US" sz="1300" dirty="0"/>
          </a:p>
        </p:txBody>
      </p:sp>
      <p:sp>
        <p:nvSpPr>
          <p:cNvPr id="14" name="r1"/>
          <p:cNvSpPr/>
          <p:nvPr/>
        </p:nvSpPr>
        <p:spPr>
          <a:xfrm>
            <a:off x="548640" y="5257800"/>
            <a:ext cx="2194560" cy="640080"/>
          </a:xfrm>
          <a:prstGeom prst="roundRect">
            <a:avLst>
              <a:gd name="adj" fmla="val 11429"/>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Le code résiste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gardés en preuve</a:t>
            </a:r>
            <a:endParaRPr lang="en-US" sz="1300" dirty="0"/>
          </a:p>
        </p:txBody>
      </p:sp>
      <p:sp>
        <p:nvSpPr>
          <p:cNvPr id="15" name="r2"/>
          <p:cNvSpPr/>
          <p:nvPr/>
        </p:nvSpPr>
        <p:spPr>
          <a:xfrm>
            <a:off x="2971800" y="5257800"/>
            <a:ext cx="2194560" cy="640080"/>
          </a:xfrm>
          <a:prstGeom prst="roundRect">
            <a:avLst>
              <a:gd name="adj" fmla="val 11429"/>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FLAKY, refusé</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résultat qui change</a:t>
            </a:r>
            <a:endParaRPr lang="en-US" sz="1300" dirty="0"/>
          </a:p>
        </p:txBody>
      </p:sp>
      <p:sp>
        <p:nvSpPr>
          <p:cNvPr id="16" name="wire-5"/>
          <p:cNvSpPr/>
          <p:nvPr/>
        </p:nvSpPr>
        <p:spPr>
          <a:xfrm>
            <a:off x="1874520" y="2606040"/>
            <a:ext cx="0" cy="182880"/>
          </a:xfrm>
          <a:prstGeom prst="line">
            <a:avLst/>
          </a:prstGeom>
          <a:noFill/>
          <a:ln w="15875">
            <a:solidFill>
              <a:srgbClr val="6B7280"/>
            </a:solidFill>
            <a:prstDash val="solid"/>
            <a:tailEnd type="triangle"/>
          </a:ln>
        </p:spPr>
      </p:sp>
      <p:sp>
        <p:nvSpPr>
          <p:cNvPr id="17" name="wire-6"/>
          <p:cNvSpPr/>
          <p:nvPr/>
        </p:nvSpPr>
        <p:spPr>
          <a:xfrm>
            <a:off x="2606040" y="3246120"/>
            <a:ext cx="731520" cy="0"/>
          </a:xfrm>
          <a:prstGeom prst="line">
            <a:avLst/>
          </a:prstGeom>
          <a:noFill/>
          <a:ln w="15875">
            <a:solidFill>
              <a:srgbClr val="6B7280"/>
            </a:solidFill>
            <a:prstDash val="solid"/>
            <a:tailEnd type="triangle"/>
          </a:ln>
        </p:spPr>
      </p:sp>
      <p:sp>
        <p:nvSpPr>
          <p:cNvPr id="18" name="label-7"/>
          <p:cNvSpPr txBox="1"/>
          <p:nvPr/>
        </p:nvSpPr>
        <p:spPr>
          <a:xfrm>
            <a:off x="2697480" y="2999232"/>
            <a:ext cx="45720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non</a:t>
            </a:r>
            <a:endParaRPr lang="en-US" sz="1050" dirty="0"/>
          </a:p>
        </p:txBody>
      </p:sp>
      <p:sp>
        <p:nvSpPr>
          <p:cNvPr id="19" name="wire-8"/>
          <p:cNvSpPr/>
          <p:nvPr/>
        </p:nvSpPr>
        <p:spPr>
          <a:xfrm>
            <a:off x="1874520" y="3703320"/>
            <a:ext cx="0" cy="320040"/>
          </a:xfrm>
          <a:prstGeom prst="line">
            <a:avLst/>
          </a:prstGeom>
          <a:noFill/>
          <a:ln w="15875">
            <a:solidFill>
              <a:srgbClr val="6B7280"/>
            </a:solidFill>
            <a:prstDash val="solid"/>
            <a:tailEnd type="triangle"/>
          </a:ln>
        </p:spPr>
      </p:sp>
      <p:sp>
        <p:nvSpPr>
          <p:cNvPr id="20" name="label-9"/>
          <p:cNvSpPr txBox="1"/>
          <p:nvPr/>
        </p:nvSpPr>
        <p:spPr>
          <a:xfrm>
            <a:off x="1938528" y="3767328"/>
            <a:ext cx="45720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oui</a:t>
            </a:r>
            <a:endParaRPr lang="en-US" sz="1050" dirty="0"/>
          </a:p>
        </p:txBody>
      </p:sp>
      <p:sp>
        <p:nvSpPr>
          <p:cNvPr id="21" name="wire-10"/>
          <p:cNvSpPr/>
          <p:nvPr/>
        </p:nvSpPr>
        <p:spPr>
          <a:xfrm>
            <a:off x="4434840" y="3657600"/>
            <a:ext cx="0" cy="182880"/>
          </a:xfrm>
          <a:prstGeom prst="line">
            <a:avLst/>
          </a:prstGeom>
          <a:noFill/>
          <a:ln w="15875">
            <a:solidFill>
              <a:srgbClr val="6B7280"/>
            </a:solidFill>
            <a:prstDash val="solid"/>
          </a:ln>
        </p:spPr>
      </p:sp>
      <p:sp>
        <p:nvSpPr>
          <p:cNvPr id="22" name="wire-11"/>
          <p:cNvSpPr/>
          <p:nvPr/>
        </p:nvSpPr>
        <p:spPr>
          <a:xfrm flipH="1">
            <a:off x="2514600" y="3840480"/>
            <a:ext cx="1920240" cy="0"/>
          </a:xfrm>
          <a:prstGeom prst="line">
            <a:avLst/>
          </a:prstGeom>
          <a:noFill/>
          <a:ln w="15875">
            <a:solidFill>
              <a:srgbClr val="6B7280"/>
            </a:solidFill>
            <a:prstDash val="solid"/>
          </a:ln>
        </p:spPr>
      </p:sp>
      <p:sp>
        <p:nvSpPr>
          <p:cNvPr id="23" name="wire-12"/>
          <p:cNvSpPr/>
          <p:nvPr/>
        </p:nvSpPr>
        <p:spPr>
          <a:xfrm>
            <a:off x="2514600" y="3840480"/>
            <a:ext cx="0" cy="182880"/>
          </a:xfrm>
          <a:prstGeom prst="line">
            <a:avLst/>
          </a:prstGeom>
          <a:noFill/>
          <a:ln w="15875">
            <a:solidFill>
              <a:srgbClr val="6B7280"/>
            </a:solidFill>
            <a:prstDash val="solid"/>
            <a:tailEnd type="triangle"/>
          </a:ln>
        </p:spPr>
      </p:sp>
      <p:sp>
        <p:nvSpPr>
          <p:cNvPr id="24" name="wire-13"/>
          <p:cNvSpPr/>
          <p:nvPr/>
        </p:nvSpPr>
        <p:spPr>
          <a:xfrm>
            <a:off x="3017520" y="4434840"/>
            <a:ext cx="320040" cy="0"/>
          </a:xfrm>
          <a:prstGeom prst="line">
            <a:avLst/>
          </a:prstGeom>
          <a:noFill/>
          <a:ln w="15875">
            <a:solidFill>
              <a:srgbClr val="6B7280"/>
            </a:solidFill>
            <a:prstDash val="solid"/>
            <a:tailEnd type="triangle"/>
          </a:ln>
        </p:spPr>
      </p:sp>
      <p:sp>
        <p:nvSpPr>
          <p:cNvPr id="25" name="wire-14"/>
          <p:cNvSpPr/>
          <p:nvPr/>
        </p:nvSpPr>
        <p:spPr>
          <a:xfrm>
            <a:off x="1874520" y="4846320"/>
            <a:ext cx="0" cy="201168"/>
          </a:xfrm>
          <a:prstGeom prst="line">
            <a:avLst/>
          </a:prstGeom>
          <a:noFill/>
          <a:ln w="15875">
            <a:solidFill>
              <a:srgbClr val="6B7280"/>
            </a:solidFill>
            <a:prstDash val="solid"/>
          </a:ln>
        </p:spPr>
      </p:sp>
      <p:sp>
        <p:nvSpPr>
          <p:cNvPr id="26" name="wire-15"/>
          <p:cNvSpPr/>
          <p:nvPr/>
        </p:nvSpPr>
        <p:spPr>
          <a:xfrm>
            <a:off x="1645920" y="5047488"/>
            <a:ext cx="2423160" cy="0"/>
          </a:xfrm>
          <a:prstGeom prst="line">
            <a:avLst/>
          </a:prstGeom>
          <a:noFill/>
          <a:ln w="15875">
            <a:solidFill>
              <a:srgbClr val="6B7280"/>
            </a:solidFill>
            <a:prstDash val="solid"/>
          </a:ln>
        </p:spPr>
      </p:sp>
      <p:sp>
        <p:nvSpPr>
          <p:cNvPr id="27" name="wire-16"/>
          <p:cNvSpPr/>
          <p:nvPr/>
        </p:nvSpPr>
        <p:spPr>
          <a:xfrm flipH="1">
            <a:off x="1645920" y="5047488"/>
            <a:ext cx="0" cy="210312"/>
          </a:xfrm>
          <a:prstGeom prst="line">
            <a:avLst/>
          </a:prstGeom>
          <a:noFill/>
          <a:ln w="15875">
            <a:solidFill>
              <a:srgbClr val="6B7280"/>
            </a:solidFill>
            <a:prstDash val="solid"/>
            <a:tailEnd type="triangle"/>
          </a:ln>
        </p:spPr>
      </p:sp>
      <p:sp>
        <p:nvSpPr>
          <p:cNvPr id="28" name="wire-17"/>
          <p:cNvSpPr/>
          <p:nvPr/>
        </p:nvSpPr>
        <p:spPr>
          <a:xfrm>
            <a:off x="4069080" y="5047488"/>
            <a:ext cx="0" cy="210312"/>
          </a:xfrm>
          <a:prstGeom prst="line">
            <a:avLst/>
          </a:prstGeom>
          <a:noFill/>
          <a:ln w="15875">
            <a:solidFill>
              <a:srgbClr val="6B7280"/>
            </a:solidFill>
            <a:prstDash val="solid"/>
            <a:tailEnd type="triangle"/>
          </a:ln>
        </p:spPr>
      </p:sp>
      <p:sp>
        <p:nvSpPr>
          <p:cNvPr id="29" name="label-18"/>
          <p:cNvSpPr txBox="1"/>
          <p:nvPr/>
        </p:nvSpPr>
        <p:spPr>
          <a:xfrm>
            <a:off x="566928" y="4901184"/>
            <a:ext cx="100584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passent déjà</a:t>
            </a:r>
            <a:endParaRPr lang="en-US" sz="1050" dirty="0"/>
          </a:p>
        </p:txBody>
      </p:sp>
      <p:sp>
        <p:nvSpPr>
          <p:cNvPr id="30" name="label-19"/>
          <p:cNvSpPr txBox="1"/>
          <p:nvPr/>
        </p:nvSpPr>
        <p:spPr>
          <a:xfrm>
            <a:off x="4160520" y="4901184"/>
            <a:ext cx="91440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instables</a:t>
            </a:r>
            <a:endParaRPr lang="en-US" sz="1050" dirty="0"/>
          </a:p>
        </p:txBody>
      </p:sp>
      <p:sp>
        <p:nvSpPr>
          <p:cNvPr id="31" name="f"/>
          <p:cNvSpPr/>
          <p:nvPr/>
        </p:nvSpPr>
        <p:spPr>
          <a:xfrm>
            <a:off x="6446520" y="4023360"/>
            <a:ext cx="182880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coder</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corrige, tests intacts</a:t>
            </a:r>
            <a:endParaRPr lang="en-US" sz="1300" dirty="0"/>
          </a:p>
        </p:txBody>
      </p:sp>
      <p:sp>
        <p:nvSpPr>
          <p:cNvPr id="32" name="g"/>
          <p:cNvSpPr/>
          <p:nvPr/>
        </p:nvSpPr>
        <p:spPr>
          <a:xfrm>
            <a:off x="8549640" y="3977640"/>
            <a:ext cx="1371600" cy="914400"/>
          </a:xfrm>
          <a:prstGeom prst="diamond">
            <a:avLst/>
          </a:prstGeom>
          <a:solidFill>
            <a:srgbClr val="FFFFFF"/>
          </a:solidFill>
          <a:ln w="15875">
            <a:solidFill>
              <a:srgbClr val="7A828C"/>
            </a:solid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verify</a:t>
            </a:r>
            <a:endParaRPr lang="en-US" sz="1200" dirty="0"/>
          </a:p>
          <a:p>
            <a:pPr algn="ctr" indent="0" marL="0">
              <a:buNone/>
            </a:pPr>
            <a:r>
              <a:rPr lang="en-US" sz="1200" b="1" dirty="0">
                <a:solidFill>
                  <a:srgbClr val="1F2933"/>
                </a:solidFill>
                <a:latin typeface="Calibri" pitchFamily="34" charset="0"/>
                <a:ea typeface="Calibri" pitchFamily="34" charset="-122"/>
                <a:cs typeface="Calibri" pitchFamily="34" charset="-120"/>
              </a:rPr>
              <a:t>(script)</a:t>
            </a:r>
            <a:endParaRPr lang="en-US" sz="1200" dirty="0"/>
          </a:p>
        </p:txBody>
      </p:sp>
      <p:sp>
        <p:nvSpPr>
          <p:cNvPr id="33" name="h"/>
          <p:cNvSpPr/>
          <p:nvPr/>
        </p:nvSpPr>
        <p:spPr>
          <a:xfrm>
            <a:off x="10195560" y="4023360"/>
            <a:ext cx="1463040" cy="822960"/>
          </a:xfrm>
          <a:prstGeom prst="roundRect">
            <a:avLst>
              <a:gd name="adj" fmla="val 8889"/>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Commit</a:t>
            </a:r>
            <a:endParaRPr lang="en-US" sz="1300" dirty="0"/>
          </a:p>
        </p:txBody>
      </p:sp>
      <p:sp>
        <p:nvSpPr>
          <p:cNvPr id="34" name="i"/>
          <p:cNvSpPr/>
          <p:nvPr/>
        </p:nvSpPr>
        <p:spPr>
          <a:xfrm>
            <a:off x="8229600" y="2240280"/>
            <a:ext cx="201168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test-guardian</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même session</a:t>
            </a:r>
            <a:endParaRPr lang="en-US" sz="1300" dirty="0"/>
          </a:p>
        </p:txBody>
      </p:sp>
      <p:sp>
        <p:nvSpPr>
          <p:cNvPr id="35" name="wire-20"/>
          <p:cNvSpPr/>
          <p:nvPr/>
        </p:nvSpPr>
        <p:spPr>
          <a:xfrm>
            <a:off x="5532120" y="4434840"/>
            <a:ext cx="914400" cy="0"/>
          </a:xfrm>
          <a:prstGeom prst="line">
            <a:avLst/>
          </a:prstGeom>
          <a:noFill/>
          <a:ln w="15875">
            <a:solidFill>
              <a:srgbClr val="6B7280"/>
            </a:solidFill>
            <a:prstDash val="solid"/>
            <a:tailEnd type="triangle"/>
          </a:ln>
        </p:spPr>
      </p:sp>
      <p:sp>
        <p:nvSpPr>
          <p:cNvPr id="36" name="wire-21"/>
          <p:cNvSpPr/>
          <p:nvPr/>
        </p:nvSpPr>
        <p:spPr>
          <a:xfrm flipV="1">
            <a:off x="8275320" y="4434840"/>
            <a:ext cx="274320" cy="0"/>
          </a:xfrm>
          <a:prstGeom prst="line">
            <a:avLst/>
          </a:prstGeom>
          <a:noFill/>
          <a:ln w="15875">
            <a:solidFill>
              <a:srgbClr val="6B7280"/>
            </a:solidFill>
            <a:prstDash val="solid"/>
            <a:tailEnd type="triangle"/>
          </a:ln>
        </p:spPr>
      </p:sp>
      <p:sp>
        <p:nvSpPr>
          <p:cNvPr id="37" name="wire-22"/>
          <p:cNvSpPr/>
          <p:nvPr/>
        </p:nvSpPr>
        <p:spPr>
          <a:xfrm>
            <a:off x="9921240" y="4434840"/>
            <a:ext cx="274320" cy="0"/>
          </a:xfrm>
          <a:prstGeom prst="line">
            <a:avLst/>
          </a:prstGeom>
          <a:noFill/>
          <a:ln w="15875">
            <a:solidFill>
              <a:srgbClr val="6B7280"/>
            </a:solidFill>
            <a:prstDash val="solid"/>
            <a:tailEnd type="triangle"/>
          </a:ln>
        </p:spPr>
      </p:sp>
      <p:sp>
        <p:nvSpPr>
          <p:cNvPr id="38" name="label-23"/>
          <p:cNvSpPr txBox="1"/>
          <p:nvPr/>
        </p:nvSpPr>
        <p:spPr>
          <a:xfrm>
            <a:off x="9921240" y="4187952"/>
            <a:ext cx="274320" cy="237744"/>
          </a:xfrm>
          <a:prstGeom prst="rect">
            <a:avLst/>
          </a:prstGeom>
          <a:noFill/>
          <a:ln/>
        </p:spPr>
        <p:txBody>
          <a:bodyPr wrap="square" lIns="0" tIns="0" rIns="0" bIns="0" rtlCol="0" anchor="ctr"/>
          <a:lstStyle/>
          <a:p>
            <a:pPr algn="ctr" indent="0" marL="0">
              <a:buNone/>
            </a:pPr>
            <a:r>
              <a:rPr lang="en-US" sz="1050" dirty="0">
                <a:solidFill>
                  <a:srgbClr val="5B6470"/>
                </a:solidFill>
                <a:latin typeface="Calibri" pitchFamily="34" charset="0"/>
                <a:ea typeface="Calibri" pitchFamily="34" charset="-122"/>
                <a:cs typeface="Calibri" pitchFamily="34" charset="-120"/>
              </a:rPr>
              <a:t>OK</a:t>
            </a:r>
            <a:endParaRPr lang="en-US" sz="1050" dirty="0"/>
          </a:p>
        </p:txBody>
      </p:sp>
      <p:sp>
        <p:nvSpPr>
          <p:cNvPr id="39" name="wire-24"/>
          <p:cNvSpPr/>
          <p:nvPr/>
        </p:nvSpPr>
        <p:spPr>
          <a:xfrm flipV="1">
            <a:off x="9235440" y="3063240"/>
            <a:ext cx="0" cy="914400"/>
          </a:xfrm>
          <a:prstGeom prst="line">
            <a:avLst/>
          </a:prstGeom>
          <a:noFill/>
          <a:ln w="15875">
            <a:solidFill>
              <a:srgbClr val="6B7280"/>
            </a:solidFill>
            <a:prstDash val="solid"/>
            <a:tailEnd type="triangle"/>
          </a:ln>
        </p:spPr>
      </p:sp>
      <p:sp>
        <p:nvSpPr>
          <p:cNvPr id="40" name="label-25"/>
          <p:cNvSpPr txBox="1"/>
          <p:nvPr/>
        </p:nvSpPr>
        <p:spPr>
          <a:xfrm>
            <a:off x="9326880" y="3429000"/>
            <a:ext cx="82296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pas vert</a:t>
            </a:r>
            <a:endParaRPr lang="en-US" sz="1050" dirty="0"/>
          </a:p>
        </p:txBody>
      </p:sp>
      <p:sp>
        <p:nvSpPr>
          <p:cNvPr id="41" name="wire-26"/>
          <p:cNvSpPr/>
          <p:nvPr/>
        </p:nvSpPr>
        <p:spPr>
          <a:xfrm flipV="1">
            <a:off x="10241280" y="2651760"/>
            <a:ext cx="685800" cy="0"/>
          </a:xfrm>
          <a:prstGeom prst="line">
            <a:avLst/>
          </a:prstGeom>
          <a:noFill/>
          <a:ln w="15875">
            <a:solidFill>
              <a:srgbClr val="6B7280"/>
            </a:solidFill>
            <a:prstDash val="solid"/>
          </a:ln>
        </p:spPr>
      </p:sp>
      <p:sp>
        <p:nvSpPr>
          <p:cNvPr id="42" name="wire-27"/>
          <p:cNvSpPr/>
          <p:nvPr/>
        </p:nvSpPr>
        <p:spPr>
          <a:xfrm>
            <a:off x="10927080" y="2651760"/>
            <a:ext cx="0" cy="1371600"/>
          </a:xfrm>
          <a:prstGeom prst="line">
            <a:avLst/>
          </a:prstGeom>
          <a:noFill/>
          <a:ln w="15875">
            <a:solidFill>
              <a:srgbClr val="6B7280"/>
            </a:solidFill>
            <a:prstDash val="solid"/>
            <a:tailEnd type="triangle"/>
          </a:ln>
        </p:spPr>
      </p:sp>
      <p:sp>
        <p:nvSpPr>
          <p:cNvPr id="43" name="label-28"/>
          <p:cNvSpPr txBox="1"/>
          <p:nvPr/>
        </p:nvSpPr>
        <p:spPr>
          <a:xfrm>
            <a:off x="11000232" y="3291840"/>
            <a:ext cx="45720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vert</a:t>
            </a:r>
            <a:endParaRPr lang="en-US" sz="1050" dirty="0"/>
          </a:p>
        </p:txBody>
      </p:sp>
      <p:sp>
        <p:nvSpPr>
          <p:cNvPr id="44" name="wire-29"/>
          <p:cNvSpPr/>
          <p:nvPr/>
        </p:nvSpPr>
        <p:spPr>
          <a:xfrm flipH="1" flipV="1">
            <a:off x="7360920" y="2651760"/>
            <a:ext cx="868680" cy="0"/>
          </a:xfrm>
          <a:prstGeom prst="line">
            <a:avLst/>
          </a:prstGeom>
          <a:noFill/>
          <a:ln w="15875">
            <a:solidFill>
              <a:srgbClr val="6B7280"/>
            </a:solidFill>
            <a:prstDash val="dash"/>
          </a:ln>
        </p:spPr>
      </p:sp>
      <p:sp>
        <p:nvSpPr>
          <p:cNvPr id="45" name="wire-30"/>
          <p:cNvSpPr/>
          <p:nvPr/>
        </p:nvSpPr>
        <p:spPr>
          <a:xfrm>
            <a:off x="7360920" y="2651760"/>
            <a:ext cx="0" cy="1371600"/>
          </a:xfrm>
          <a:prstGeom prst="line">
            <a:avLst/>
          </a:prstGeom>
          <a:noFill/>
          <a:ln w="15875">
            <a:solidFill>
              <a:srgbClr val="6B7280"/>
            </a:solidFill>
            <a:prstDash val="dash"/>
            <a:tailEnd type="triangle"/>
          </a:ln>
        </p:spPr>
      </p:sp>
      <p:sp>
        <p:nvSpPr>
          <p:cNvPr id="46" name="label-31"/>
          <p:cNvSpPr txBox="1"/>
          <p:nvPr/>
        </p:nvSpPr>
        <p:spPr>
          <a:xfrm>
            <a:off x="6446520" y="2395728"/>
            <a:ext cx="86868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régression</a:t>
            </a:r>
            <a:endParaRPr lang="en-US" sz="105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/fix · après la CI ou la review</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Il attend la fin de la CI, trie les retours, corrige avec la même rigueur que /go.</a:t>
            </a:r>
            <a:endParaRPr lang="en-US" sz="1500" dirty="0"/>
          </a:p>
        </p:txBody>
      </p:sp>
      <p:sp>
        <p:nvSpPr>
          <p:cNvPr id="5" name="a"/>
          <p:cNvSpPr/>
          <p:nvPr/>
        </p:nvSpPr>
        <p:spPr>
          <a:xfrm>
            <a:off x="457200" y="1874520"/>
            <a:ext cx="1097280" cy="822960"/>
          </a:xfrm>
          <a:prstGeom prst="roundRect">
            <a:avLst>
              <a:gd name="adj" fmla="val 8889"/>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/fix</a:t>
            </a:r>
            <a:endParaRPr lang="en-US" sz="1300" dirty="0"/>
          </a:p>
        </p:txBody>
      </p:sp>
      <p:sp>
        <p:nvSpPr>
          <p:cNvPr id="6" name="b"/>
          <p:cNvSpPr/>
          <p:nvPr/>
        </p:nvSpPr>
        <p:spPr>
          <a:xfrm>
            <a:off x="1874520" y="1874520"/>
            <a:ext cx="2011680" cy="822960"/>
          </a:xfrm>
          <a:prstGeom prst="roundRect">
            <a:avLst>
              <a:gd name="adj" fmla="val 8889"/>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Lit les retours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MR, CI, Sonar, Fortify</a:t>
            </a:r>
            <a:endParaRPr lang="en-US" sz="1300" dirty="0"/>
          </a:p>
        </p:txBody>
      </p:sp>
      <p:sp>
        <p:nvSpPr>
          <p:cNvPr id="7" name="tag-1"/>
          <p:cNvSpPr/>
          <p:nvPr/>
        </p:nvSpPr>
        <p:spPr>
          <a:xfrm>
            <a:off x="2624328" y="1719072"/>
            <a:ext cx="137160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MCP : 1 rappel</a:t>
            </a:r>
            <a:endParaRPr lang="en-US" sz="1050" dirty="0"/>
          </a:p>
        </p:txBody>
      </p:sp>
      <p:sp>
        <p:nvSpPr>
          <p:cNvPr id="8" name="ci"/>
          <p:cNvSpPr/>
          <p:nvPr/>
        </p:nvSpPr>
        <p:spPr>
          <a:xfrm>
            <a:off x="4251960" y="1737360"/>
            <a:ext cx="1463040" cy="1097280"/>
          </a:xfrm>
          <a:prstGeom prst="diamond">
            <a:avLst/>
          </a:prstGeom>
          <a:solidFill>
            <a:srgbClr val="FFFFFF"/>
          </a:solidFill>
          <a:ln w="15875">
            <a:solidFill>
              <a:srgbClr val="7A828C"/>
            </a:solid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La CI tourne ?</a:t>
            </a:r>
            <a:endParaRPr lang="en-US" sz="1200" dirty="0"/>
          </a:p>
        </p:txBody>
      </p:sp>
      <p:sp>
        <p:nvSpPr>
          <p:cNvPr id="9" name="p"/>
          <p:cNvSpPr/>
          <p:nvPr/>
        </p:nvSpPr>
        <p:spPr>
          <a:xfrm>
            <a:off x="4297680" y="3246120"/>
            <a:ext cx="1371600" cy="685800"/>
          </a:xfrm>
          <a:prstGeom prst="roundRect">
            <a:avLst>
              <a:gd name="adj" fmla="val 10667"/>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Pause 4 min</a:t>
            </a:r>
            <a:endParaRPr lang="en-US" sz="1300" dirty="0"/>
          </a:p>
        </p:txBody>
      </p:sp>
      <p:sp>
        <p:nvSpPr>
          <p:cNvPr id="10" name="tag-2"/>
          <p:cNvSpPr/>
          <p:nvPr/>
        </p:nvSpPr>
        <p:spPr>
          <a:xfrm>
            <a:off x="4114800" y="4023360"/>
            <a:ext cx="1737360" cy="274320"/>
          </a:xfrm>
          <a:prstGeom prst="roundRect">
            <a:avLst>
              <a:gd name="adj" fmla="val 50000"/>
            </a:avLst>
          </a:prstGeom>
          <a:solidFill>
            <a:srgbClr val="EEF1F6"/>
          </a:solidFill>
          <a:ln w="12700">
            <a:solidFill>
              <a:srgbClr val="4A5B78"/>
            </a:solidFill>
            <a:prstDash val="dash"/>
          </a:ln>
        </p:spPr>
        <p:txBody>
          <a:bodyPr wrap="square" lIns="0" tIns="0" rIns="0" bIns="0" rtlCol="0" anchor="ctr"/>
          <a:lstStyle/>
          <a:p>
            <a:pPr algn="ctr" indent="0" marL="0">
              <a:buNone/>
            </a:pPr>
            <a:r>
              <a:rPr lang="en-US" sz="1050" b="1" dirty="0">
                <a:solidFill>
                  <a:srgbClr val="2F3B52"/>
                </a:solidFill>
                <a:latin typeface="Calibri" pitchFamily="34" charset="0"/>
                <a:ea typeface="Calibri" pitchFamily="34" charset="-122"/>
                <a:cs typeface="Calibri" pitchFamily="34" charset="-120"/>
              </a:rPr>
              <a:t>≤ 8 fois · 32 min</a:t>
            </a:r>
            <a:endParaRPr lang="en-US" sz="1050" dirty="0"/>
          </a:p>
        </p:txBody>
      </p:sp>
      <p:sp>
        <p:nvSpPr>
          <p:cNvPr id="11" name="t"/>
          <p:cNvSpPr/>
          <p:nvPr/>
        </p:nvSpPr>
        <p:spPr>
          <a:xfrm>
            <a:off x="6172200" y="1874520"/>
            <a:ext cx="1554480" cy="822960"/>
          </a:xfrm>
          <a:prstGeom prst="roundRect">
            <a:avLst>
              <a:gd name="adj" fmla="val 8889"/>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Tri</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corriger, répondre</a:t>
            </a:r>
            <a:endParaRPr lang="en-US" sz="1300" dirty="0"/>
          </a:p>
        </p:txBody>
      </p:sp>
      <p:sp>
        <p:nvSpPr>
          <p:cNvPr id="12" name="e"/>
          <p:cNvSpPr/>
          <p:nvPr/>
        </p:nvSpPr>
        <p:spPr>
          <a:xfrm>
            <a:off x="8229600" y="1417320"/>
            <a:ext cx="2103120" cy="731520"/>
          </a:xfrm>
          <a:prstGeom prst="roundRect">
            <a:avLst>
              <a:gd name="adj" fmla="val 10000"/>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Failles et bugs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filet + preuve, 3 max</a:t>
            </a:r>
            <a:endParaRPr lang="en-US" sz="1300" dirty="0"/>
          </a:p>
        </p:txBody>
      </p:sp>
      <p:sp>
        <p:nvSpPr>
          <p:cNvPr id="13" name="f"/>
          <p:cNvSpPr/>
          <p:nvPr/>
        </p:nvSpPr>
        <p:spPr>
          <a:xfrm>
            <a:off x="8229600" y="2331720"/>
            <a:ext cx="2103120" cy="731520"/>
          </a:xfrm>
          <a:prstGeom prst="roundRect">
            <a:avLst>
              <a:gd name="adj" fmla="val 10000"/>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Autres points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coder, par fichiers</a:t>
            </a:r>
            <a:endParaRPr lang="en-US" sz="1300" dirty="0"/>
          </a:p>
        </p:txBody>
      </p:sp>
      <p:sp>
        <p:nvSpPr>
          <p:cNvPr id="14" name="g"/>
          <p:cNvSpPr/>
          <p:nvPr/>
        </p:nvSpPr>
        <p:spPr>
          <a:xfrm>
            <a:off x="8229600" y="3246120"/>
            <a:ext cx="2103120" cy="731520"/>
          </a:xfrm>
          <a:prstGeom prst="roundRect">
            <a:avLst>
              <a:gd name="adj" fmla="val 10000"/>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Job hors du code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à relancer dans GitLab</a:t>
            </a:r>
            <a:endParaRPr lang="en-US" sz="1300" dirty="0"/>
          </a:p>
        </p:txBody>
      </p:sp>
      <p:sp>
        <p:nvSpPr>
          <p:cNvPr id="15" name="h"/>
          <p:cNvSpPr/>
          <p:nvPr/>
        </p:nvSpPr>
        <p:spPr>
          <a:xfrm>
            <a:off x="8229600" y="4572000"/>
            <a:ext cx="2103120" cy="777240"/>
          </a:xfrm>
          <a:prstGeom prst="roundRect">
            <a:avLst>
              <a:gd name="adj" fmla="val 9412"/>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Suite + checker</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couverture, auto-review</a:t>
            </a:r>
            <a:endParaRPr lang="en-US" sz="1300" dirty="0"/>
          </a:p>
        </p:txBody>
      </p:sp>
      <p:sp>
        <p:nvSpPr>
          <p:cNvPr id="16" name="i"/>
          <p:cNvSpPr/>
          <p:nvPr/>
        </p:nvSpPr>
        <p:spPr>
          <a:xfrm>
            <a:off x="5852160" y="4572000"/>
            <a:ext cx="2011680" cy="777240"/>
          </a:xfrm>
          <a:prstGeom prst="roundRect">
            <a:avLst>
              <a:gd name="adj" fmla="val 9412"/>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ship.sh</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base, contrôle, push</a:t>
            </a:r>
            <a:endParaRPr lang="en-US" sz="1300" dirty="0"/>
          </a:p>
        </p:txBody>
      </p:sp>
      <p:sp>
        <p:nvSpPr>
          <p:cNvPr id="17" name="tag-3"/>
          <p:cNvSpPr/>
          <p:nvPr/>
        </p:nvSpPr>
        <p:spPr>
          <a:xfrm>
            <a:off x="6556248" y="4416552"/>
            <a:ext cx="141732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réseau : 3 s, 10 s</a:t>
            </a:r>
            <a:endParaRPr lang="en-US" sz="1050" dirty="0"/>
          </a:p>
        </p:txBody>
      </p:sp>
      <p:sp>
        <p:nvSpPr>
          <p:cNvPr id="18" name="j"/>
          <p:cNvSpPr/>
          <p:nvPr/>
        </p:nvSpPr>
        <p:spPr>
          <a:xfrm>
            <a:off x="3017520" y="4572000"/>
            <a:ext cx="2377440" cy="777240"/>
          </a:xfrm>
          <a:prstGeom prst="roundRect">
            <a:avLst>
              <a:gd name="adj" fmla="val 9412"/>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MR mise à jour</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 réponses à coller</a:t>
            </a:r>
            <a:endParaRPr lang="en-US" sz="1300" dirty="0"/>
          </a:p>
        </p:txBody>
      </p:sp>
      <p:sp>
        <p:nvSpPr>
          <p:cNvPr id="19" name="k"/>
          <p:cNvSpPr/>
          <p:nvPr/>
        </p:nvSpPr>
        <p:spPr>
          <a:xfrm>
            <a:off x="457200" y="4572000"/>
            <a:ext cx="2103120" cy="777240"/>
          </a:xfrm>
          <a:prstGeom prst="roundRect">
            <a:avLst>
              <a:gd name="adj" fmla="val 9412"/>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Suite : /fix</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après la prochaine CI</a:t>
            </a:r>
            <a:endParaRPr lang="en-US" sz="1300" dirty="0"/>
          </a:p>
        </p:txBody>
      </p:sp>
      <p:sp>
        <p:nvSpPr>
          <p:cNvPr id="20" name="wire-4"/>
          <p:cNvSpPr/>
          <p:nvPr/>
        </p:nvSpPr>
        <p:spPr>
          <a:xfrm>
            <a:off x="1554480" y="2286000"/>
            <a:ext cx="320040" cy="0"/>
          </a:xfrm>
          <a:prstGeom prst="line">
            <a:avLst/>
          </a:prstGeom>
          <a:noFill/>
          <a:ln w="15875">
            <a:solidFill>
              <a:srgbClr val="6B7280"/>
            </a:solidFill>
            <a:prstDash val="solid"/>
            <a:tailEnd type="triangle"/>
          </a:ln>
        </p:spPr>
      </p:sp>
      <p:sp>
        <p:nvSpPr>
          <p:cNvPr id="21" name="wire-5"/>
          <p:cNvSpPr/>
          <p:nvPr/>
        </p:nvSpPr>
        <p:spPr>
          <a:xfrm>
            <a:off x="3886200" y="2286000"/>
            <a:ext cx="365760" cy="0"/>
          </a:xfrm>
          <a:prstGeom prst="line">
            <a:avLst/>
          </a:prstGeom>
          <a:noFill/>
          <a:ln w="15875">
            <a:solidFill>
              <a:srgbClr val="6B7280"/>
            </a:solidFill>
            <a:prstDash val="solid"/>
            <a:tailEnd type="triangle"/>
          </a:ln>
        </p:spPr>
      </p:sp>
      <p:sp>
        <p:nvSpPr>
          <p:cNvPr id="22" name="wire-6"/>
          <p:cNvSpPr/>
          <p:nvPr/>
        </p:nvSpPr>
        <p:spPr>
          <a:xfrm>
            <a:off x="4709160" y="2633472"/>
            <a:ext cx="0" cy="612648"/>
          </a:xfrm>
          <a:prstGeom prst="line">
            <a:avLst/>
          </a:prstGeom>
          <a:noFill/>
          <a:ln w="15875">
            <a:solidFill>
              <a:srgbClr val="6B7280"/>
            </a:solidFill>
            <a:prstDash val="solid"/>
            <a:tailEnd type="triangle"/>
          </a:ln>
        </p:spPr>
      </p:sp>
      <p:sp>
        <p:nvSpPr>
          <p:cNvPr id="23" name="label-7"/>
          <p:cNvSpPr txBox="1"/>
          <p:nvPr/>
        </p:nvSpPr>
        <p:spPr>
          <a:xfrm>
            <a:off x="4343400" y="2816352"/>
            <a:ext cx="347472" cy="237744"/>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oui</a:t>
            </a:r>
            <a:endParaRPr lang="en-US" sz="1050" dirty="0"/>
          </a:p>
        </p:txBody>
      </p:sp>
      <p:sp>
        <p:nvSpPr>
          <p:cNvPr id="24" name="wire-8"/>
          <p:cNvSpPr/>
          <p:nvPr/>
        </p:nvSpPr>
        <p:spPr>
          <a:xfrm flipV="1">
            <a:off x="5257800" y="2633472"/>
            <a:ext cx="0" cy="612648"/>
          </a:xfrm>
          <a:prstGeom prst="line">
            <a:avLst/>
          </a:prstGeom>
          <a:noFill/>
          <a:ln w="15875">
            <a:solidFill>
              <a:srgbClr val="6B7280"/>
            </a:solidFill>
            <a:prstDash val="solid"/>
            <a:tailEnd type="triangle"/>
          </a:ln>
        </p:spPr>
      </p:sp>
      <p:sp>
        <p:nvSpPr>
          <p:cNvPr id="25" name="wire-9"/>
          <p:cNvSpPr/>
          <p:nvPr/>
        </p:nvSpPr>
        <p:spPr>
          <a:xfrm>
            <a:off x="5715000" y="2286000"/>
            <a:ext cx="457200" cy="0"/>
          </a:xfrm>
          <a:prstGeom prst="line">
            <a:avLst/>
          </a:prstGeom>
          <a:noFill/>
          <a:ln w="15875">
            <a:solidFill>
              <a:srgbClr val="6B7280"/>
            </a:solidFill>
            <a:prstDash val="solid"/>
            <a:tailEnd type="triangle"/>
          </a:ln>
        </p:spPr>
      </p:sp>
      <p:sp>
        <p:nvSpPr>
          <p:cNvPr id="26" name="label-10"/>
          <p:cNvSpPr txBox="1"/>
          <p:nvPr/>
        </p:nvSpPr>
        <p:spPr>
          <a:xfrm>
            <a:off x="5715000" y="2029968"/>
            <a:ext cx="457200" cy="237744"/>
          </a:xfrm>
          <a:prstGeom prst="rect">
            <a:avLst/>
          </a:prstGeom>
          <a:noFill/>
          <a:ln/>
        </p:spPr>
        <p:txBody>
          <a:bodyPr wrap="square" lIns="0" tIns="0" rIns="0" bIns="0" rtlCol="0" anchor="ctr"/>
          <a:lstStyle/>
          <a:p>
            <a:pPr algn="ctr" indent="0" marL="0">
              <a:buNone/>
            </a:pPr>
            <a:r>
              <a:rPr lang="en-US" sz="1050" dirty="0">
                <a:solidFill>
                  <a:srgbClr val="5B6470"/>
                </a:solidFill>
                <a:latin typeface="Calibri" pitchFamily="34" charset="0"/>
                <a:ea typeface="Calibri" pitchFamily="34" charset="-122"/>
                <a:cs typeface="Calibri" pitchFamily="34" charset="-120"/>
              </a:rPr>
              <a:t>finie</a:t>
            </a:r>
            <a:endParaRPr lang="en-US" sz="1050" dirty="0"/>
          </a:p>
        </p:txBody>
      </p:sp>
      <p:sp>
        <p:nvSpPr>
          <p:cNvPr id="27" name="wire-11"/>
          <p:cNvSpPr/>
          <p:nvPr/>
        </p:nvSpPr>
        <p:spPr>
          <a:xfrm>
            <a:off x="7726680" y="2286000"/>
            <a:ext cx="228600" cy="0"/>
          </a:xfrm>
          <a:prstGeom prst="line">
            <a:avLst/>
          </a:prstGeom>
          <a:noFill/>
          <a:ln w="15875">
            <a:solidFill>
              <a:srgbClr val="6B7280"/>
            </a:solidFill>
            <a:prstDash val="solid"/>
          </a:ln>
        </p:spPr>
      </p:sp>
      <p:sp>
        <p:nvSpPr>
          <p:cNvPr id="28" name="wire-12"/>
          <p:cNvSpPr/>
          <p:nvPr/>
        </p:nvSpPr>
        <p:spPr>
          <a:xfrm>
            <a:off x="7955280" y="1783080"/>
            <a:ext cx="0" cy="1828800"/>
          </a:xfrm>
          <a:prstGeom prst="line">
            <a:avLst/>
          </a:prstGeom>
          <a:noFill/>
          <a:ln w="15875">
            <a:solidFill>
              <a:srgbClr val="6B7280"/>
            </a:solidFill>
            <a:prstDash val="solid"/>
          </a:ln>
        </p:spPr>
      </p:sp>
      <p:sp>
        <p:nvSpPr>
          <p:cNvPr id="29" name="wire-13"/>
          <p:cNvSpPr/>
          <p:nvPr/>
        </p:nvSpPr>
        <p:spPr>
          <a:xfrm>
            <a:off x="7955280" y="1783080"/>
            <a:ext cx="274320" cy="0"/>
          </a:xfrm>
          <a:prstGeom prst="line">
            <a:avLst/>
          </a:prstGeom>
          <a:noFill/>
          <a:ln w="15875">
            <a:solidFill>
              <a:srgbClr val="6B7280"/>
            </a:solidFill>
            <a:prstDash val="solid"/>
            <a:tailEnd type="triangle"/>
          </a:ln>
        </p:spPr>
      </p:sp>
      <p:sp>
        <p:nvSpPr>
          <p:cNvPr id="30" name="wire-14"/>
          <p:cNvSpPr/>
          <p:nvPr/>
        </p:nvSpPr>
        <p:spPr>
          <a:xfrm flipV="1">
            <a:off x="7955280" y="2697480"/>
            <a:ext cx="274320" cy="0"/>
          </a:xfrm>
          <a:prstGeom prst="line">
            <a:avLst/>
          </a:prstGeom>
          <a:noFill/>
          <a:ln w="15875">
            <a:solidFill>
              <a:srgbClr val="6B7280"/>
            </a:solidFill>
            <a:prstDash val="solid"/>
            <a:tailEnd type="triangle"/>
          </a:ln>
        </p:spPr>
      </p:sp>
      <p:sp>
        <p:nvSpPr>
          <p:cNvPr id="31" name="wire-15"/>
          <p:cNvSpPr/>
          <p:nvPr/>
        </p:nvSpPr>
        <p:spPr>
          <a:xfrm flipV="1">
            <a:off x="7955280" y="3611880"/>
            <a:ext cx="274320" cy="0"/>
          </a:xfrm>
          <a:prstGeom prst="line">
            <a:avLst/>
          </a:prstGeom>
          <a:noFill/>
          <a:ln w="15875">
            <a:solidFill>
              <a:srgbClr val="6B7280"/>
            </a:solidFill>
            <a:prstDash val="solid"/>
            <a:tailEnd type="triangle"/>
          </a:ln>
        </p:spPr>
      </p:sp>
      <p:sp>
        <p:nvSpPr>
          <p:cNvPr id="32" name="wire-16"/>
          <p:cNvSpPr/>
          <p:nvPr/>
        </p:nvSpPr>
        <p:spPr>
          <a:xfrm flipV="1">
            <a:off x="10332720" y="1783080"/>
            <a:ext cx="274320" cy="0"/>
          </a:xfrm>
          <a:prstGeom prst="line">
            <a:avLst/>
          </a:prstGeom>
          <a:noFill/>
          <a:ln w="15875">
            <a:solidFill>
              <a:srgbClr val="6B7280"/>
            </a:solidFill>
            <a:prstDash val="solid"/>
          </a:ln>
        </p:spPr>
      </p:sp>
      <p:sp>
        <p:nvSpPr>
          <p:cNvPr id="33" name="wire-17"/>
          <p:cNvSpPr/>
          <p:nvPr/>
        </p:nvSpPr>
        <p:spPr>
          <a:xfrm>
            <a:off x="10332720" y="2697480"/>
            <a:ext cx="274320" cy="0"/>
          </a:xfrm>
          <a:prstGeom prst="line">
            <a:avLst/>
          </a:prstGeom>
          <a:noFill/>
          <a:ln w="15875">
            <a:solidFill>
              <a:srgbClr val="6B7280"/>
            </a:solidFill>
            <a:prstDash val="solid"/>
          </a:ln>
        </p:spPr>
      </p:sp>
      <p:sp>
        <p:nvSpPr>
          <p:cNvPr id="34" name="wire-18"/>
          <p:cNvSpPr/>
          <p:nvPr/>
        </p:nvSpPr>
        <p:spPr>
          <a:xfrm>
            <a:off x="10607040" y="1783080"/>
            <a:ext cx="0" cy="3172968"/>
          </a:xfrm>
          <a:prstGeom prst="line">
            <a:avLst/>
          </a:prstGeom>
          <a:noFill/>
          <a:ln w="15875">
            <a:solidFill>
              <a:srgbClr val="6B7280"/>
            </a:solidFill>
            <a:prstDash val="solid"/>
          </a:ln>
        </p:spPr>
      </p:sp>
      <p:sp>
        <p:nvSpPr>
          <p:cNvPr id="35" name="wire-19"/>
          <p:cNvSpPr/>
          <p:nvPr/>
        </p:nvSpPr>
        <p:spPr>
          <a:xfrm flipH="1">
            <a:off x="10332720" y="4956048"/>
            <a:ext cx="274320" cy="4572"/>
          </a:xfrm>
          <a:prstGeom prst="line">
            <a:avLst/>
          </a:prstGeom>
          <a:noFill/>
          <a:ln w="15875">
            <a:solidFill>
              <a:srgbClr val="6B7280"/>
            </a:solidFill>
            <a:prstDash val="solid"/>
            <a:tailEnd type="triangle"/>
          </a:ln>
        </p:spPr>
      </p:sp>
      <p:sp>
        <p:nvSpPr>
          <p:cNvPr id="36" name="wire-20"/>
          <p:cNvSpPr/>
          <p:nvPr/>
        </p:nvSpPr>
        <p:spPr>
          <a:xfrm flipH="1">
            <a:off x="7863840" y="4960620"/>
            <a:ext cx="365760" cy="0"/>
          </a:xfrm>
          <a:prstGeom prst="line">
            <a:avLst/>
          </a:prstGeom>
          <a:noFill/>
          <a:ln w="15875">
            <a:solidFill>
              <a:srgbClr val="6B7280"/>
            </a:solidFill>
            <a:prstDash val="solid"/>
            <a:tailEnd type="triangle"/>
          </a:ln>
        </p:spPr>
      </p:sp>
      <p:sp>
        <p:nvSpPr>
          <p:cNvPr id="37" name="wire-21"/>
          <p:cNvSpPr/>
          <p:nvPr/>
        </p:nvSpPr>
        <p:spPr>
          <a:xfrm flipH="1">
            <a:off x="5394960" y="4960620"/>
            <a:ext cx="457200" cy="0"/>
          </a:xfrm>
          <a:prstGeom prst="line">
            <a:avLst/>
          </a:prstGeom>
          <a:noFill/>
          <a:ln w="15875">
            <a:solidFill>
              <a:srgbClr val="6B7280"/>
            </a:solidFill>
            <a:prstDash val="solid"/>
            <a:tailEnd type="triangle"/>
          </a:ln>
        </p:spPr>
      </p:sp>
      <p:sp>
        <p:nvSpPr>
          <p:cNvPr id="38" name="wire-22"/>
          <p:cNvSpPr/>
          <p:nvPr/>
        </p:nvSpPr>
        <p:spPr>
          <a:xfrm flipH="1">
            <a:off x="2560320" y="4960620"/>
            <a:ext cx="457200" cy="0"/>
          </a:xfrm>
          <a:prstGeom prst="line">
            <a:avLst/>
          </a:prstGeom>
          <a:noFill/>
          <a:ln w="15875">
            <a:solidFill>
              <a:srgbClr val="6B7280"/>
            </a:solidFill>
            <a:prstDash val="solid"/>
            <a:tailEnd type="triangle"/>
          </a:ln>
        </p:spPr>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/fortify · un lot de failles, une MR</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Les preuves s'écrivent en parallèle, les correctifs passent un par un.</a:t>
            </a:r>
            <a:endParaRPr lang="en-US" sz="1500" dirty="0"/>
          </a:p>
        </p:txBody>
      </p:sp>
      <p:sp>
        <p:nvSpPr>
          <p:cNvPr id="5" name="a"/>
          <p:cNvSpPr/>
          <p:nvPr/>
        </p:nvSpPr>
        <p:spPr>
          <a:xfrm>
            <a:off x="457200" y="1618488"/>
            <a:ext cx="1188720" cy="822960"/>
          </a:xfrm>
          <a:prstGeom prst="roundRect">
            <a:avLst>
              <a:gd name="adj" fmla="val 8889"/>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/fortify</a:t>
            </a:r>
            <a:endParaRPr lang="en-US" sz="1300" dirty="0"/>
          </a:p>
        </p:txBody>
      </p:sp>
      <p:sp>
        <p:nvSpPr>
          <p:cNvPr id="6" name="b"/>
          <p:cNvSpPr/>
          <p:nvPr/>
        </p:nvSpPr>
        <p:spPr>
          <a:xfrm>
            <a:off x="1965960" y="1618488"/>
            <a:ext cx="1737360" cy="822960"/>
          </a:xfrm>
          <a:prstGeom prst="roundRect">
            <a:avLst>
              <a:gd name="adj" fmla="val 8889"/>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Sélection</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Critical, High · 5 max</a:t>
            </a:r>
            <a:endParaRPr lang="en-US" sz="1300" dirty="0"/>
          </a:p>
        </p:txBody>
      </p:sp>
      <p:sp>
        <p:nvSpPr>
          <p:cNvPr id="7" name="group-1"/>
          <p:cNvSpPr/>
          <p:nvPr/>
        </p:nvSpPr>
        <p:spPr>
          <a:xfrm>
            <a:off x="4023360" y="1325880"/>
            <a:ext cx="2468880" cy="2880360"/>
          </a:xfrm>
          <a:prstGeom prst="roundRect">
            <a:avLst>
              <a:gd name="adj" fmla="val 3704"/>
            </a:avLst>
          </a:prstGeom>
          <a:solidFill>
            <a:srgbClr val="FFFFFF">
              <a:alpha val="0"/>
            </a:srgbClr>
          </a:solidFill>
          <a:ln w="12700">
            <a:solidFill>
              <a:srgbClr val="A3AAB3"/>
            </a:solidFill>
            <a:prstDash val="dash"/>
          </a:ln>
        </p:spPr>
      </p:sp>
      <p:sp>
        <p:nvSpPr>
          <p:cNvPr id="8" name="group-label-2"/>
          <p:cNvSpPr txBox="1"/>
          <p:nvPr/>
        </p:nvSpPr>
        <p:spPr>
          <a:xfrm>
            <a:off x="4133088" y="1362456"/>
            <a:ext cx="2249424" cy="237744"/>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en parallèle</a:t>
            </a:r>
            <a:endParaRPr lang="en-US" sz="1050" dirty="0"/>
          </a:p>
        </p:txBody>
      </p:sp>
      <p:sp>
        <p:nvSpPr>
          <p:cNvPr id="9" name="an"/>
          <p:cNvSpPr/>
          <p:nvPr/>
        </p:nvSpPr>
        <p:spPr>
          <a:xfrm>
            <a:off x="4206240" y="1618488"/>
            <a:ext cx="210312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3 analystes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une carte par faille</a:t>
            </a:r>
            <a:endParaRPr lang="en-US" sz="1300" dirty="0"/>
          </a:p>
        </p:txBody>
      </p:sp>
      <p:sp>
        <p:nvSpPr>
          <p:cNvPr id="10" name="me"/>
          <p:cNvSpPr/>
          <p:nvPr/>
        </p:nvSpPr>
        <p:spPr>
          <a:xfrm>
            <a:off x="4206240" y="3063240"/>
            <a:ext cx="2103120" cy="777240"/>
          </a:xfrm>
          <a:prstGeom prst="roundRect">
            <a:avLst>
              <a:gd name="adj" fmla="val 9412"/>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Mesure de develop</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ses rouges à part</a:t>
            </a:r>
            <a:endParaRPr lang="en-US" sz="1300" dirty="0"/>
          </a:p>
        </p:txBody>
      </p:sp>
      <p:sp>
        <p:nvSpPr>
          <p:cNvPr id="11" name="tag-3"/>
          <p:cNvSpPr/>
          <p:nvPr/>
        </p:nvSpPr>
        <p:spPr>
          <a:xfrm>
            <a:off x="5367528" y="2907792"/>
            <a:ext cx="1051560" cy="274320"/>
          </a:xfrm>
          <a:prstGeom prst="roundRect">
            <a:avLst>
              <a:gd name="adj" fmla="val 50000"/>
            </a:avLst>
          </a:prstGeom>
          <a:solidFill>
            <a:srgbClr val="EEF1F6"/>
          </a:solidFill>
          <a:ln w="12700">
            <a:solidFill>
              <a:srgbClr val="4A5B78"/>
            </a:solidFill>
            <a:prstDash val="dash"/>
          </a:ln>
        </p:spPr>
        <p:txBody>
          <a:bodyPr wrap="square" lIns="0" tIns="0" rIns="0" bIns="0" rtlCol="0" anchor="ctr"/>
          <a:lstStyle/>
          <a:p>
            <a:pPr algn="ctr" indent="0" marL="0">
              <a:buNone/>
            </a:pPr>
            <a:r>
              <a:rPr lang="en-US" sz="1050" b="1" dirty="0">
                <a:solidFill>
                  <a:srgbClr val="2F3B52"/>
                </a:solidFill>
                <a:latin typeface="Calibri" pitchFamily="34" charset="0"/>
                <a:ea typeface="Calibri" pitchFamily="34" charset="-122"/>
                <a:cs typeface="Calibri" pitchFamily="34" charset="-120"/>
              </a:rPr>
              <a:t>≤ 42 min</a:t>
            </a:r>
            <a:endParaRPr lang="en-US" sz="1050" dirty="0"/>
          </a:p>
        </p:txBody>
      </p:sp>
      <p:sp>
        <p:nvSpPr>
          <p:cNvPr id="12" name="sb"/>
          <p:cNvSpPr/>
          <p:nvPr/>
        </p:nvSpPr>
        <p:spPr>
          <a:xfrm>
            <a:off x="1965960" y="3063240"/>
            <a:ext cx="1737360" cy="777240"/>
          </a:xfrm>
          <a:prstGeom prst="roundRect">
            <a:avLst>
              <a:gd name="adj" fmla="val 9412"/>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Rien n'est fait</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develop ne compile pas</a:t>
            </a:r>
            <a:endParaRPr lang="en-US" sz="1300" dirty="0"/>
          </a:p>
        </p:txBody>
      </p:sp>
      <p:sp>
        <p:nvSpPr>
          <p:cNvPr id="13" name="d"/>
          <p:cNvSpPr/>
          <p:nvPr/>
        </p:nvSpPr>
        <p:spPr>
          <a:xfrm>
            <a:off x="6858000" y="1618488"/>
            <a:ext cx="219456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Vague de 3</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test-guardians : filet + preuve</a:t>
            </a:r>
            <a:endParaRPr lang="en-US" sz="1300" dirty="0"/>
          </a:p>
        </p:txBody>
      </p:sp>
      <p:sp>
        <p:nvSpPr>
          <p:cNvPr id="14" name="tag-4"/>
          <p:cNvSpPr/>
          <p:nvPr/>
        </p:nvSpPr>
        <p:spPr>
          <a:xfrm>
            <a:off x="7699248" y="1463040"/>
            <a:ext cx="1463040" cy="274320"/>
          </a:xfrm>
          <a:prstGeom prst="roundRect">
            <a:avLst>
              <a:gd name="adj" fmla="val 50000"/>
            </a:avLst>
          </a:prstGeom>
          <a:solidFill>
            <a:srgbClr val="EEF1F6"/>
          </a:solidFill>
          <a:ln w="12700">
            <a:solidFill>
              <a:srgbClr val="4A5B78"/>
            </a:solidFill>
            <a:prstDash val="dash"/>
          </a:ln>
        </p:spPr>
        <p:txBody>
          <a:bodyPr wrap="square" lIns="0" tIns="0" rIns="0" bIns="0" rtlCol="0" anchor="ctr"/>
          <a:lstStyle/>
          <a:p>
            <a:pPr algn="ctr" indent="0" marL="0">
              <a:buNone/>
            </a:pPr>
            <a:r>
              <a:rPr lang="en-US" sz="1050" b="1" dirty="0">
                <a:solidFill>
                  <a:srgbClr val="2F3B52"/>
                </a:solidFill>
                <a:latin typeface="Calibri" pitchFamily="34" charset="0"/>
                <a:ea typeface="Calibri" pitchFamily="34" charset="-122"/>
                <a:cs typeface="Calibri" pitchFamily="34" charset="-120"/>
              </a:rPr>
              <a:t>≤ 20 min de verrou</a:t>
            </a:r>
            <a:endParaRPr lang="en-US" sz="1050" dirty="0"/>
          </a:p>
        </p:txBody>
      </p:sp>
      <p:sp>
        <p:nvSpPr>
          <p:cNvPr id="15" name="e"/>
          <p:cNvSpPr/>
          <p:nvPr/>
        </p:nvSpPr>
        <p:spPr>
          <a:xfrm>
            <a:off x="9418320" y="1618488"/>
            <a:ext cx="228600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Une faille à la fois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coder, puis verify</a:t>
            </a:r>
            <a:endParaRPr lang="en-US" sz="1300" dirty="0"/>
          </a:p>
        </p:txBody>
      </p:sp>
      <p:sp>
        <p:nvSpPr>
          <p:cNvPr id="16" name="o1"/>
          <p:cNvSpPr/>
          <p:nvPr/>
        </p:nvSpPr>
        <p:spPr>
          <a:xfrm>
            <a:off x="6858000" y="3063240"/>
            <a:ext cx="1463040" cy="777240"/>
          </a:xfrm>
          <a:prstGeom prst="roundRect">
            <a:avLst>
              <a:gd name="adj" fmla="val 9412"/>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fix(security)</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corrigée</a:t>
            </a:r>
            <a:endParaRPr lang="en-US" sz="1300" dirty="0"/>
          </a:p>
        </p:txBody>
      </p:sp>
      <p:sp>
        <p:nvSpPr>
          <p:cNvPr id="17" name="o2"/>
          <p:cNvSpPr/>
          <p:nvPr/>
        </p:nvSpPr>
        <p:spPr>
          <a:xfrm>
            <a:off x="8503920" y="3063240"/>
            <a:ext cx="1645920" cy="777240"/>
          </a:xfrm>
          <a:prstGeom prst="roundRect">
            <a:avLst>
              <a:gd name="adj" fmla="val 9412"/>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test(security)</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non exploitable</a:t>
            </a:r>
            <a:endParaRPr lang="en-US" sz="1300" dirty="0"/>
          </a:p>
        </p:txBody>
      </p:sp>
      <p:sp>
        <p:nvSpPr>
          <p:cNvPr id="18" name="o3"/>
          <p:cNvSpPr/>
          <p:nvPr/>
        </p:nvSpPr>
        <p:spPr>
          <a:xfrm>
            <a:off x="10332720" y="3063240"/>
            <a:ext cx="1371600" cy="777240"/>
          </a:xfrm>
          <a:prstGeom prst="roundRect">
            <a:avLst>
              <a:gd name="adj" fmla="val 9412"/>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Mise de côté</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récupérable</a:t>
            </a:r>
            <a:endParaRPr lang="en-US" sz="1300" dirty="0"/>
          </a:p>
        </p:txBody>
      </p:sp>
      <p:sp>
        <p:nvSpPr>
          <p:cNvPr id="19" name="f"/>
          <p:cNvSpPr/>
          <p:nvPr/>
        </p:nvSpPr>
        <p:spPr>
          <a:xfrm>
            <a:off x="8503920" y="4572000"/>
            <a:ext cx="1828800" cy="777240"/>
          </a:xfrm>
          <a:prstGeom prst="roundRect">
            <a:avLst>
              <a:gd name="adj" fmla="val 9412"/>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Suite ∥ checker</a:t>
            </a:r>
            <a:endParaRPr lang="en-US" sz="1300" dirty="0"/>
          </a:p>
        </p:txBody>
      </p:sp>
      <p:sp>
        <p:nvSpPr>
          <p:cNvPr id="20" name="g"/>
          <p:cNvSpPr/>
          <p:nvPr/>
        </p:nvSpPr>
        <p:spPr>
          <a:xfrm>
            <a:off x="6035040" y="4572000"/>
            <a:ext cx="2011680" cy="777240"/>
          </a:xfrm>
          <a:prstGeom prst="roundRect">
            <a:avLst>
              <a:gd name="adj" fmla="val 9412"/>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MR en Draft</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colonne Filet par faille</a:t>
            </a:r>
            <a:endParaRPr lang="en-US" sz="1300" dirty="0"/>
          </a:p>
        </p:txBody>
      </p:sp>
      <p:sp>
        <p:nvSpPr>
          <p:cNvPr id="21" name="h"/>
          <p:cNvSpPr/>
          <p:nvPr/>
        </p:nvSpPr>
        <p:spPr>
          <a:xfrm>
            <a:off x="3566160" y="4572000"/>
            <a:ext cx="2011680" cy="777240"/>
          </a:xfrm>
          <a:prstGeom prst="roundRect">
            <a:avLst>
              <a:gd name="adj" fmla="val 9412"/>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Suite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/fix ou /fortify</a:t>
            </a:r>
            <a:endParaRPr lang="en-US" sz="1300" dirty="0"/>
          </a:p>
        </p:txBody>
      </p:sp>
      <p:sp>
        <p:nvSpPr>
          <p:cNvPr id="22" name="wire-5"/>
          <p:cNvSpPr/>
          <p:nvPr/>
        </p:nvSpPr>
        <p:spPr>
          <a:xfrm>
            <a:off x="1645920" y="2029968"/>
            <a:ext cx="320040" cy="0"/>
          </a:xfrm>
          <a:prstGeom prst="line">
            <a:avLst/>
          </a:prstGeom>
          <a:noFill/>
          <a:ln w="15875">
            <a:solidFill>
              <a:srgbClr val="6B7280"/>
            </a:solidFill>
            <a:prstDash val="solid"/>
            <a:tailEnd type="triangle"/>
          </a:ln>
        </p:spPr>
      </p:sp>
      <p:sp>
        <p:nvSpPr>
          <p:cNvPr id="23" name="wire-6"/>
          <p:cNvSpPr/>
          <p:nvPr/>
        </p:nvSpPr>
        <p:spPr>
          <a:xfrm>
            <a:off x="3703320" y="2029968"/>
            <a:ext cx="182880" cy="0"/>
          </a:xfrm>
          <a:prstGeom prst="line">
            <a:avLst/>
          </a:prstGeom>
          <a:noFill/>
          <a:ln w="15875">
            <a:solidFill>
              <a:srgbClr val="6B7280"/>
            </a:solidFill>
            <a:prstDash val="solid"/>
          </a:ln>
        </p:spPr>
      </p:sp>
      <p:sp>
        <p:nvSpPr>
          <p:cNvPr id="24" name="wire-7"/>
          <p:cNvSpPr/>
          <p:nvPr/>
        </p:nvSpPr>
        <p:spPr>
          <a:xfrm>
            <a:off x="3886200" y="2029968"/>
            <a:ext cx="0" cy="1417320"/>
          </a:xfrm>
          <a:prstGeom prst="line">
            <a:avLst/>
          </a:prstGeom>
          <a:noFill/>
          <a:ln w="15875">
            <a:solidFill>
              <a:srgbClr val="6B7280"/>
            </a:solidFill>
            <a:prstDash val="solid"/>
          </a:ln>
        </p:spPr>
      </p:sp>
      <p:sp>
        <p:nvSpPr>
          <p:cNvPr id="25" name="wire-8"/>
          <p:cNvSpPr/>
          <p:nvPr/>
        </p:nvSpPr>
        <p:spPr>
          <a:xfrm>
            <a:off x="3886200" y="2029968"/>
            <a:ext cx="320040" cy="0"/>
          </a:xfrm>
          <a:prstGeom prst="line">
            <a:avLst/>
          </a:prstGeom>
          <a:noFill/>
          <a:ln w="15875">
            <a:solidFill>
              <a:srgbClr val="6B7280"/>
            </a:solidFill>
            <a:prstDash val="solid"/>
            <a:tailEnd type="triangle"/>
          </a:ln>
        </p:spPr>
      </p:sp>
      <p:sp>
        <p:nvSpPr>
          <p:cNvPr id="26" name="wire-9"/>
          <p:cNvSpPr/>
          <p:nvPr/>
        </p:nvSpPr>
        <p:spPr>
          <a:xfrm>
            <a:off x="3886200" y="3447288"/>
            <a:ext cx="320040" cy="4572"/>
          </a:xfrm>
          <a:prstGeom prst="line">
            <a:avLst/>
          </a:prstGeom>
          <a:noFill/>
          <a:ln w="15875">
            <a:solidFill>
              <a:srgbClr val="6B7280"/>
            </a:solidFill>
            <a:prstDash val="solid"/>
            <a:tailEnd type="triangle"/>
          </a:ln>
        </p:spPr>
      </p:sp>
      <p:sp>
        <p:nvSpPr>
          <p:cNvPr id="27" name="wire-10"/>
          <p:cNvSpPr/>
          <p:nvPr/>
        </p:nvSpPr>
        <p:spPr>
          <a:xfrm flipH="1" flipV="1">
            <a:off x="3703320" y="3630168"/>
            <a:ext cx="502920" cy="4572"/>
          </a:xfrm>
          <a:prstGeom prst="line">
            <a:avLst/>
          </a:prstGeom>
          <a:noFill/>
          <a:ln w="15875">
            <a:solidFill>
              <a:srgbClr val="6B7280"/>
            </a:solidFill>
            <a:prstDash val="solid"/>
            <a:tailEnd type="triangle"/>
          </a:ln>
        </p:spPr>
      </p:sp>
      <p:sp>
        <p:nvSpPr>
          <p:cNvPr id="28" name="label-11"/>
          <p:cNvSpPr txBox="1"/>
          <p:nvPr/>
        </p:nvSpPr>
        <p:spPr>
          <a:xfrm>
            <a:off x="1965960" y="3886200"/>
            <a:ext cx="1737360" cy="237744"/>
          </a:xfrm>
          <a:prstGeom prst="rect">
            <a:avLst/>
          </a:prstGeom>
          <a:noFill/>
          <a:ln/>
        </p:spPr>
        <p:txBody>
          <a:bodyPr wrap="square" lIns="0" tIns="0" rIns="0" bIns="0" rtlCol="0" anchor="ctr"/>
          <a:lstStyle/>
          <a:p>
            <a:pPr algn="ctr" indent="0" marL="0">
              <a:buNone/>
            </a:pPr>
            <a:r>
              <a:rPr lang="en-US" sz="1050" dirty="0">
                <a:solidFill>
                  <a:srgbClr val="5B6470"/>
                </a:solidFill>
                <a:latin typeface="Calibri" pitchFamily="34" charset="0"/>
                <a:ea typeface="Calibri" pitchFamily="34" charset="-122"/>
                <a:cs typeface="Calibri" pitchFamily="34" charset="-120"/>
              </a:rPr>
              <a:t>ne compile pas</a:t>
            </a:r>
            <a:endParaRPr lang="en-US" sz="1050" dirty="0"/>
          </a:p>
        </p:txBody>
      </p:sp>
      <p:sp>
        <p:nvSpPr>
          <p:cNvPr id="29" name="wire-12"/>
          <p:cNvSpPr/>
          <p:nvPr/>
        </p:nvSpPr>
        <p:spPr>
          <a:xfrm>
            <a:off x="6309360" y="2029968"/>
            <a:ext cx="548640" cy="0"/>
          </a:xfrm>
          <a:prstGeom prst="line">
            <a:avLst/>
          </a:prstGeom>
          <a:noFill/>
          <a:ln w="15875">
            <a:solidFill>
              <a:srgbClr val="6B7280"/>
            </a:solidFill>
            <a:prstDash val="solid"/>
            <a:tailEnd type="triangle"/>
          </a:ln>
        </p:spPr>
      </p:sp>
      <p:sp>
        <p:nvSpPr>
          <p:cNvPr id="30" name="wire-13"/>
          <p:cNvSpPr/>
          <p:nvPr/>
        </p:nvSpPr>
        <p:spPr>
          <a:xfrm>
            <a:off x="9052560" y="2029968"/>
            <a:ext cx="365760" cy="0"/>
          </a:xfrm>
          <a:prstGeom prst="line">
            <a:avLst/>
          </a:prstGeom>
          <a:noFill/>
          <a:ln w="15875">
            <a:solidFill>
              <a:srgbClr val="6B7280"/>
            </a:solidFill>
            <a:prstDash val="solid"/>
            <a:tailEnd type="triangle"/>
          </a:ln>
        </p:spPr>
      </p:sp>
      <p:sp>
        <p:nvSpPr>
          <p:cNvPr id="31" name="wire-14"/>
          <p:cNvSpPr/>
          <p:nvPr/>
        </p:nvSpPr>
        <p:spPr>
          <a:xfrm flipV="1">
            <a:off x="10561320" y="1325880"/>
            <a:ext cx="0" cy="292608"/>
          </a:xfrm>
          <a:prstGeom prst="line">
            <a:avLst/>
          </a:prstGeom>
          <a:noFill/>
          <a:ln w="15875">
            <a:solidFill>
              <a:srgbClr val="6B7280"/>
            </a:solidFill>
            <a:prstDash val="dash"/>
          </a:ln>
        </p:spPr>
      </p:sp>
      <p:sp>
        <p:nvSpPr>
          <p:cNvPr id="32" name="wire-15"/>
          <p:cNvSpPr/>
          <p:nvPr/>
        </p:nvSpPr>
        <p:spPr>
          <a:xfrm flipH="1">
            <a:off x="7269480" y="1325880"/>
            <a:ext cx="3291840" cy="0"/>
          </a:xfrm>
          <a:prstGeom prst="line">
            <a:avLst/>
          </a:prstGeom>
          <a:noFill/>
          <a:ln w="15875">
            <a:solidFill>
              <a:srgbClr val="6B7280"/>
            </a:solidFill>
            <a:prstDash val="dash"/>
          </a:ln>
        </p:spPr>
      </p:sp>
      <p:sp>
        <p:nvSpPr>
          <p:cNvPr id="33" name="wire-16"/>
          <p:cNvSpPr/>
          <p:nvPr/>
        </p:nvSpPr>
        <p:spPr>
          <a:xfrm>
            <a:off x="7269480" y="1325880"/>
            <a:ext cx="0" cy="292608"/>
          </a:xfrm>
          <a:prstGeom prst="line">
            <a:avLst/>
          </a:prstGeom>
          <a:noFill/>
          <a:ln w="15875">
            <a:solidFill>
              <a:srgbClr val="6B7280"/>
            </a:solidFill>
            <a:prstDash val="dash"/>
            <a:tailEnd type="triangle"/>
          </a:ln>
        </p:spPr>
      </p:sp>
      <p:sp>
        <p:nvSpPr>
          <p:cNvPr id="34" name="label-17"/>
          <p:cNvSpPr txBox="1"/>
          <p:nvPr/>
        </p:nvSpPr>
        <p:spPr>
          <a:xfrm>
            <a:off x="8595360" y="1088136"/>
            <a:ext cx="1645920" cy="237744"/>
          </a:xfrm>
          <a:prstGeom prst="rect">
            <a:avLst/>
          </a:prstGeom>
          <a:noFill/>
          <a:ln/>
        </p:spPr>
        <p:txBody>
          <a:bodyPr wrap="square" lIns="0" tIns="0" rIns="0" bIns="0" rtlCol="0" anchor="ctr"/>
          <a:lstStyle/>
          <a:p>
            <a:pPr algn="ctr" indent="0" marL="0">
              <a:buNone/>
            </a:pPr>
            <a:r>
              <a:rPr lang="en-US" sz="1050" dirty="0">
                <a:solidFill>
                  <a:srgbClr val="5B6470"/>
                </a:solidFill>
                <a:latin typeface="Calibri" pitchFamily="34" charset="0"/>
                <a:ea typeface="Calibri" pitchFamily="34" charset="-122"/>
                <a:cs typeface="Calibri" pitchFamily="34" charset="-120"/>
              </a:rPr>
              <a:t>vagues suivantes</a:t>
            </a:r>
            <a:endParaRPr lang="en-US" sz="1050" dirty="0"/>
          </a:p>
        </p:txBody>
      </p:sp>
      <p:sp>
        <p:nvSpPr>
          <p:cNvPr id="35" name="wire-18"/>
          <p:cNvSpPr/>
          <p:nvPr/>
        </p:nvSpPr>
        <p:spPr>
          <a:xfrm>
            <a:off x="10561320" y="2441448"/>
            <a:ext cx="0" cy="347472"/>
          </a:xfrm>
          <a:prstGeom prst="line">
            <a:avLst/>
          </a:prstGeom>
          <a:noFill/>
          <a:ln w="15875">
            <a:solidFill>
              <a:srgbClr val="6B7280"/>
            </a:solidFill>
            <a:prstDash val="solid"/>
          </a:ln>
        </p:spPr>
      </p:sp>
      <p:sp>
        <p:nvSpPr>
          <p:cNvPr id="36" name="wire-19"/>
          <p:cNvSpPr/>
          <p:nvPr/>
        </p:nvSpPr>
        <p:spPr>
          <a:xfrm>
            <a:off x="7589520" y="2788920"/>
            <a:ext cx="3429000" cy="0"/>
          </a:xfrm>
          <a:prstGeom prst="line">
            <a:avLst/>
          </a:prstGeom>
          <a:noFill/>
          <a:ln w="15875">
            <a:solidFill>
              <a:srgbClr val="6B7280"/>
            </a:solidFill>
            <a:prstDash val="solid"/>
          </a:ln>
        </p:spPr>
      </p:sp>
      <p:sp>
        <p:nvSpPr>
          <p:cNvPr id="37" name="wire-20"/>
          <p:cNvSpPr/>
          <p:nvPr/>
        </p:nvSpPr>
        <p:spPr>
          <a:xfrm>
            <a:off x="7589520" y="2788920"/>
            <a:ext cx="0" cy="274320"/>
          </a:xfrm>
          <a:prstGeom prst="line">
            <a:avLst/>
          </a:prstGeom>
          <a:noFill/>
          <a:ln w="15875">
            <a:solidFill>
              <a:srgbClr val="6B7280"/>
            </a:solidFill>
            <a:prstDash val="solid"/>
            <a:tailEnd type="triangle"/>
          </a:ln>
        </p:spPr>
      </p:sp>
      <p:sp>
        <p:nvSpPr>
          <p:cNvPr id="38" name="wire-21"/>
          <p:cNvSpPr/>
          <p:nvPr/>
        </p:nvSpPr>
        <p:spPr>
          <a:xfrm>
            <a:off x="9326880" y="2788920"/>
            <a:ext cx="0" cy="274320"/>
          </a:xfrm>
          <a:prstGeom prst="line">
            <a:avLst/>
          </a:prstGeom>
          <a:noFill/>
          <a:ln w="15875">
            <a:solidFill>
              <a:srgbClr val="6B7280"/>
            </a:solidFill>
            <a:prstDash val="solid"/>
            <a:tailEnd type="triangle"/>
          </a:ln>
        </p:spPr>
      </p:sp>
      <p:sp>
        <p:nvSpPr>
          <p:cNvPr id="39" name="wire-22"/>
          <p:cNvSpPr/>
          <p:nvPr/>
        </p:nvSpPr>
        <p:spPr>
          <a:xfrm>
            <a:off x="11018520" y="2788920"/>
            <a:ext cx="0" cy="274320"/>
          </a:xfrm>
          <a:prstGeom prst="line">
            <a:avLst/>
          </a:prstGeom>
          <a:noFill/>
          <a:ln w="15875">
            <a:solidFill>
              <a:srgbClr val="6B7280"/>
            </a:solidFill>
            <a:prstDash val="solid"/>
            <a:tailEnd type="triangle"/>
          </a:ln>
        </p:spPr>
      </p:sp>
      <p:sp>
        <p:nvSpPr>
          <p:cNvPr id="40" name="wire-23"/>
          <p:cNvSpPr/>
          <p:nvPr/>
        </p:nvSpPr>
        <p:spPr>
          <a:xfrm>
            <a:off x="7589520" y="3840480"/>
            <a:ext cx="0" cy="365760"/>
          </a:xfrm>
          <a:prstGeom prst="line">
            <a:avLst/>
          </a:prstGeom>
          <a:noFill/>
          <a:ln w="15875">
            <a:solidFill>
              <a:srgbClr val="6B7280"/>
            </a:solidFill>
            <a:prstDash val="solid"/>
          </a:ln>
        </p:spPr>
      </p:sp>
      <p:sp>
        <p:nvSpPr>
          <p:cNvPr id="41" name="wire-24"/>
          <p:cNvSpPr/>
          <p:nvPr/>
        </p:nvSpPr>
        <p:spPr>
          <a:xfrm flipH="1">
            <a:off x="9326880" y="3840480"/>
            <a:ext cx="0" cy="365760"/>
          </a:xfrm>
          <a:prstGeom prst="line">
            <a:avLst/>
          </a:prstGeom>
          <a:noFill/>
          <a:ln w="15875">
            <a:solidFill>
              <a:srgbClr val="6B7280"/>
            </a:solidFill>
            <a:prstDash val="solid"/>
          </a:ln>
        </p:spPr>
      </p:sp>
      <p:sp>
        <p:nvSpPr>
          <p:cNvPr id="42" name="wire-25"/>
          <p:cNvSpPr/>
          <p:nvPr/>
        </p:nvSpPr>
        <p:spPr>
          <a:xfrm>
            <a:off x="11018520" y="3840480"/>
            <a:ext cx="0" cy="365760"/>
          </a:xfrm>
          <a:prstGeom prst="line">
            <a:avLst/>
          </a:prstGeom>
          <a:noFill/>
          <a:ln w="15875">
            <a:solidFill>
              <a:srgbClr val="6B7280"/>
            </a:solidFill>
            <a:prstDash val="solid"/>
          </a:ln>
        </p:spPr>
      </p:sp>
      <p:sp>
        <p:nvSpPr>
          <p:cNvPr id="43" name="wire-26"/>
          <p:cNvSpPr/>
          <p:nvPr/>
        </p:nvSpPr>
        <p:spPr>
          <a:xfrm>
            <a:off x="7589520" y="4206240"/>
            <a:ext cx="3429000" cy="0"/>
          </a:xfrm>
          <a:prstGeom prst="line">
            <a:avLst/>
          </a:prstGeom>
          <a:noFill/>
          <a:ln w="15875">
            <a:solidFill>
              <a:srgbClr val="6B7280"/>
            </a:solidFill>
            <a:prstDash val="solid"/>
          </a:ln>
        </p:spPr>
      </p:sp>
      <p:sp>
        <p:nvSpPr>
          <p:cNvPr id="44" name="wire-27"/>
          <p:cNvSpPr/>
          <p:nvPr/>
        </p:nvSpPr>
        <p:spPr>
          <a:xfrm>
            <a:off x="9418320" y="4206240"/>
            <a:ext cx="0" cy="365760"/>
          </a:xfrm>
          <a:prstGeom prst="line">
            <a:avLst/>
          </a:prstGeom>
          <a:noFill/>
          <a:ln w="15875">
            <a:solidFill>
              <a:srgbClr val="6B7280"/>
            </a:solidFill>
            <a:prstDash val="solid"/>
            <a:tailEnd type="triangle"/>
          </a:ln>
        </p:spPr>
      </p:sp>
      <p:sp>
        <p:nvSpPr>
          <p:cNvPr id="45" name="wire-28"/>
          <p:cNvSpPr/>
          <p:nvPr/>
        </p:nvSpPr>
        <p:spPr>
          <a:xfrm flipH="1">
            <a:off x="8046720" y="4960620"/>
            <a:ext cx="457200" cy="0"/>
          </a:xfrm>
          <a:prstGeom prst="line">
            <a:avLst/>
          </a:prstGeom>
          <a:noFill/>
          <a:ln w="15875">
            <a:solidFill>
              <a:srgbClr val="6B7280"/>
            </a:solidFill>
            <a:prstDash val="solid"/>
            <a:tailEnd type="triangle"/>
          </a:ln>
        </p:spPr>
      </p:sp>
      <p:sp>
        <p:nvSpPr>
          <p:cNvPr id="46" name="wire-29"/>
          <p:cNvSpPr/>
          <p:nvPr/>
        </p:nvSpPr>
        <p:spPr>
          <a:xfrm flipH="1">
            <a:off x="5577840" y="4960620"/>
            <a:ext cx="457200" cy="0"/>
          </a:xfrm>
          <a:prstGeom prst="line">
            <a:avLst/>
          </a:prstGeom>
          <a:noFill/>
          <a:ln w="15875">
            <a:solidFill>
              <a:srgbClr val="6B7280"/>
            </a:solidFill>
            <a:prstDash val="solid"/>
            <a:tailEnd type="triangle"/>
          </a:ln>
        </p:spPr>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/tests · des tests sur du code existant</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Des tests du comportement actuel, prouvés deux fois, sans toucher au code de production.</a:t>
            </a:r>
            <a:endParaRPr lang="en-US" sz="1500" dirty="0"/>
          </a:p>
        </p:txBody>
      </p:sp>
      <p:sp>
        <p:nvSpPr>
          <p:cNvPr id="5" name="a"/>
          <p:cNvSpPr/>
          <p:nvPr/>
        </p:nvSpPr>
        <p:spPr>
          <a:xfrm>
            <a:off x="457200" y="1828800"/>
            <a:ext cx="1828800" cy="822960"/>
          </a:xfrm>
          <a:prstGeom prst="roundRect">
            <a:avLst>
              <a:gd name="adj" fmla="val 8889"/>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/tests InvoiceService</a:t>
            </a:r>
            <a:endParaRPr lang="en-US" sz="1300" dirty="0"/>
          </a:p>
        </p:txBody>
      </p:sp>
      <p:sp>
        <p:nvSpPr>
          <p:cNvPr id="6" name="b"/>
          <p:cNvSpPr/>
          <p:nvPr/>
        </p:nvSpPr>
        <p:spPr>
          <a:xfrm>
            <a:off x="2606040" y="1828800"/>
            <a:ext cx="1737360" cy="822960"/>
          </a:xfrm>
          <a:prstGeom prst="roundRect">
            <a:avLst>
              <a:gd name="adj" fmla="val 8889"/>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Les faits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projets de tests, bUnit</a:t>
            </a:r>
            <a:endParaRPr lang="en-US" sz="1300" dirty="0"/>
          </a:p>
        </p:txBody>
      </p:sp>
      <p:sp>
        <p:nvSpPr>
          <p:cNvPr id="7" name="q"/>
          <p:cNvSpPr/>
          <p:nvPr/>
        </p:nvSpPr>
        <p:spPr>
          <a:xfrm>
            <a:off x="4663440" y="1691640"/>
            <a:ext cx="1645920" cy="1097280"/>
          </a:xfrm>
          <a:prstGeom prst="diamond">
            <a:avLst/>
          </a:prstGeom>
          <a:solidFill>
            <a:srgbClr val="FFFFFF"/>
          </a:solidFill>
          <a:ln w="15875">
            <a:solidFill>
              <a:srgbClr val="7A828C"/>
            </a:solid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Il manque</a:t>
            </a:r>
            <a:endParaRPr lang="en-US" sz="1200" dirty="0"/>
          </a:p>
          <a:p>
            <a:pPr algn="ctr" indent="0" marL="0">
              <a:buNone/>
            </a:pPr>
            <a:r>
              <a:rPr lang="en-US" sz="1200" b="1" dirty="0">
                <a:solidFill>
                  <a:srgbClr val="1F2933"/>
                </a:solidFill>
                <a:latin typeface="Calibri" pitchFamily="34" charset="0"/>
                <a:ea typeface="Calibri" pitchFamily="34" charset="-122"/>
                <a:cs typeface="Calibri" pitchFamily="34" charset="-120"/>
              </a:rPr>
              <a:t>quelque chose ?</a:t>
            </a:r>
            <a:endParaRPr lang="en-US" sz="1200" dirty="0"/>
          </a:p>
        </p:txBody>
      </p:sp>
      <p:sp>
        <p:nvSpPr>
          <p:cNvPr id="8" name="qcm"/>
          <p:cNvSpPr/>
          <p:nvPr/>
        </p:nvSpPr>
        <p:spPr>
          <a:xfrm>
            <a:off x="4709160" y="3291840"/>
            <a:ext cx="1554480" cy="777240"/>
          </a:xfrm>
          <a:prstGeom prst="roundRect">
            <a:avLst>
              <a:gd name="adj" fmla="val 9412"/>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Un QCM</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projet, bUnit</a:t>
            </a:r>
            <a:endParaRPr lang="en-US" sz="1300" dirty="0"/>
          </a:p>
        </p:txBody>
      </p:sp>
      <p:sp>
        <p:nvSpPr>
          <p:cNvPr id="9" name="group-1"/>
          <p:cNvSpPr/>
          <p:nvPr/>
        </p:nvSpPr>
        <p:spPr>
          <a:xfrm>
            <a:off x="6675120" y="1417320"/>
            <a:ext cx="5056632" cy="2514600"/>
          </a:xfrm>
          <a:prstGeom prst="roundRect">
            <a:avLst>
              <a:gd name="adj" fmla="val 3636"/>
            </a:avLst>
          </a:prstGeom>
          <a:solidFill>
            <a:srgbClr val="FFFFFF">
              <a:alpha val="0"/>
            </a:srgbClr>
          </a:solidFill>
          <a:ln w="12700">
            <a:solidFill>
              <a:srgbClr val="A3AAB3"/>
            </a:solidFill>
            <a:prstDash val="dash"/>
          </a:ln>
        </p:spPr>
      </p:sp>
      <p:sp>
        <p:nvSpPr>
          <p:cNvPr id="10" name="group-label-2"/>
          <p:cNvSpPr txBox="1"/>
          <p:nvPr/>
        </p:nvSpPr>
        <p:spPr>
          <a:xfrm>
            <a:off x="6784848" y="1453896"/>
            <a:ext cx="4837176" cy="237744"/>
          </a:xfrm>
          <a:prstGeom prst="rect">
            <a:avLst/>
          </a:prstGeom>
          <a:noFill/>
          <a:ln/>
        </p:spPr>
        <p:txBody>
          <a:bodyPr wrap="square" lIns="0" tIns="0" rIns="0" bIns="0" rtlCol="0" anchor="ctr"/>
          <a:lstStyle/>
          <a:p>
            <a:pPr indent="0" marL="0">
              <a:buNone/>
            </a:pPr>
            <a:r>
              <a:rPr lang="en-US" sz="1050" i="1" dirty="0">
                <a:solidFill>
                  <a:srgbClr val="5B6470"/>
                </a:solidFill>
                <a:latin typeface="Calibri" pitchFamily="34" charset="0"/>
                <a:ea typeface="Calibri" pitchFamily="34" charset="-122"/>
                <a:cs typeface="Calibri" pitchFamily="34" charset="-120"/>
              </a:rPr>
              <a:t>test-guardian · mission tests</a:t>
            </a:r>
            <a:endParaRPr lang="en-US" sz="1050" dirty="0"/>
          </a:p>
        </p:txBody>
      </p:sp>
      <p:sp>
        <p:nvSpPr>
          <p:cNvPr id="11" name="t1"/>
          <p:cNvSpPr/>
          <p:nvPr/>
        </p:nvSpPr>
        <p:spPr>
          <a:xfrm>
            <a:off x="6858000" y="1828800"/>
            <a:ext cx="141732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Couverture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avant</a:t>
            </a:r>
            <a:endParaRPr lang="en-US" sz="1300" dirty="0"/>
          </a:p>
        </p:txBody>
      </p:sp>
      <p:sp>
        <p:nvSpPr>
          <p:cNvPr id="12" name="t2"/>
          <p:cNvSpPr/>
          <p:nvPr/>
        </p:nvSpPr>
        <p:spPr>
          <a:xfrm>
            <a:off x="8458200" y="1828800"/>
            <a:ext cx="155448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Tests</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du comportement</a:t>
            </a:r>
            <a:endParaRPr lang="en-US" sz="1300" dirty="0"/>
          </a:p>
        </p:txBody>
      </p:sp>
      <p:sp>
        <p:nvSpPr>
          <p:cNvPr id="13" name="t3"/>
          <p:cNvSpPr/>
          <p:nvPr/>
        </p:nvSpPr>
        <p:spPr>
          <a:xfrm>
            <a:off x="10195560" y="1828800"/>
            <a:ext cx="1371600" cy="822960"/>
          </a:xfrm>
          <a:prstGeom prst="roundRect">
            <a:avLst>
              <a:gd name="adj" fmla="val 8889"/>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Verts ×2</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test-lint</a:t>
            </a:r>
            <a:endParaRPr lang="en-US" sz="1300" dirty="0"/>
          </a:p>
        </p:txBody>
      </p:sp>
      <p:sp>
        <p:nvSpPr>
          <p:cNvPr id="14" name="t4"/>
          <p:cNvSpPr/>
          <p:nvPr/>
        </p:nvSpPr>
        <p:spPr>
          <a:xfrm>
            <a:off x="10195560" y="2926080"/>
            <a:ext cx="1371600" cy="731520"/>
          </a:xfrm>
          <a:prstGeom prst="roundRect">
            <a:avLst>
              <a:gd name="adj" fmla="val 10000"/>
            </a:avLst>
          </a:prstGeom>
          <a:solidFill>
            <a:srgbClr val="E4EEF8"/>
          </a:solidFill>
          <a:ln w="15875">
            <a:solidFill>
              <a:srgbClr val="2E6DA4"/>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Couverture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après</a:t>
            </a:r>
            <a:endParaRPr lang="en-US" sz="1300" dirty="0"/>
          </a:p>
        </p:txBody>
      </p:sp>
      <p:sp>
        <p:nvSpPr>
          <p:cNvPr id="15" name="bug"/>
          <p:cNvSpPr/>
          <p:nvPr/>
        </p:nvSpPr>
        <p:spPr>
          <a:xfrm>
            <a:off x="8458200" y="2926080"/>
            <a:ext cx="1554480" cy="731520"/>
          </a:xfrm>
          <a:prstGeom prst="roundRect">
            <a:avLst>
              <a:gd name="adj" fmla="val 10000"/>
            </a:avLst>
          </a:prstGeom>
          <a:solidFill>
            <a:srgbClr val="FBE6E3"/>
          </a:solidFill>
          <a:ln w="15875">
            <a:solidFill>
              <a:srgbClr val="B23A30"/>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Un bug révélé</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écarté, signalé</a:t>
            </a:r>
            <a:endParaRPr lang="en-US" sz="1300" dirty="0"/>
          </a:p>
        </p:txBody>
      </p:sp>
      <p:sp>
        <p:nvSpPr>
          <p:cNvPr id="16" name="d"/>
          <p:cNvSpPr/>
          <p:nvPr/>
        </p:nvSpPr>
        <p:spPr>
          <a:xfrm>
            <a:off x="8229600" y="4389120"/>
            <a:ext cx="2194560" cy="777240"/>
          </a:xfrm>
          <a:prstGeom prst="roundRect">
            <a:avLst>
              <a:gd name="adj" fmla="val 9412"/>
            </a:avLst>
          </a:prstGeom>
          <a:solidFill>
            <a:srgbClr val="E3F2E7"/>
          </a:solidFill>
          <a:ln w="15875">
            <a:solidFill>
              <a:srgbClr val="2F7D4F"/>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commit test(…)</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couverture avant, après</a:t>
            </a:r>
            <a:endParaRPr lang="en-US" sz="1300" dirty="0"/>
          </a:p>
        </p:txBody>
      </p:sp>
      <p:sp>
        <p:nvSpPr>
          <p:cNvPr id="17" name="e"/>
          <p:cNvSpPr/>
          <p:nvPr/>
        </p:nvSpPr>
        <p:spPr>
          <a:xfrm>
            <a:off x="5760720" y="4389120"/>
            <a:ext cx="2103120" cy="777240"/>
          </a:xfrm>
          <a:prstGeom prst="roundRect">
            <a:avLst>
              <a:gd name="adj" fmla="val 9412"/>
            </a:avLst>
          </a:prstGeom>
          <a:solidFill>
            <a:srgbClr val="F1E9F7"/>
          </a:solidFill>
          <a:ln w="15875">
            <a:solidFill>
              <a:srgbClr val="7B4F96"/>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 Suite : /push</a:t>
            </a:r>
            <a:endParaRPr lang="en-US" sz="1300" dirty="0"/>
          </a:p>
        </p:txBody>
      </p:sp>
      <p:sp>
        <p:nvSpPr>
          <p:cNvPr id="18" name="label-3"/>
          <p:cNvSpPr txBox="1"/>
          <p:nvPr/>
        </p:nvSpPr>
        <p:spPr>
          <a:xfrm>
            <a:off x="457200" y="4069080"/>
            <a:ext cx="274320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Les variantes</a:t>
            </a:r>
            <a:endParaRPr lang="en-US" sz="1050" dirty="0"/>
          </a:p>
        </p:txBody>
      </p:sp>
      <p:sp>
        <p:nvSpPr>
          <p:cNvPr id="19" name="v1"/>
          <p:cNvSpPr/>
          <p:nvPr/>
        </p:nvSpPr>
        <p:spPr>
          <a:xfrm>
            <a:off x="457200" y="4389120"/>
            <a:ext cx="2377440" cy="777240"/>
          </a:xfrm>
          <a:prstGeom prst="roundRect">
            <a:avLst>
              <a:gd name="adj" fmla="val 9412"/>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/tests api</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factory, puis les scénarios</a:t>
            </a:r>
            <a:endParaRPr lang="en-US" sz="1300" dirty="0"/>
          </a:p>
        </p:txBody>
      </p:sp>
      <p:sp>
        <p:nvSpPr>
          <p:cNvPr id="20" name="v2"/>
          <p:cNvSpPr/>
          <p:nvPr/>
        </p:nvSpPr>
        <p:spPr>
          <a:xfrm>
            <a:off x="3063240" y="4389120"/>
            <a:ext cx="2377440" cy="777240"/>
          </a:xfrm>
          <a:prstGeom prst="roundRect">
            <a:avLst>
              <a:gd name="adj" fmla="val 9412"/>
            </a:avLst>
          </a:prstGeom>
          <a:solidFill>
            <a:srgbClr val="F4F5F7"/>
          </a:solidFill>
          <a:ln w="15875">
            <a:solidFill>
              <a:srgbClr val="7A828C"/>
            </a:solidFill>
          </a:ln>
        </p:spPr>
        <p:txBody>
          <a:bodyPr wrap="square" lIns="38100" tIns="38100" rIns="38100" bIns="3810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/tests env recette</a:t>
            </a:r>
            <a:endParaRPr lang="en-US" sz="1300" dirty="0"/>
          </a:p>
          <a:p>
            <a:pPr algn="ctr" indent="0" marL="0">
              <a:buNone/>
            </a:pPr>
            <a:r>
              <a:rPr lang="en-US" sz="1100" dirty="0">
                <a:solidFill>
                  <a:srgbClr val="3E4C59"/>
                </a:solidFill>
                <a:latin typeface="Calibri" pitchFamily="34" charset="0"/>
                <a:ea typeface="Calibri" pitchFamily="34" charset="-122"/>
                <a:cs typeface="Calibri" pitchFamily="34" charset="-120"/>
              </a:rPr>
              <a:t>lecture seule, jamais la prod</a:t>
            </a:r>
            <a:endParaRPr lang="en-US" sz="1300" dirty="0"/>
          </a:p>
        </p:txBody>
      </p:sp>
      <p:sp>
        <p:nvSpPr>
          <p:cNvPr id="21" name="tag-4"/>
          <p:cNvSpPr/>
          <p:nvPr/>
        </p:nvSpPr>
        <p:spPr>
          <a:xfrm>
            <a:off x="4315968" y="4233672"/>
            <a:ext cx="1234440" cy="274320"/>
          </a:xfrm>
          <a:prstGeom prst="roundRect">
            <a:avLst>
              <a:gd name="adj" fmla="val 50000"/>
            </a:avLst>
          </a:prstGeom>
          <a:solidFill>
            <a:srgbClr val="FDF0D5"/>
          </a:solidFill>
          <a:ln w="12700">
            <a:solidFill>
              <a:srgbClr val="B7791F"/>
            </a:solidFill>
            <a:prstDash val="solid"/>
          </a:ln>
        </p:spPr>
        <p:txBody>
          <a:bodyPr wrap="square" lIns="0" tIns="0" rIns="0" bIns="0" rtlCol="0" anchor="ctr"/>
          <a:lstStyle/>
          <a:p>
            <a:pPr algn="ctr" indent="0" marL="0">
              <a:buNone/>
            </a:pPr>
            <a:r>
              <a:rPr lang="en-US" sz="1050" b="1" dirty="0">
                <a:solidFill>
                  <a:srgbClr val="6B4A0E"/>
                </a:solidFill>
                <a:latin typeface="Calibri" pitchFamily="34" charset="0"/>
                <a:ea typeface="Calibri" pitchFamily="34" charset="-122"/>
                <a:cs typeface="Calibri" pitchFamily="34" charset="-120"/>
              </a:rPr>
              <a:t>↻ 503 : 3 s, 10 s</a:t>
            </a:r>
            <a:endParaRPr lang="en-US" sz="1050" dirty="0"/>
          </a:p>
        </p:txBody>
      </p:sp>
      <p:sp>
        <p:nvSpPr>
          <p:cNvPr id="22" name="wire-5"/>
          <p:cNvSpPr/>
          <p:nvPr/>
        </p:nvSpPr>
        <p:spPr>
          <a:xfrm>
            <a:off x="2286000" y="2240280"/>
            <a:ext cx="320040" cy="0"/>
          </a:xfrm>
          <a:prstGeom prst="line">
            <a:avLst/>
          </a:prstGeom>
          <a:noFill/>
          <a:ln w="15875">
            <a:solidFill>
              <a:srgbClr val="6B7280"/>
            </a:solidFill>
            <a:prstDash val="solid"/>
            <a:tailEnd type="triangle"/>
          </a:ln>
        </p:spPr>
      </p:sp>
      <p:sp>
        <p:nvSpPr>
          <p:cNvPr id="23" name="wire-6"/>
          <p:cNvSpPr/>
          <p:nvPr/>
        </p:nvSpPr>
        <p:spPr>
          <a:xfrm>
            <a:off x="4343400" y="2240280"/>
            <a:ext cx="320040" cy="0"/>
          </a:xfrm>
          <a:prstGeom prst="line">
            <a:avLst/>
          </a:prstGeom>
          <a:noFill/>
          <a:ln w="15875">
            <a:solidFill>
              <a:srgbClr val="6B7280"/>
            </a:solidFill>
            <a:prstDash val="solid"/>
            <a:tailEnd type="triangle"/>
          </a:ln>
        </p:spPr>
      </p:sp>
      <p:sp>
        <p:nvSpPr>
          <p:cNvPr id="24" name="wire-7"/>
          <p:cNvSpPr/>
          <p:nvPr/>
        </p:nvSpPr>
        <p:spPr>
          <a:xfrm>
            <a:off x="5486400" y="2788920"/>
            <a:ext cx="0" cy="502920"/>
          </a:xfrm>
          <a:prstGeom prst="line">
            <a:avLst/>
          </a:prstGeom>
          <a:noFill/>
          <a:ln w="15875">
            <a:solidFill>
              <a:srgbClr val="6B7280"/>
            </a:solidFill>
            <a:prstDash val="solid"/>
            <a:tailEnd type="triangle"/>
          </a:ln>
        </p:spPr>
      </p:sp>
      <p:sp>
        <p:nvSpPr>
          <p:cNvPr id="25" name="label-8"/>
          <p:cNvSpPr txBox="1"/>
          <p:nvPr/>
        </p:nvSpPr>
        <p:spPr>
          <a:xfrm>
            <a:off x="5559552" y="2944368"/>
            <a:ext cx="457200" cy="237744"/>
          </a:xfrm>
          <a:prstGeom prst="rect">
            <a:avLst/>
          </a:prstGeom>
          <a:noFill/>
          <a:ln/>
        </p:spPr>
        <p:txBody>
          <a:bodyPr wrap="square" lIns="0" tIns="0" rIns="0" bIns="0" rtlCol="0" anchor="ctr"/>
          <a:lstStyle/>
          <a:p>
            <a:pPr algn="l" indent="0" marL="0">
              <a:buNone/>
            </a:pPr>
            <a:r>
              <a:rPr lang="en-US" sz="1050" dirty="0">
                <a:solidFill>
                  <a:srgbClr val="5B6470"/>
                </a:solidFill>
                <a:latin typeface="Calibri" pitchFamily="34" charset="0"/>
                <a:ea typeface="Calibri" pitchFamily="34" charset="-122"/>
                <a:cs typeface="Calibri" pitchFamily="34" charset="-120"/>
              </a:rPr>
              <a:t>oui</a:t>
            </a:r>
            <a:endParaRPr lang="en-US" sz="1050" dirty="0"/>
          </a:p>
        </p:txBody>
      </p:sp>
      <p:sp>
        <p:nvSpPr>
          <p:cNvPr id="26" name="wire-9"/>
          <p:cNvSpPr/>
          <p:nvPr/>
        </p:nvSpPr>
        <p:spPr>
          <a:xfrm>
            <a:off x="6309360" y="2240280"/>
            <a:ext cx="548640" cy="0"/>
          </a:xfrm>
          <a:prstGeom prst="line">
            <a:avLst/>
          </a:prstGeom>
          <a:noFill/>
          <a:ln w="15875">
            <a:solidFill>
              <a:srgbClr val="6B7280"/>
            </a:solidFill>
            <a:prstDash val="solid"/>
            <a:tailEnd type="triangle"/>
          </a:ln>
        </p:spPr>
      </p:sp>
      <p:sp>
        <p:nvSpPr>
          <p:cNvPr id="27" name="label-10"/>
          <p:cNvSpPr txBox="1"/>
          <p:nvPr/>
        </p:nvSpPr>
        <p:spPr>
          <a:xfrm>
            <a:off x="6355080" y="1993392"/>
            <a:ext cx="365760" cy="237744"/>
          </a:xfrm>
          <a:prstGeom prst="rect">
            <a:avLst/>
          </a:prstGeom>
          <a:noFill/>
          <a:ln/>
        </p:spPr>
        <p:txBody>
          <a:bodyPr wrap="square" lIns="0" tIns="0" rIns="0" bIns="0" rtlCol="0" anchor="ctr"/>
          <a:lstStyle/>
          <a:p>
            <a:pPr algn="ctr" indent="0" marL="0">
              <a:buNone/>
            </a:pPr>
            <a:r>
              <a:rPr lang="en-US" sz="1050" dirty="0">
                <a:solidFill>
                  <a:srgbClr val="5B6470"/>
                </a:solidFill>
                <a:latin typeface="Calibri" pitchFamily="34" charset="0"/>
                <a:ea typeface="Calibri" pitchFamily="34" charset="-122"/>
                <a:cs typeface="Calibri" pitchFamily="34" charset="-120"/>
              </a:rPr>
              <a:t>non</a:t>
            </a:r>
            <a:endParaRPr lang="en-US" sz="1050" dirty="0"/>
          </a:p>
        </p:txBody>
      </p:sp>
      <p:sp>
        <p:nvSpPr>
          <p:cNvPr id="28" name="wire-11"/>
          <p:cNvSpPr/>
          <p:nvPr/>
        </p:nvSpPr>
        <p:spPr>
          <a:xfrm flipV="1">
            <a:off x="6263640" y="3675888"/>
            <a:ext cx="1298448" cy="4572"/>
          </a:xfrm>
          <a:prstGeom prst="line">
            <a:avLst/>
          </a:prstGeom>
          <a:noFill/>
          <a:ln w="15875">
            <a:solidFill>
              <a:srgbClr val="6B7280"/>
            </a:solidFill>
            <a:prstDash val="solid"/>
          </a:ln>
        </p:spPr>
      </p:sp>
      <p:sp>
        <p:nvSpPr>
          <p:cNvPr id="29" name="wire-12"/>
          <p:cNvSpPr/>
          <p:nvPr/>
        </p:nvSpPr>
        <p:spPr>
          <a:xfrm flipV="1">
            <a:off x="7562088" y="2651760"/>
            <a:ext cx="4572" cy="1024128"/>
          </a:xfrm>
          <a:prstGeom prst="line">
            <a:avLst/>
          </a:prstGeom>
          <a:noFill/>
          <a:ln w="15875">
            <a:solidFill>
              <a:srgbClr val="6B7280"/>
            </a:solidFill>
            <a:prstDash val="solid"/>
            <a:tailEnd type="triangle"/>
          </a:ln>
        </p:spPr>
      </p:sp>
      <p:sp>
        <p:nvSpPr>
          <p:cNvPr id="30" name="wire-13"/>
          <p:cNvSpPr/>
          <p:nvPr/>
        </p:nvSpPr>
        <p:spPr>
          <a:xfrm>
            <a:off x="8275320" y="2240280"/>
            <a:ext cx="182880" cy="0"/>
          </a:xfrm>
          <a:prstGeom prst="line">
            <a:avLst/>
          </a:prstGeom>
          <a:noFill/>
          <a:ln w="15875">
            <a:solidFill>
              <a:srgbClr val="6B7280"/>
            </a:solidFill>
            <a:prstDash val="solid"/>
            <a:tailEnd type="triangle"/>
          </a:ln>
        </p:spPr>
      </p:sp>
      <p:sp>
        <p:nvSpPr>
          <p:cNvPr id="31" name="wire-14"/>
          <p:cNvSpPr/>
          <p:nvPr/>
        </p:nvSpPr>
        <p:spPr>
          <a:xfrm>
            <a:off x="10012680" y="2240280"/>
            <a:ext cx="182880" cy="0"/>
          </a:xfrm>
          <a:prstGeom prst="line">
            <a:avLst/>
          </a:prstGeom>
          <a:noFill/>
          <a:ln w="15875">
            <a:solidFill>
              <a:srgbClr val="6B7280"/>
            </a:solidFill>
            <a:prstDash val="solid"/>
            <a:tailEnd type="triangle"/>
          </a:ln>
        </p:spPr>
      </p:sp>
      <p:sp>
        <p:nvSpPr>
          <p:cNvPr id="32" name="wire-15"/>
          <p:cNvSpPr/>
          <p:nvPr/>
        </p:nvSpPr>
        <p:spPr>
          <a:xfrm>
            <a:off x="10881360" y="2651760"/>
            <a:ext cx="0" cy="274320"/>
          </a:xfrm>
          <a:prstGeom prst="line">
            <a:avLst/>
          </a:prstGeom>
          <a:noFill/>
          <a:ln w="15875">
            <a:solidFill>
              <a:srgbClr val="6B7280"/>
            </a:solidFill>
            <a:prstDash val="solid"/>
            <a:tailEnd type="triangle"/>
          </a:ln>
        </p:spPr>
      </p:sp>
      <p:sp>
        <p:nvSpPr>
          <p:cNvPr id="33" name="wire-16"/>
          <p:cNvSpPr/>
          <p:nvPr/>
        </p:nvSpPr>
        <p:spPr>
          <a:xfrm>
            <a:off x="9235440" y="2651760"/>
            <a:ext cx="0" cy="274320"/>
          </a:xfrm>
          <a:prstGeom prst="line">
            <a:avLst/>
          </a:prstGeom>
          <a:noFill/>
          <a:ln w="15875">
            <a:solidFill>
              <a:srgbClr val="6B7280"/>
            </a:solidFill>
            <a:prstDash val="solid"/>
            <a:tailEnd type="triangle"/>
          </a:ln>
        </p:spPr>
      </p:sp>
      <p:sp>
        <p:nvSpPr>
          <p:cNvPr id="34" name="wire-17"/>
          <p:cNvSpPr/>
          <p:nvPr/>
        </p:nvSpPr>
        <p:spPr>
          <a:xfrm>
            <a:off x="10881360" y="3657600"/>
            <a:ext cx="0" cy="1115568"/>
          </a:xfrm>
          <a:prstGeom prst="line">
            <a:avLst/>
          </a:prstGeom>
          <a:noFill/>
          <a:ln w="15875">
            <a:solidFill>
              <a:srgbClr val="6B7280"/>
            </a:solidFill>
            <a:prstDash val="solid"/>
          </a:ln>
        </p:spPr>
      </p:sp>
      <p:sp>
        <p:nvSpPr>
          <p:cNvPr id="35" name="wire-18"/>
          <p:cNvSpPr/>
          <p:nvPr/>
        </p:nvSpPr>
        <p:spPr>
          <a:xfrm flipH="1">
            <a:off x="10424160" y="4773168"/>
            <a:ext cx="457200" cy="4572"/>
          </a:xfrm>
          <a:prstGeom prst="line">
            <a:avLst/>
          </a:prstGeom>
          <a:noFill/>
          <a:ln w="15875">
            <a:solidFill>
              <a:srgbClr val="6B7280"/>
            </a:solidFill>
            <a:prstDash val="solid"/>
            <a:tailEnd type="triangle"/>
          </a:ln>
        </p:spPr>
      </p:sp>
      <p:sp>
        <p:nvSpPr>
          <p:cNvPr id="36" name="wire-19"/>
          <p:cNvSpPr/>
          <p:nvPr/>
        </p:nvSpPr>
        <p:spPr>
          <a:xfrm flipH="1">
            <a:off x="7863840" y="4777740"/>
            <a:ext cx="365760" cy="0"/>
          </a:xfrm>
          <a:prstGeom prst="line">
            <a:avLst/>
          </a:prstGeom>
          <a:noFill/>
          <a:ln w="15875">
            <a:solidFill>
              <a:srgbClr val="6B7280"/>
            </a:solidFill>
            <a:prstDash val="solid"/>
            <a:tailEnd type="triangle"/>
          </a:ln>
        </p:spPr>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3000" b="1" dirty="0">
                <a:solidFill>
                  <a:srgbClr val="1F2933"/>
                </a:solidFill>
                <a:latin typeface="Calibri" pitchFamily="34" charset="0"/>
                <a:ea typeface="Calibri" pitchFamily="34" charset="-122"/>
                <a:cs typeface="Calibri" pitchFamily="34" charset="-120"/>
              </a:rPr>
              <a:t>Quand ça coince</a:t>
            </a:r>
            <a:endParaRPr lang="en-US" sz="3000" dirty="0"/>
          </a:p>
        </p:txBody>
      </p:sp>
      <p:sp>
        <p:nvSpPr>
          <p:cNvPr id="3" name="Text 0"/>
          <p:cNvSpPr/>
          <p:nvPr>
            <p:ph idx="101" type="body" hasCustomPrompt="1"/>
          </p:nvPr>
        </p:nvSpPr>
        <p:spPr>
          <a:xfrm>
            <a:off x="457200" y="896112"/>
            <a:ext cx="11274552" cy="411480"/>
          </a:xfrm>
          <a:prstGeom prst="rect">
            <a:avLst/>
          </a:prstGeom>
          <a:noFill/>
          <a:ln/>
        </p:spPr>
        <p:txBody>
          <a:bodyPr wrap="square" lIns="0" tIns="0" rIns="0" bIns="0" rtlCol="0" anchor="t"/>
          <a:lstStyle/>
          <a:p>
            <a:pPr algn="l" indent="0" marL="0">
              <a:buNone/>
            </a:pPr>
            <a:r>
              <a:rPr lang="en-US" sz="1500" dirty="0">
                <a:solidFill>
                  <a:srgbClr val="5B6470"/>
                </a:solidFill>
                <a:latin typeface="Calibri" pitchFamily="34" charset="0"/>
                <a:ea typeface="Calibri" pitchFamily="34" charset="-122"/>
                <a:cs typeface="Calibri" pitchFamily="34" charset="-120"/>
              </a:rPr>
              <a:t>Ce qui ne dépend que d'un instant repart seul. Ce qui échouerait pareil s'arrête, avec sa raison.</a:t>
            </a:r>
            <a:endParaRPr lang="en-US" sz="1500" dirty="0"/>
          </a:p>
        </p:txBody>
      </p:sp>
      <p:sp>
        <p:nvSpPr>
          <p:cNvPr id="5" name="card-retry"/>
          <p:cNvSpPr/>
          <p:nvPr/>
        </p:nvSpPr>
        <p:spPr>
          <a:xfrm>
            <a:off x="457200" y="1554480"/>
            <a:ext cx="3520440" cy="4343400"/>
          </a:xfrm>
          <a:prstGeom prst="roundRect">
            <a:avLst>
              <a:gd name="adj" fmla="val 2597"/>
            </a:avLst>
          </a:prstGeom>
          <a:solidFill>
            <a:srgbClr val="FDF0D5"/>
          </a:solidFill>
          <a:ln w="15875">
            <a:solidFill>
              <a:srgbClr val="B7791F"/>
            </a:solidFill>
            <a:prstDash val="solid"/>
          </a:ln>
        </p:spPr>
      </p:sp>
      <p:sp>
        <p:nvSpPr>
          <p:cNvPr id="6" name="card-head-retry"/>
          <p:cNvSpPr txBox="1"/>
          <p:nvPr/>
        </p:nvSpPr>
        <p:spPr>
          <a:xfrm>
            <a:off x="685800" y="1691640"/>
            <a:ext cx="3108960" cy="502920"/>
          </a:xfrm>
          <a:prstGeom prst="rect">
            <a:avLst/>
          </a:prstGeom>
          <a:noFill/>
          <a:ln/>
        </p:spPr>
        <p:txBody>
          <a:bodyPr wrap="square" lIns="0" tIns="0" rIns="0" bIns="0" rtlCol="0" anchor="ctr"/>
          <a:lstStyle/>
          <a:p>
            <a:pPr indent="0" marL="0">
              <a:buNone/>
            </a:pPr>
            <a:r>
              <a:rPr lang="en-US" sz="2000" b="1" dirty="0">
                <a:solidFill>
                  <a:srgbClr val="B7791F"/>
                </a:solidFill>
                <a:latin typeface="Calibri" pitchFamily="34" charset="0"/>
                <a:ea typeface="Calibri" pitchFamily="34" charset="-122"/>
                <a:cs typeface="Calibri" pitchFamily="34" charset="-120"/>
              </a:rPr>
              <a:t>↻  </a:t>
            </a:r>
            <a:pPr indent="0" marL="0">
              <a:buNone/>
            </a:pPr>
            <a:r>
              <a:rPr lang="en-US" sz="2000" b="1" dirty="0">
                <a:solidFill>
                  <a:srgbClr val="1F2933"/>
                </a:solidFill>
                <a:latin typeface="Calibri" pitchFamily="34" charset="0"/>
                <a:ea typeface="Calibri" pitchFamily="34" charset="-122"/>
                <a:cs typeface="Calibri" pitchFamily="34" charset="-120"/>
              </a:rPr>
              <a:t>Relancé tout seul</a:t>
            </a:r>
            <a:endParaRPr lang="en-US" sz="2000" dirty="0"/>
          </a:p>
        </p:txBody>
      </p:sp>
      <p:sp>
        <p:nvSpPr>
          <p:cNvPr id="7" name="item-retry-0"/>
          <p:cNvSpPr/>
          <p:nvPr/>
        </p:nvSpPr>
        <p:spPr>
          <a:xfrm>
            <a:off x="640080" y="2377440"/>
            <a:ext cx="3154680" cy="457200"/>
          </a:xfrm>
          <a:prstGeom prst="roundRect">
            <a:avLst>
              <a:gd name="adj" fmla="val 12000"/>
            </a:avLst>
          </a:prstGeom>
          <a:solidFill>
            <a:srgbClr val="FFFFFF"/>
          </a:solidFill>
          <a:ln w="9525">
            <a:solidFill>
              <a:srgbClr val="B7791F"/>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Fetch, push : 3 s, puis 10 s</a:t>
            </a:r>
            <a:endParaRPr lang="en-US" sz="1400" dirty="0"/>
          </a:p>
        </p:txBody>
      </p:sp>
      <p:sp>
        <p:nvSpPr>
          <p:cNvPr id="8" name="item-retry-1"/>
          <p:cNvSpPr/>
          <p:nvPr/>
        </p:nvSpPr>
        <p:spPr>
          <a:xfrm>
            <a:off x="640080" y="2944368"/>
            <a:ext cx="3154680" cy="457200"/>
          </a:xfrm>
          <a:prstGeom prst="roundRect">
            <a:avLst>
              <a:gd name="adj" fmla="val 12000"/>
            </a:avLst>
          </a:prstGeom>
          <a:solidFill>
            <a:srgbClr val="FFFFFF"/>
          </a:solidFill>
          <a:ln w="9525">
            <a:solidFill>
              <a:srgbClr val="B7791F"/>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Flux NuGet : 20 s, puis 60 s</a:t>
            </a:r>
            <a:endParaRPr lang="en-US" sz="1400" dirty="0"/>
          </a:p>
        </p:txBody>
      </p:sp>
      <p:sp>
        <p:nvSpPr>
          <p:cNvPr id="9" name="item-retry-2"/>
          <p:cNvSpPr/>
          <p:nvPr/>
        </p:nvSpPr>
        <p:spPr>
          <a:xfrm>
            <a:off x="640080" y="3511296"/>
            <a:ext cx="3154680" cy="457200"/>
          </a:xfrm>
          <a:prstGeom prst="roundRect">
            <a:avLst>
              <a:gd name="adj" fmla="val 12000"/>
            </a:avLst>
          </a:prstGeom>
          <a:solidFill>
            <a:srgbClr val="FFFFFF"/>
          </a:solidFill>
          <a:ln w="9525">
            <a:solidFill>
              <a:srgbClr val="B7791F"/>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Registre npm : 15 s, puis 45 s</a:t>
            </a:r>
            <a:endParaRPr lang="en-US" sz="1400" dirty="0"/>
          </a:p>
        </p:txBody>
      </p:sp>
      <p:sp>
        <p:nvSpPr>
          <p:cNvPr id="10" name="item-retry-3"/>
          <p:cNvSpPr/>
          <p:nvPr/>
        </p:nvSpPr>
        <p:spPr>
          <a:xfrm>
            <a:off x="640080" y="4078224"/>
            <a:ext cx="3154680" cy="457200"/>
          </a:xfrm>
          <a:prstGeom prst="roundRect">
            <a:avLst>
              <a:gd name="adj" fmla="val 12000"/>
            </a:avLst>
          </a:prstGeom>
          <a:solidFill>
            <a:srgbClr val="FFFFFF"/>
          </a:solidFill>
          <a:ln w="9525">
            <a:solidFill>
              <a:srgbClr val="B7791F"/>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Index git tenu : 1, 2, 3 s</a:t>
            </a:r>
            <a:endParaRPr lang="en-US" sz="1400" dirty="0"/>
          </a:p>
        </p:txBody>
      </p:sp>
      <p:sp>
        <p:nvSpPr>
          <p:cNvPr id="11" name="item-retry-4"/>
          <p:cNvSpPr/>
          <p:nvPr/>
        </p:nvSpPr>
        <p:spPr>
          <a:xfrm>
            <a:off x="640080" y="4645152"/>
            <a:ext cx="3154680" cy="457200"/>
          </a:xfrm>
          <a:prstGeom prst="roundRect">
            <a:avLst>
              <a:gd name="adj" fmla="val 12000"/>
            </a:avLst>
          </a:prstGeom>
          <a:solidFill>
            <a:srgbClr val="FFFFFF"/>
          </a:solidFill>
          <a:ln w="9525">
            <a:solidFill>
              <a:srgbClr val="B7791F"/>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Appel MCP en 5xx : 1 rappel</a:t>
            </a:r>
            <a:endParaRPr lang="en-US" sz="1400" dirty="0"/>
          </a:p>
        </p:txBody>
      </p:sp>
      <p:sp>
        <p:nvSpPr>
          <p:cNvPr id="12" name="item-retry-5"/>
          <p:cNvSpPr/>
          <p:nvPr/>
        </p:nvSpPr>
        <p:spPr>
          <a:xfrm>
            <a:off x="640080" y="5212080"/>
            <a:ext cx="3154680" cy="457200"/>
          </a:xfrm>
          <a:prstGeom prst="roundRect">
            <a:avLst>
              <a:gd name="adj" fmla="val 12000"/>
            </a:avLst>
          </a:prstGeom>
          <a:solidFill>
            <a:srgbClr val="FFFFFF"/>
          </a:solidFill>
          <a:ln w="9525">
            <a:solidFill>
              <a:srgbClr val="B7791F"/>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Serveur du modèle : 8 min</a:t>
            </a:r>
            <a:endParaRPr lang="en-US" sz="1400" dirty="0"/>
          </a:p>
        </p:txBody>
      </p:sp>
      <p:sp>
        <p:nvSpPr>
          <p:cNvPr id="13" name="card-time"/>
          <p:cNvSpPr/>
          <p:nvPr/>
        </p:nvSpPr>
        <p:spPr>
          <a:xfrm>
            <a:off x="4334256" y="1554480"/>
            <a:ext cx="3520440" cy="4343400"/>
          </a:xfrm>
          <a:prstGeom prst="roundRect">
            <a:avLst>
              <a:gd name="adj" fmla="val 2597"/>
            </a:avLst>
          </a:prstGeom>
          <a:solidFill>
            <a:srgbClr val="EEF1F6"/>
          </a:solidFill>
          <a:ln w="15875">
            <a:solidFill>
              <a:srgbClr val="4A5B78"/>
            </a:solidFill>
            <a:prstDash val="dash"/>
          </a:ln>
        </p:spPr>
      </p:sp>
      <p:sp>
        <p:nvSpPr>
          <p:cNvPr id="14" name="card-head-time"/>
          <p:cNvSpPr txBox="1"/>
          <p:nvPr/>
        </p:nvSpPr>
        <p:spPr>
          <a:xfrm>
            <a:off x="4562856" y="1691640"/>
            <a:ext cx="3108960" cy="502920"/>
          </a:xfrm>
          <a:prstGeom prst="rect">
            <a:avLst/>
          </a:prstGeom>
          <a:noFill/>
          <a:ln/>
        </p:spPr>
        <p:txBody>
          <a:bodyPr wrap="square" lIns="0" tIns="0" rIns="0" bIns="0" rtlCol="0" anchor="ctr"/>
          <a:lstStyle/>
          <a:p>
            <a:pPr indent="0" marL="0">
              <a:buNone/>
            </a:pPr>
            <a:r>
              <a:rPr lang="en-US" sz="2000" b="1" dirty="0">
                <a:solidFill>
                  <a:srgbClr val="4A5B78"/>
                </a:solidFill>
                <a:latin typeface="Calibri" pitchFamily="34" charset="0"/>
                <a:ea typeface="Calibri" pitchFamily="34" charset="-122"/>
                <a:cs typeface="Calibri" pitchFamily="34" charset="-120"/>
              </a:rPr>
              <a:t>≤  </a:t>
            </a:r>
            <a:pPr indent="0" marL="0">
              <a:buNone/>
            </a:pPr>
            <a:r>
              <a:rPr lang="en-US" sz="2000" b="1" dirty="0">
                <a:solidFill>
                  <a:srgbClr val="1F2933"/>
                </a:solidFill>
                <a:latin typeface="Calibri" pitchFamily="34" charset="0"/>
                <a:ea typeface="Calibri" pitchFamily="34" charset="-122"/>
                <a:cs typeface="Calibri" pitchFamily="34" charset="-120"/>
              </a:rPr>
              <a:t>Borné dans le temps</a:t>
            </a:r>
            <a:endParaRPr lang="en-US" sz="2000" dirty="0"/>
          </a:p>
        </p:txBody>
      </p:sp>
      <p:sp>
        <p:nvSpPr>
          <p:cNvPr id="15" name="item-time-0"/>
          <p:cNvSpPr/>
          <p:nvPr/>
        </p:nvSpPr>
        <p:spPr>
          <a:xfrm>
            <a:off x="4517136" y="2377440"/>
            <a:ext cx="3154680" cy="457200"/>
          </a:xfrm>
          <a:prstGeom prst="roundRect">
            <a:avLst>
              <a:gd name="adj" fmla="val 12000"/>
            </a:avLst>
          </a:prstGeom>
          <a:solidFill>
            <a:srgbClr val="FFFFFF"/>
          </a:solidFill>
          <a:ln w="9525">
            <a:solidFill>
              <a:srgbClr val="4A5B78"/>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Build et tests : 42 min</a:t>
            </a:r>
            <a:endParaRPr lang="en-US" sz="1400" dirty="0"/>
          </a:p>
        </p:txBody>
      </p:sp>
      <p:sp>
        <p:nvSpPr>
          <p:cNvPr id="16" name="item-time-1"/>
          <p:cNvSpPr/>
          <p:nvPr/>
        </p:nvSpPr>
        <p:spPr>
          <a:xfrm>
            <a:off x="4517136" y="2944368"/>
            <a:ext cx="3154680" cy="457200"/>
          </a:xfrm>
          <a:prstGeom prst="roundRect">
            <a:avLst>
              <a:gd name="adj" fmla="val 12000"/>
            </a:avLst>
          </a:prstGeom>
          <a:solidFill>
            <a:srgbClr val="FFFFFF"/>
          </a:solidFill>
          <a:ln w="9525">
            <a:solidFill>
              <a:srgbClr val="4A5B78"/>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Une exécution des tests : 25 min</a:t>
            </a:r>
            <a:endParaRPr lang="en-US" sz="1400" dirty="0"/>
          </a:p>
        </p:txBody>
      </p:sp>
      <p:sp>
        <p:nvSpPr>
          <p:cNvPr id="17" name="item-time-2"/>
          <p:cNvSpPr/>
          <p:nvPr/>
        </p:nvSpPr>
        <p:spPr>
          <a:xfrm>
            <a:off x="4517136" y="3511296"/>
            <a:ext cx="3154680" cy="457200"/>
          </a:xfrm>
          <a:prstGeom prst="roundRect">
            <a:avLst>
              <a:gd name="adj" fmla="val 12000"/>
            </a:avLst>
          </a:prstGeom>
          <a:solidFill>
            <a:srgbClr val="FFFFFF"/>
          </a:solidFill>
          <a:ln w="9525">
            <a:solidFill>
              <a:srgbClr val="4A5B78"/>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Un test : 5 min</a:t>
            </a:r>
            <a:endParaRPr lang="en-US" sz="1400" dirty="0"/>
          </a:p>
        </p:txBody>
      </p:sp>
      <p:sp>
        <p:nvSpPr>
          <p:cNvPr id="18" name="item-time-3"/>
          <p:cNvSpPr/>
          <p:nvPr/>
        </p:nvSpPr>
        <p:spPr>
          <a:xfrm>
            <a:off x="4517136" y="4078224"/>
            <a:ext cx="3154680" cy="457200"/>
          </a:xfrm>
          <a:prstGeom prst="roundRect">
            <a:avLst>
              <a:gd name="adj" fmla="val 12000"/>
            </a:avLst>
          </a:prstGeom>
          <a:solidFill>
            <a:srgbClr val="FFFFFF"/>
          </a:solidFill>
          <a:ln w="9525">
            <a:solidFill>
              <a:srgbClr val="4A5B78"/>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Attente du verrou : 20 min</a:t>
            </a:r>
            <a:endParaRPr lang="en-US" sz="1400" dirty="0"/>
          </a:p>
        </p:txBody>
      </p:sp>
      <p:sp>
        <p:nvSpPr>
          <p:cNvPr id="19" name="item-time-4"/>
          <p:cNvSpPr/>
          <p:nvPr/>
        </p:nvSpPr>
        <p:spPr>
          <a:xfrm>
            <a:off x="4517136" y="4645152"/>
            <a:ext cx="3154680" cy="457200"/>
          </a:xfrm>
          <a:prstGeom prst="roundRect">
            <a:avLst>
              <a:gd name="adj" fmla="val 12000"/>
            </a:avLst>
          </a:prstGeom>
          <a:solidFill>
            <a:srgbClr val="FFFFFF"/>
          </a:solidFill>
          <a:ln w="9525">
            <a:solidFill>
              <a:srgbClr val="4A5B78"/>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Appel MCP : 5 min</a:t>
            </a:r>
            <a:endParaRPr lang="en-US" sz="1400" dirty="0"/>
          </a:p>
        </p:txBody>
      </p:sp>
      <p:sp>
        <p:nvSpPr>
          <p:cNvPr id="20" name="item-time-5"/>
          <p:cNvSpPr/>
          <p:nvPr/>
        </p:nvSpPr>
        <p:spPr>
          <a:xfrm>
            <a:off x="4517136" y="5212080"/>
            <a:ext cx="3154680" cy="457200"/>
          </a:xfrm>
          <a:prstGeom prst="roundRect">
            <a:avLst>
              <a:gd name="adj" fmla="val 12000"/>
            </a:avLst>
          </a:prstGeom>
          <a:solidFill>
            <a:srgbClr val="FFFFFF"/>
          </a:solidFill>
          <a:ln w="9525">
            <a:solidFill>
              <a:srgbClr val="4A5B78"/>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Run repris : 2 puis 5 min</a:t>
            </a:r>
            <a:endParaRPr lang="en-US" sz="1400" dirty="0"/>
          </a:p>
        </p:txBody>
      </p:sp>
      <p:sp>
        <p:nvSpPr>
          <p:cNvPr id="21" name="card-stop"/>
          <p:cNvSpPr/>
          <p:nvPr/>
        </p:nvSpPr>
        <p:spPr>
          <a:xfrm>
            <a:off x="8211312" y="1554480"/>
            <a:ext cx="3520440" cy="4343400"/>
          </a:xfrm>
          <a:prstGeom prst="roundRect">
            <a:avLst>
              <a:gd name="adj" fmla="val 2597"/>
            </a:avLst>
          </a:prstGeom>
          <a:solidFill>
            <a:srgbClr val="FBE6E3"/>
          </a:solidFill>
          <a:ln w="15875">
            <a:solidFill>
              <a:srgbClr val="B23A30"/>
            </a:solidFill>
            <a:prstDash val="solid"/>
          </a:ln>
        </p:spPr>
      </p:sp>
      <p:sp>
        <p:nvSpPr>
          <p:cNvPr id="22" name="card-head-stop"/>
          <p:cNvSpPr txBox="1"/>
          <p:nvPr/>
        </p:nvSpPr>
        <p:spPr>
          <a:xfrm>
            <a:off x="8439912" y="1691640"/>
            <a:ext cx="3108960" cy="502920"/>
          </a:xfrm>
          <a:prstGeom prst="rect">
            <a:avLst/>
          </a:prstGeom>
          <a:noFill/>
          <a:ln/>
        </p:spPr>
        <p:txBody>
          <a:bodyPr wrap="square" lIns="0" tIns="0" rIns="0" bIns="0" rtlCol="0" anchor="ctr"/>
          <a:lstStyle/>
          <a:p>
            <a:pPr indent="0" marL="0">
              <a:buNone/>
            </a:pPr>
            <a:r>
              <a:rPr lang="en-US" sz="2000" b="1" dirty="0">
                <a:solidFill>
                  <a:srgbClr val="B23A30"/>
                </a:solidFill>
                <a:latin typeface="Calibri" pitchFamily="34" charset="0"/>
                <a:ea typeface="Calibri" pitchFamily="34" charset="-122"/>
                <a:cs typeface="Calibri" pitchFamily="34" charset="-120"/>
              </a:rPr>
              <a:t>⛔  </a:t>
            </a:r>
            <a:pPr indent="0" marL="0">
              <a:buNone/>
            </a:pPr>
            <a:r>
              <a:rPr lang="en-US" sz="2000" b="1" dirty="0">
                <a:solidFill>
                  <a:srgbClr val="1F2933"/>
                </a:solidFill>
                <a:latin typeface="Calibri" pitchFamily="34" charset="0"/>
                <a:ea typeface="Calibri" pitchFamily="34" charset="-122"/>
                <a:cs typeface="Calibri" pitchFamily="34" charset="-120"/>
              </a:rPr>
              <a:t>Jamais relancé</a:t>
            </a:r>
            <a:endParaRPr lang="en-US" sz="2000" dirty="0"/>
          </a:p>
        </p:txBody>
      </p:sp>
      <p:sp>
        <p:nvSpPr>
          <p:cNvPr id="23" name="item-stop-0"/>
          <p:cNvSpPr/>
          <p:nvPr/>
        </p:nvSpPr>
        <p:spPr>
          <a:xfrm>
            <a:off x="8394192" y="2377440"/>
            <a:ext cx="3154680" cy="457200"/>
          </a:xfrm>
          <a:prstGeom prst="roundRect">
            <a:avLst>
              <a:gd name="adj" fmla="val 12000"/>
            </a:avLst>
          </a:prstGeom>
          <a:solidFill>
            <a:srgbClr val="FFFFFF"/>
          </a:solidFill>
          <a:ln w="9525">
            <a:solidFill>
              <a:srgbClr val="B23A30"/>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Un test rouge</a:t>
            </a:r>
            <a:endParaRPr lang="en-US" sz="1400" dirty="0"/>
          </a:p>
        </p:txBody>
      </p:sp>
      <p:sp>
        <p:nvSpPr>
          <p:cNvPr id="24" name="item-stop-1"/>
          <p:cNvSpPr/>
          <p:nvPr/>
        </p:nvSpPr>
        <p:spPr>
          <a:xfrm>
            <a:off x="8394192" y="2944368"/>
            <a:ext cx="3154680" cy="457200"/>
          </a:xfrm>
          <a:prstGeom prst="roundRect">
            <a:avLst>
              <a:gd name="adj" fmla="val 12000"/>
            </a:avLst>
          </a:prstGeom>
          <a:solidFill>
            <a:srgbClr val="FFFFFF"/>
          </a:solidFill>
          <a:ln w="9525">
            <a:solidFill>
              <a:srgbClr val="B23A30"/>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Un test instable (FLAKY)</a:t>
            </a:r>
            <a:endParaRPr lang="en-US" sz="1400" dirty="0"/>
          </a:p>
        </p:txBody>
      </p:sp>
      <p:sp>
        <p:nvSpPr>
          <p:cNvPr id="25" name="item-stop-2"/>
          <p:cNvSpPr/>
          <p:nvPr/>
        </p:nvSpPr>
        <p:spPr>
          <a:xfrm>
            <a:off x="8394192" y="3511296"/>
            <a:ext cx="3154680" cy="457200"/>
          </a:xfrm>
          <a:prstGeom prst="roundRect">
            <a:avLst>
              <a:gd name="adj" fmla="val 12000"/>
            </a:avLst>
          </a:prstGeom>
          <a:solidFill>
            <a:srgbClr val="FFFFFF"/>
          </a:solidFill>
          <a:ln w="9525">
            <a:solidFill>
              <a:srgbClr val="B23A30"/>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Une erreur de compilation</a:t>
            </a:r>
            <a:endParaRPr lang="en-US" sz="1400" dirty="0"/>
          </a:p>
        </p:txBody>
      </p:sp>
      <p:sp>
        <p:nvSpPr>
          <p:cNvPr id="26" name="item-stop-3"/>
          <p:cNvSpPr/>
          <p:nvPr/>
        </p:nvSpPr>
        <p:spPr>
          <a:xfrm>
            <a:off x="8394192" y="4078224"/>
            <a:ext cx="3154680" cy="457200"/>
          </a:xfrm>
          <a:prstGeom prst="roundRect">
            <a:avLst>
              <a:gd name="adj" fmla="val 12000"/>
            </a:avLst>
          </a:prstGeom>
          <a:solidFill>
            <a:srgbClr val="FFFFFF"/>
          </a:solidFill>
          <a:ln w="9525">
            <a:solidFill>
              <a:srgbClr val="B23A30"/>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Des identifiants refusés</a:t>
            </a:r>
            <a:endParaRPr lang="en-US" sz="1400" dirty="0"/>
          </a:p>
        </p:txBody>
      </p:sp>
      <p:sp>
        <p:nvSpPr>
          <p:cNvPr id="27" name="item-stop-4"/>
          <p:cNvSpPr/>
          <p:nvPr/>
        </p:nvSpPr>
        <p:spPr>
          <a:xfrm>
            <a:off x="8394192" y="4645152"/>
            <a:ext cx="3154680" cy="457200"/>
          </a:xfrm>
          <a:prstGeom prst="roundRect">
            <a:avLst>
              <a:gd name="adj" fmla="val 12000"/>
            </a:avLst>
          </a:prstGeom>
          <a:solidFill>
            <a:srgbClr val="FFFFFF"/>
          </a:solidFill>
          <a:ln w="9525">
            <a:solidFill>
              <a:srgbClr val="B23A30"/>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Un conflit de merge</a:t>
            </a:r>
            <a:endParaRPr lang="en-US" sz="1400" dirty="0"/>
          </a:p>
        </p:txBody>
      </p:sp>
      <p:sp>
        <p:nvSpPr>
          <p:cNvPr id="28" name="item-stop-5"/>
          <p:cNvSpPr/>
          <p:nvPr/>
        </p:nvSpPr>
        <p:spPr>
          <a:xfrm>
            <a:off x="8394192" y="5212080"/>
            <a:ext cx="3154680" cy="457200"/>
          </a:xfrm>
          <a:prstGeom prst="roundRect">
            <a:avLst>
              <a:gd name="adj" fmla="val 12000"/>
            </a:avLst>
          </a:prstGeom>
          <a:solidFill>
            <a:srgbClr val="FFFFFF"/>
          </a:solidFill>
          <a:ln w="9525">
            <a:solidFill>
              <a:srgbClr val="B23A30"/>
            </a:solidFill>
          </a:ln>
        </p:spPr>
        <p:txBody>
          <a:bodyPr wrap="square" lIns="0" tIns="101600" rIns="101600" bIns="0" rtlCol="0" anchor="ctr"/>
          <a:lstStyle/>
          <a:p>
            <a:pPr algn="l" indent="0" marL="0">
              <a:buNone/>
            </a:pPr>
            <a:r>
              <a:rPr lang="en-US" sz="1400" dirty="0">
                <a:solidFill>
                  <a:srgbClr val="1F2933"/>
                </a:solidFill>
                <a:latin typeface="Calibri" pitchFamily="34" charset="0"/>
                <a:ea typeface="Calibri" pitchFamily="34" charset="-122"/>
                <a:cs typeface="Calibri" pitchFamily="34" charset="-120"/>
              </a:rPr>
              <a:t>Une suite trop longue</a:t>
            </a:r>
            <a:endParaRPr lang="en-US" sz="1400" dirty="0"/>
          </a:p>
        </p:txBody>
      </p:sp>
      <p:sp>
        <p:nvSpPr>
          <p:cNvPr id="29" name="after"/>
          <p:cNvSpPr txBox="1"/>
          <p:nvPr/>
        </p:nvSpPr>
        <p:spPr>
          <a:xfrm>
            <a:off x="457200" y="6035040"/>
            <a:ext cx="11274552" cy="320040"/>
          </a:xfrm>
          <a:prstGeom prst="rect">
            <a:avLst/>
          </a:prstGeom>
          <a:noFill/>
          <a:ln/>
        </p:spPr>
        <p:txBody>
          <a:bodyPr wrap="square" lIns="0" tIns="0" rIns="0" bIns="0" rtlCol="0" anchor="ctr"/>
          <a:lstStyle/>
          <a:p>
            <a:pPr algn="ctr" indent="0" marL="0">
              <a:buNone/>
            </a:pPr>
            <a:r>
              <a:rPr lang="en-US" sz="1400" i="1" dirty="0">
                <a:solidFill>
                  <a:srgbClr val="5B6470"/>
                </a:solidFill>
                <a:latin typeface="Calibri" pitchFamily="34" charset="0"/>
                <a:ea typeface="Calibri" pitchFamily="34" charset="-122"/>
                <a:cs typeface="Calibri" pitchFamily="34" charset="-120"/>
              </a:rPr>
              <a:t>Après les essais : une ligne ENVIRONMENT PROBLEM ou STOP, avec quoi régler.</a:t>
            </a:r>
            <a:endParaRPr lang="en-US" sz="1400" dirty="0"/>
          </a:p>
        </p:txBody>
      </p:sp>
      <p:sp>
        <p:nvSpPr>
          <p:cNvPr id="25" name="Slide Number Placeholder 0"/>
          <p:cNvSpPr>
            <a:spLocks noGrp="1"/>
          </p:cNvSpPr>
          <p:nvPr>
            <p:ph type="sldNum" sz="quarter" idx="4294967295"/>
          </p:nvPr>
        </p:nvSpPr>
        <p:spPr>
          <a:xfrm>
            <a:off x="1129284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9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end"/>
          <p:cNvSpPr txBox="1"/>
          <p:nvPr/>
        </p:nvSpPr>
        <p:spPr>
          <a:xfrm>
            <a:off x="731520" y="54864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À retenir</a:t>
            </a:r>
            <a:endParaRPr lang="en-US" sz="4000" dirty="0"/>
          </a:p>
        </p:txBody>
      </p:sp>
      <p:sp>
        <p:nvSpPr>
          <p:cNvPr id="3" name="big-0"/>
          <p:cNvSpPr txBox="1"/>
          <p:nvPr/>
        </p:nvSpPr>
        <p:spPr>
          <a:xfrm>
            <a:off x="731520" y="2011680"/>
            <a:ext cx="3291840" cy="1188720"/>
          </a:xfrm>
          <a:prstGeom prst="rect">
            <a:avLst/>
          </a:prstGeom>
          <a:noFill/>
          <a:ln/>
        </p:spPr>
        <p:txBody>
          <a:bodyPr wrap="square" lIns="0" tIns="0" rIns="0" bIns="0" rtlCol="0" anchor="ctr"/>
          <a:lstStyle/>
          <a:p>
            <a:pPr indent="0" marL="0">
              <a:buNone/>
            </a:pPr>
            <a:r>
              <a:rPr lang="en-US" sz="6600" b="1" dirty="0">
                <a:solidFill>
                  <a:srgbClr val="C3A6E0"/>
                </a:solidFill>
                <a:latin typeface="Calibri" pitchFamily="34" charset="0"/>
                <a:ea typeface="Calibri" pitchFamily="34" charset="-122"/>
                <a:cs typeface="Calibri" pitchFamily="34" charset="-120"/>
              </a:rPr>
              <a:t>2</a:t>
            </a:r>
            <a:endParaRPr lang="en-US" sz="6600" dirty="0"/>
          </a:p>
        </p:txBody>
      </p:sp>
      <p:sp>
        <p:nvSpPr>
          <p:cNvPr id="4" name="point-0"/>
          <p:cNvSpPr txBox="1"/>
          <p:nvPr/>
        </p:nvSpPr>
        <p:spPr>
          <a:xfrm>
            <a:off x="731520" y="3291840"/>
            <a:ext cx="3291840" cy="13716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moments pour le développeur</a:t>
            </a:r>
            <a:endParaRPr lang="en-US" sz="2000" dirty="0"/>
          </a:p>
          <a:p>
            <a:pPr indent="0" marL="0">
              <a:buNone/>
            </a:pPr>
            <a:r>
              <a:rPr lang="en-US" sz="1500" dirty="0">
                <a:solidFill>
                  <a:srgbClr val="C9D2DC"/>
                </a:solidFill>
                <a:latin typeface="Calibri" pitchFamily="34" charset="0"/>
                <a:ea typeface="Calibri" pitchFamily="34" charset="-122"/>
                <a:cs typeface="Calibri" pitchFamily="34" charset="-120"/>
              </a:rPr>
              <a:t>les questions du début, la relecture de la MR</a:t>
            </a:r>
            <a:endParaRPr lang="en-US" sz="2000" dirty="0"/>
          </a:p>
        </p:txBody>
      </p:sp>
      <p:sp>
        <p:nvSpPr>
          <p:cNvPr id="5" name="big-1"/>
          <p:cNvSpPr txBox="1"/>
          <p:nvPr/>
        </p:nvSpPr>
        <p:spPr>
          <a:xfrm>
            <a:off x="4434840" y="2011680"/>
            <a:ext cx="3291840" cy="1188720"/>
          </a:xfrm>
          <a:prstGeom prst="rect">
            <a:avLst/>
          </a:prstGeom>
          <a:noFill/>
          <a:ln/>
        </p:spPr>
        <p:txBody>
          <a:bodyPr wrap="square" lIns="0" tIns="0" rIns="0" bIns="0" rtlCol="0" anchor="ctr"/>
          <a:lstStyle/>
          <a:p>
            <a:pPr indent="0" marL="0">
              <a:buNone/>
            </a:pPr>
            <a:r>
              <a:rPr lang="en-US" sz="6600" b="1" dirty="0">
                <a:solidFill>
                  <a:srgbClr val="86B2E6"/>
                </a:solidFill>
                <a:latin typeface="Calibri" pitchFamily="34" charset="0"/>
                <a:ea typeface="Calibri" pitchFamily="34" charset="-122"/>
                <a:cs typeface="Calibri" pitchFamily="34" charset="-120"/>
              </a:rPr>
              <a:t>×2</a:t>
            </a:r>
            <a:endParaRPr lang="en-US" sz="6600" dirty="0"/>
          </a:p>
        </p:txBody>
      </p:sp>
      <p:sp>
        <p:nvSpPr>
          <p:cNvPr id="6" name="point-1"/>
          <p:cNvSpPr txBox="1"/>
          <p:nvPr/>
        </p:nvSpPr>
        <p:spPr>
          <a:xfrm>
            <a:off x="4434840" y="3291840"/>
            <a:ext cx="3291840" cy="13716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chaque preuve, deux fois</a:t>
            </a:r>
            <a:endParaRPr lang="en-US" sz="2000" dirty="0"/>
          </a:p>
          <a:p>
            <a:pPr indent="0" marL="0">
              <a:buNone/>
            </a:pPr>
            <a:r>
              <a:rPr lang="en-US" sz="1500" dirty="0">
                <a:solidFill>
                  <a:srgbClr val="C9D2DC"/>
                </a:solidFill>
                <a:latin typeface="Calibri" pitchFamily="34" charset="0"/>
                <a:ea typeface="Calibri" pitchFamily="34" charset="-122"/>
                <a:cs typeface="Calibri" pitchFamily="34" charset="-120"/>
              </a:rPr>
              <a:t>un test instable est refusé, jamais relancé</a:t>
            </a:r>
            <a:endParaRPr lang="en-US" sz="2000" dirty="0"/>
          </a:p>
        </p:txBody>
      </p:sp>
      <p:sp>
        <p:nvSpPr>
          <p:cNvPr id="7" name="big-2"/>
          <p:cNvSpPr txBox="1"/>
          <p:nvPr/>
        </p:nvSpPr>
        <p:spPr>
          <a:xfrm>
            <a:off x="8138160" y="2011680"/>
            <a:ext cx="3291840" cy="1188720"/>
          </a:xfrm>
          <a:prstGeom prst="rect">
            <a:avLst/>
          </a:prstGeom>
          <a:noFill/>
          <a:ln/>
        </p:spPr>
        <p:txBody>
          <a:bodyPr wrap="square" lIns="0" tIns="0" rIns="0" bIns="0" rtlCol="0" anchor="ctr"/>
          <a:lstStyle/>
          <a:p>
            <a:pPr indent="0" marL="0">
              <a:buNone/>
            </a:pPr>
            <a:r>
              <a:rPr lang="en-US" sz="6600" b="1" dirty="0">
                <a:solidFill>
                  <a:srgbClr val="E0A64A"/>
                </a:solidFill>
                <a:latin typeface="Calibri" pitchFamily="34" charset="0"/>
                <a:ea typeface="Calibri" pitchFamily="34" charset="-122"/>
                <a:cs typeface="Calibri" pitchFamily="34" charset="-120"/>
              </a:rPr>
              <a:t>0</a:t>
            </a:r>
            <a:endParaRPr lang="en-US" sz="6600" dirty="0"/>
          </a:p>
        </p:txBody>
      </p:sp>
      <p:sp>
        <p:nvSpPr>
          <p:cNvPr id="8" name="point-2"/>
          <p:cNvSpPr txBox="1"/>
          <p:nvPr/>
        </p:nvSpPr>
        <p:spPr>
          <a:xfrm>
            <a:off x="8138160" y="3291840"/>
            <a:ext cx="3291840" cy="13716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attente sans borne</a:t>
            </a:r>
            <a:endParaRPr lang="en-US" sz="2000" dirty="0"/>
          </a:p>
          <a:p>
            <a:pPr indent="0" marL="0">
              <a:buNone/>
            </a:pPr>
            <a:r>
              <a:rPr lang="en-US" sz="1500" dirty="0">
                <a:solidFill>
                  <a:srgbClr val="C9D2DC"/>
                </a:solidFill>
                <a:latin typeface="Calibri" pitchFamily="34" charset="0"/>
                <a:ea typeface="Calibri" pitchFamily="34" charset="-122"/>
                <a:cs typeface="Calibri" pitchFamily="34" charset="-120"/>
              </a:rPr>
              <a:t>ce qui coince un instant repart seul, le reste s'arrête avec sa raison</a:t>
            </a:r>
            <a:endParaRPr lang="en-US" sz="2000" dirty="0"/>
          </a:p>
        </p:txBody>
      </p:sp>
      <p:sp>
        <p:nvSpPr>
          <p:cNvPr id="9" name="more"/>
          <p:cNvSpPr txBox="1"/>
          <p:nvPr/>
        </p:nvSpPr>
        <p:spPr>
          <a:xfrm>
            <a:off x="731520" y="5989320"/>
            <a:ext cx="10698480" cy="365760"/>
          </a:xfrm>
          <a:prstGeom prst="rect">
            <a:avLst/>
          </a:prstGeom>
          <a:noFill/>
          <a:ln/>
        </p:spPr>
        <p:txBody>
          <a:bodyPr wrap="square" lIns="0" tIns="0" rIns="0" bIns="0" rtlCol="0" anchor="ctr"/>
          <a:lstStyle/>
          <a:p>
            <a:pPr indent="0" marL="0">
              <a:buNone/>
            </a:pPr>
            <a:r>
              <a:rPr lang="en-US" sz="1300" dirty="0">
                <a:solidFill>
                  <a:srgbClr val="9AA5B1"/>
                </a:solidFill>
                <a:latin typeface="Calibri" pitchFamily="34" charset="0"/>
                <a:ea typeface="Calibri" pitchFamily="34" charset="-122"/>
                <a:cs typeface="Calibri" pitchFamily="34" charset="-120"/>
              </a:rPr>
              <a:t>Le détail de chaque flux : docs/carte-des-flux.html</a:t>
            </a:r>
            <a:endParaRPr lang="en-US" sz="1300" dirty="0"/>
          </a:p>
        </p:txBody>
      </p:sp>
      <p:sp>
        <p:nvSpPr>
          <p:cNvPr id="11" name="Text 0"/>
          <p:cNvSpPr/>
          <p:nvPr>
            <p:ph idx="100" type="title" hasCustomPrompt="1"/>
          </p:nvPr>
        </p:nvSpPr>
        <p:spPr>
          <a:xfrm>
            <a:off x="731520" y="1737360"/>
            <a:ext cx="10698480" cy="1463040"/>
          </a:xfrm>
          <a:prstGeom prst="rect">
            <a:avLst/>
          </a:prstGeom>
          <a:noFill/>
          <a:ln/>
        </p:spPr>
        <p:txBody>
          <a:bodyPr wrap="square" lIns="0" tIns="0" rIns="0" bIns="0" rtlCol="0" anchor="b"/>
          <a:lstStyle/>
          <a:p>
            <a:pPr algn="l" indent="0" marL="0">
              <a:buNone/>
            </a:pPr>
            <a:endParaRPr lang="en-US" sz="4400" dirty="0"/>
          </a:p>
        </p:txBody>
      </p:sp>
      <p:sp>
        <p:nvSpPr>
          <p:cNvPr id="12" name="Text 0"/>
          <p:cNvSpPr/>
          <p:nvPr>
            <p:ph idx="101" type="body" hasCustomPrompt="1"/>
          </p:nvPr>
        </p:nvSpPr>
        <p:spPr>
          <a:xfrm>
            <a:off x="731520" y="3383280"/>
            <a:ext cx="10698480" cy="109728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OpenRDCode">
  <a:themeElements>
    <a:clrScheme name="OpenRDCode">
      <a:dk1>
        <a:srgbClr val="1F2933"/>
      </a:dk1>
      <a:lt1>
        <a:srgbClr val="FFFFFF"/>
      </a:lt1>
      <a:dk2>
        <a:srgbClr val="3E4C59"/>
      </a:dk2>
      <a:lt2>
        <a:srgbClr val="F4F5F7"/>
      </a:lt2>
      <a:accent1>
        <a:srgbClr val="2E6DA4"/>
      </a:accent1>
      <a:accent2>
        <a:srgbClr val="7B4F96"/>
      </a:accent2>
      <a:accent3>
        <a:srgbClr val="B7791F"/>
      </a:accent3>
      <a:accent4>
        <a:srgbClr val="B23A30"/>
      </a:accent4>
      <a:accent5>
        <a:srgbClr val="2F7D4F"/>
      </a:accent5>
      <a:accent6>
        <a:srgbClr val="4A5B78"/>
      </a:accent6>
      <a:hlink>
        <a:srgbClr val="2E6DA4"/>
      </a:hlink>
      <a:folHlink>
        <a:srgbClr val="7B4F96"/>
      </a:folHlink>
    </a:clrScheme>
    <a:fontScheme name="OpenRDCod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OpenRDCode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flux du pack OpenRDCode</dc:title>
  <dc:subject>OpenCode v2, Qwen 3.8 : /go, /fix, /fortify, /tests</dc:subject>
  <dc:creator>OpenRDCode</dc:creator>
  <cp:lastModifiedBy>OpenRDCode</cp:lastModifiedBy>
  <cp:revision>1</cp:revision>
  <dcterms:created xsi:type="dcterms:W3CDTF">2026-10-27T06:42:27Z</dcterms:created>
  <dcterms:modified xsi:type="dcterms:W3CDTF">2026-10-27T06:42:27Z</dcterms:modified>
</cp:coreProperties>
</file>