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incipe" id="{2aedf590-f729-5bd7-7b58-b5695d2dc539}">
          <p14:sldIdLst>
            <p14:sldId id="256"/>
            <p14:sldId id="257"/>
            <p14:sldId id="258"/>
            <p14:sldId id="259"/>
          </p14:sldIdLst>
        </p14:section>
        <p14:section name="/fortify" id="{18b3de7d-897a-059b-063c-77b62588b584}">
          <p14:sldIdLst>
            <p14:sldId id="260"/>
            <p14:sldId id="261"/>
            <p14:sldId id="262"/>
          </p14:sldIdLst>
        </p14:section>
        <p14:section name="/go" id="{ddd6c4d3-b7c2-8905-ef51-28ceef2d36f0}">
          <p14:sldIdLst>
            <p14:sldId id="263"/>
            <p14:sldId id="264"/>
            <p14:sldId id="265"/>
            <p14:sldId id="266"/>
          </p14:sldIdLst>
        </p14:section>
        <p14:section name="Sans ticket" id="{ffa86666-7459-00f4-196b-4887adea3faf}">
          <p14:sldIdLst>
            <p14:sldId id="267"/>
          </p14:sldIdLst>
        </p14:section>
        <p14:section name="Après la MR" id="{32a47a84-e9ed-040c-8b9f-366c49a2cd35}">
          <p14:sldIdLst>
            <p14:sldId id="268"/>
            <p14:sldId id="269"/>
          </p14:sldIdLst>
        </p14:section>
        <p14:section name="Quand ça coince" id="{55b181ac-294f-6087-466f-da5934ef02eb}">
          <p14:sldIdLst>
            <p14:sldId id="270"/>
            <p14:sldId id="271"/>
          </p14:sldIdLst>
        </p14:section>
        <p14:section name="Conclusion" id="{e5c5dc95-1272-2c6c-b40e-fe339ddf1a21}">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agents prennent un ticket Jira, ou une demande sans ticket, et rendent une merge request en Draft, avec ses tests et ses preuves. On commence par le principe commun à tous les flux, puis /fortify, le flux le plus important pour nous : un lot de failles Fortify corrigées et prouvées dans une seule MR. Ensuite /go, le travail sans ticket, /fix après la CI, /tests, et ce qui se passe quand quelque chose coince.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acteurs. Le développeur lance une commande, répond aux questions éventuelles du début, toutes en un seul QCM, puis relit la MR en Draft comme celle d'un collègue : c'est lui qui merge. Les agents IA tournent sur le modèle Qwen 3.8 de la plateforme : un pilote qui suit la procédure de la commande, et des agents spécialisés, chacun avec ses droits. L'analyst lit le ticket, Confluence et le code et écrit la fiche du ticket ; le coder écrit le code et ses tests ; le test-guardian écrit les tests de non-régression et les tests qui prouvent un bug ou une faille ; le checker relit la branche ; le debugger cherche la cause d'un échec. Tout ce qui se mesure passe par des scripts, sans IA : le build et les tests, la couverture, les contrôles après un correctif, le contrôle avant push (secrets, conflits, paquets payants), les commandes git. Ce que le modèle ne peut jamais faire, quelle que soit la consigne : pousser sur develop ou main, merger, écrire dans Jira ou Fortify, lire les secrets du 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même mécanisme dans /fortify, /go et /fix, pour une faille, un bug ou une modification de code existant. Avant le correctif, le test-guardian mesure la couverture des méthodes que le correctif va toucher, et de celles qui y mènent. Sous 80 % des lignes, il écrit d'abord les tests de non-régression qui manquent : ils décrivent le comportement actuel, verts deux fois. Puis le test du problème : l'entrée hostile ou le cas du bug, rouge deux fois pour la bonne raison. S'il passe déjà, le code résiste : le test reste, comme preuve. Un test dont le résultat change d'une exécution à l'autre est refusé : un test instable est un défaut, jamais relancé jusqu'à passer. Tous ces tests sont verrouillés : le coder ne peut pas les modifier. Après le correctif, un script contrôle tout, sans IA : tests verrouillés intacts, verts deux fois, non-régression gardée, couverture sans perte. Tout vert : commit. Sinon le test-guardian reprend dans sa session ; une régression renvoie au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matin, /daily est lancé tout seul à l'heure choisie et donne le point : sprint, reviews, MR et pipelines. Le développeur lance /go sur son ticket. S'il y a des questions (un ticket ambigu, pas de projet de tests), elles arrivent toutes au début, en un seul QCM, puis il peut partir. Les agents analysent, codent étape par étape, prouvent, se relisent et poussent une MR en Draft. Un clic sur /fix dans les choix proposés à la fin : /fix attend la fin de la CI, corrige ce que Sonar, Fortify ou les jobs remontent, et met la MR à jour. Pourquoi 32 minutes : /fix regarde le statut du pipeline toutes les 4 minutes, 8 fois au plus ; ces pauses évitent d'interroger GitLab en boucle et laissent le développeur cliquer sur /fix tout de suite après /go. Si la CI tourne encore au bout de 32 minutes, /fix traite ce qui est fini et propose de le relancer ; la consigne « sans attendre » saute cette attente. Le développeur relit ensuite la MR comme celle d'un collègue ; après des commentaires, /fix à nouveau, qui prépare aussi les réponses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un lot de 5 failles dans le temps, de gauche à droite. Chaque barre est un agent ou un script au travail. Sélection : le pilote prend dans Fortify les failles Critical et High de l'application du dépôt, 5 au plus, la même catégorie d'abord : un seul type de correctif par MR. Analyse : trois analysts en même temps, un par faille, chacun écrit la carte de sa faille ; pendant ce temps, develop est buildé et testé, pour savoir quels tests étaient déjà rouges avant le lot. Puis les deux dernières analyses. Preuves : jusqu'à trois test-guardians en même temps, sur des fichiers qui ne se recoupent pas ; chacun pose les tests de non-régression et le test rouge de sa faille. Correctifs : un par un, parce qu'un seul build tourne à la fois dans le dossier, et pour que chaque commit ne contienne qu'un correctif et ses tests. Après chaque correctif, le contrôle automatique, puis le commit. Puis la vague suivante. À la fin, tous les tests et la relecture du checker en même temps, puis la MR en Draft. Le développeur n'intervient qu'au début, si le dépôt n'a pas de projet de tests unitaires, et à la relecture. Une faille dans du code front-end n'entre pas dans le lot : sa preuve serait un test front, et la MR propose /go sans ticket pour 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chaque faille, l'analyst écrit une carte : ce qui est exploitable et par quel chemin, son verdict, le plus petit correctif, le module autour et les méthodes à protéger. Un faux positif probable n'est pas corrigé : la carte et ses arguments vont dans la MR, et c'est le développeur qui le déclare dans Fortify SSC, jamais l'agent. Sinon, le test-guardian pose les tests de non-régression des méthodes touchées, puis le test de la faille. Rouge : la faille est démontrée ; les tests sont verrouillés, le coder fait le plus petit correctif sans y toucher, le contrôle automatique vérifie, et c'est un commit fix(security), un par faille. Vert d'emblée : le code résiste déjà à l'entrée hostile ; le test est gardé comme preuve, dans un commit test(security). Quand aucun test unitaire ne peut montrer la faille (une configuration, un réglage du framework), le correctif passe sous la seule non-régression, et la MR le dit. Un correctif qui échoue deux fois est mis de côté dans git stash, récupérable, et le lot continue : une faille ne bloque jamais les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choses concrètes. Prouvée : chaque faille corrigée a un test qui la reproduit, rouge avant le correctif et vert après, deux fois chacun ; le scan Fortify de la CI confirme ensuite. Sans régression : avant de toucher au code, au moins 80 % des lignes des méthodes touchées sont couvertes par des tests du comportement actuel ; après, la couverture ne baisse jamais. Argumentée : un faux positif ou un code qui résiste déjà est montré par la carte ou par un test, et c'est toi qui le déclares dans SSC. Relisible : cinq failles au plus, de la même catégorie, un commit par faille, un tableau par faille dans la MR ; on peut revenir sur une faille sans toucher aux autres. Plus rapide : les analyses, le build de develop et les preuves avancent en même temps ; le développeur lance une commande et relit une MR. Robuste : une faille qui échoue est mise de côté, récupérable, et le lot continue ; un run interrompu reprend où il s'était arrêté, depuis les cartes. Et toujours en lecture seule sur Fortify : aucune faille n'est masquée ou commentée par un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temps. Préparer : la branche, l'analyse du ticket en une fiche, et en parallèle le build et les tests de develop : develop doit compiler, et ses tests déjà rouges sont notés pour ne jamais être mis sur le dos du ticket. Coder : une étape à la fois, chacune prouvée avant son commit. Livrer : tous les tests et la relecture en même temps, les corrections, le contrôle avant push, la MR en Draft. En dessous, ce qui arrête le run à chaque temps, avec sa raison dans la fiche : la commande reprend là où elle s'est arrêtée.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pilote lit l'état git (un fetch) et crée la branche du ticket. Ensuite, deux choses en même temps : l'analyst lit le ticket Jira, ses pages Confluence et le code, et écrit la fiche (critères d'acceptation, plan de 2 à 7 étapes, tests attendus, décisions) ; pendant ce temps, develop est buildé et testé. Si develop ne compile pas, si ses tests ne tiennent pas dans le temps d'une commande sur ce poste, ou si le poste n'a pas le bon SDK ou n'atteint pas Artifactory, on s'arrête ici, avec ce qu'il faut régler : ce n'est pas au ticket de le corriger. Les questions bloquantes arrivent toutes ensemble dans un QCM ; avec la consigne « sans question », les agents prennent les réponses recommandées et les notent « à valider en review ». Ce qui repart tout seul : un fetch coupé (après 3 s puis 10 s), un appel Jira en erreur serveur (un rappel après 20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un bug, le test-guardian écrit d'abord le test qui le montre, rouge sur le code actuel. Pour une étape qui modifie du code existant, il pose d'abord les tests de non-régression : au moins 80 % des lignes touchées couvertes par des tests du comportement actuel. Ces tests sont verrouillés : le coder ne peut pas les modifier. Pour du code nouveau, le coder écrit le code et ses tests directement. Le coder fait l'étape et ses tests, jusqu'au vert. Puis le contrôle automatique, un script sans IA : tests verrouillés intacts, verts deux fois, non-régression gardée, couverture sans perte. Tout vert : commit de l'étape. Pas vert : le test-guardian reprend dans sa session. Un échec du coder : le debugger cherche la cause, puis un 2e essai ; encore en échec, le run s'arrête avec la raison dans la fiche, et /go reprend là. Si le serveur du modèle coupe un agent, il est repris une fois dans sa session, avec ce qu'il avait déjà 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fois le plan fini : tous les tests (build, tous les tests du dépôt, la couverture des lignes modifiées, le front touché) et la relecture du checker, en même temps. Un test rouge est rejoué une fois : s'il passe alors, il est signalé instable dans la MR, jamais caché. Les points bloquants et majeurs de la relecture sont corrigés, en deux tours au plus. Puis le contrôle avant push, un script sans IA : develop fusionné, aucun secret, aucun marqueur de conflit, aucun paquet payant, aucune sortie de build ; puis le push. Une coupure réseau est relancée après 3 puis 10 s ; si la branche a bougé sur GitLab entre-temps, ses commits sont ramenés et le push repart. Un secret ou un conflit : rien n'est poussé. Enfin la MR en Draft, avec ses décisions, ses tests et leur couverture, et les choix proposés pour la suite, /fix en tête.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Quatre situations. Un changement à livrer sans ticket : /go sans ticket, suivi de ce qu'il faut faire, quoi, où et pourquoi. Le texte remplace le ticket pour l'analyst, aucun appel à Jira ; la clé est LOCAL-1, LOCAL-2…, et tout le reste est le /go habituel : plan, étapes prouvées, relecture, MR en Draft marquée « Sans ticket Jira ». /go sans clé propose aussi, dans son QCM, les tickets du sprint ou « Sans ticket ». Un problème à comprendre : on enquête d'abord dans la conversation, avec le debugger pour un échec ; rien n'est modifié. Si un correctif est nécessaire, le choix proposé est /go sans ticket, et les conclusions de l'enquête (la cause, les fichiers, un test qui reproduit) passent directement à l'analyst. Une petite modification, une doc, un POC : dans la conversation, avec le build et les tests, puis /push, qui propose en un QCM la branche, le message de commit et la MR, et passe par le même contrôle avant push. Des tests sur du code existant : /tests, sur une branche test/…, puis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tour : la MR, le pipeline de ce push, les projets Sonar et Fortify, en lecture ; un appel en erreur serveur ou sans réponse est rappelé une fois après 20 s. Si la CI tourne encore, /fix attend : une pause de 4 minutes, puis le statut du pipeline seul, 8 fois au plus, soit 32 minutes. Ces pauses évitent d'interroger GitLab en boucle et permettent de cliquer sur /fix juste après /go. Au-delà, /fix traite ce qui est fini, marque les jobs encore en cours et propose de le relancer ; « sans attendre » saute l'attente. Puis le tri : à corriger, à répondre, hors périmètre. Un job tombé pour une raison d'infrastructure (runner, réseau, délai) se relance dans GitLab, jamais par un correctif. Les failles et les bugs passent par la non-régression et la preuve, trois au plus par run ; les autres points par le coder, par groupes de fichiers. Puis tous les tests et la relecture, le contrôle avant push, la MR mise à jour, et les réponses aux discussions, prêtes à coller.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donne un fichier ou une classe, ou rien pour avoir le menu des fichiers sans tests. Un script relève les faits : les projets de tests, bUnit pour les pages Blazor, le travail non commité. S'il manque quelque chose, un seul QCM : créer le projet de tests, ajouter bUnit, commiter d'abord son travail. Puis le test-guardian : la couverture avant, les tests du comportement actuel dans le style du dépôt, verts deux fois et vérifiés par un script (une assertion par test, rien d'ignoré, pas d'horloge réelle), la couverture après. Un test qui révèle un bug est écarté et signalé, jamais corrigé au passage. Puis un commit test(...) avec la couverture avant et après, et /push proposé ensuite. Deux variantes : /tests api pour les endpoints d'une API (la factory d'abord, un scénario vert, puis les autres), et /tests env pour vérifier un déploiement en lecture seule, jamais la production ; un environnement qui répond 503 le temps de redémarrer est redemandé après 3 puis 10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familles. Ce qui repart tout seul : une coupure du VPN pendant un fetch ou un push, un Artifactory ou un registre npm qui redémarre, un git status de Rider qui tient l'index au moment du commit, un appel Jira ou GitLab en erreur serveur, le serveur du modèle qui tombe quelques minutes. Chaque nouvel essai tient dans le temps de la commande, et une ligne le dit dans la sortie. Ce qui est borné : rien n'attend sans limite, et un script qui atteint sa borne dit ce qui a tourné avant de s'arrêter. Ce qui n'est jamais relancé : tout ce qui échouerait pareil. En particulier un test n'est jamais relancé pour passer au vert : instable, il reste un défaut. Après les essais, un message dit quoi régler, hors d'OpenCode.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 valide ? Le développeur, toujours : les agents ouvrent une MR en Draft, ne mergent jamais et ne poussent jamais sur develop, main ou master. Et si un correctif casse autre chose ? Les tests de non-régression sont posés avant de toucher au code, tous les tests tournent avant le push, la relecture du checker vérifie les critères du ticket, et un test rouge n'est jamais relancé jusqu'à passer. L'IA voit-elle nos secrets ? Non : nuget.config, fichiers .env, identifiants git, ~/.zshenv sont refusés à tous les agents, comme toute commande qui afficherait l'environnement ; pas de recherche ni de page web ; Jira, Confluence et Fortify en lecture seule. Et si l'IA tourne en rond ? Une réponse qui se répète est coupée, un même appel répété trois fois est refusé, chaque agent a un nombre d'étapes borné ; au-delà, l'arrêt dit pourquoi. Le poste est-il bloqué ? Rien n'attend sans limite ; pendant un run, le développeur travaille ailleurs, par exemple dans un autre espace de travail. Et si ça s'arrête au milieu ? Tout est gardé : la fiche du ticket, les commits, le travail mis de côté ; relancer la commande reprend à la première étape non faite. Et les skills trouvés sur Internet ? OpenCode charge d'office les skills de ~/.claude/skills, de ~/.agents/skills et des dossiers .claude, .agents et .opencode du projet et de ses dossiers parents : ils sont retirés. Seuls nos skills, relus et versionnés dans le dépôt de notre configuration, et les patterns de l'équipe sont chargés ; un skill utile, même publié par Microsoft, est d'abord relu et réécrit chez nous. Et une longue session ? Quand une requête approche de la taille que le modèle accepte, les plus anciennes sorties d'outils (un fichier lu, un build) sont effacées des requêtes, jamais les rapports des agents ; le modèle relit un fichier s'il en a besoin, et le résumé du contexte, plus long et qui garde moins, arrive plus tard ou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vous, quatre choses. Le développeur n'intervient qu'au début, s'il y a des questions, et à la review de la MR. Chaque preuve tourne deux fois, et un test instable est un défaut, pas un aléa. Avec /fortify, chaque faille a son commit et sa preuve, cinq failles au plus par MR. Enfin rien n'attend sans limite : ce qui coince un instant repart seul, le reste s'arrête avec un message qui dit quoi faire. Le détail de chaque flux, avec les chiffres, est dans la carte des flux du dépôt.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rgbClr val="1F293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rtlCol="0"/>
          <a:lstStyle>
            <a:lvl1pPr algn="l" indent="0" marL="0">
              <a:buNone/>
              <a:defRPr lang="en-US" sz="4400" b="1" dirty="0">
                <a:solidFill>
                  <a:srgbClr val="FFFFFF"/>
                </a:solidFill>
                <a:latin typeface="Calibri" pitchFamily="34" charset="0"/>
                <a:ea typeface="Calibri" pitchFamily="34" charset="-122"/>
                <a:cs typeface="Calibri" pitchFamily="34" charset="-120"/>
              </a:defRPr>
            </a:lvl1pPr>
          </a:lstStyle>
          <a:p>
            <a:pPr algn="l" indent="0" marL="0">
              <a:buNone/>
            </a:pP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rtlCol="0"/>
          <a:lstStyle>
            <a:lvl1pPr algn="l" indent="0" marL="0">
              <a:buNone/>
              <a:defRPr lang="en-US" sz="2000" dirty="0">
                <a:solidFill>
                  <a:srgbClr val="C9D2DC"/>
                </a:solidFill>
                <a:latin typeface="Calibri" pitchFamily="34" charset="0"/>
                <a:ea typeface="Calibri" pitchFamily="34" charset="-122"/>
                <a:cs typeface="Calibri" pitchFamily="34" charset="-120"/>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CHEMA">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4" name="Shape 0"/>
          <p:cNvSpPr/>
          <p:nvPr/>
        </p:nvSpPr>
        <p:spPr>
          <a:xfrm>
            <a:off x="457200" y="6437376"/>
            <a:ext cx="274320" cy="164592"/>
          </a:xfrm>
          <a:prstGeom prst="rect">
            <a:avLst/>
          </a:prstGeom>
          <a:solidFill>
            <a:srgbClr val="E4EEF8"/>
          </a:solidFill>
          <a:ln w="12700">
            <a:solidFill>
              <a:srgbClr val="2E6DA4"/>
            </a:solidFill>
            <a:prstDash val="solid"/>
          </a:ln>
        </p:spPr>
      </p:sp>
      <p:sp>
        <p:nvSpPr>
          <p:cNvPr id="5" name="Text 1"/>
          <p:cNvSpPr/>
          <p:nvPr/>
        </p:nvSpPr>
        <p:spPr>
          <a:xfrm>
            <a:off x="768096" y="6382512"/>
            <a:ext cx="715061"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 agent IA</a:t>
            </a:r>
            <a:endParaRPr lang="en-US" sz="1000" dirty="0"/>
          </a:p>
        </p:txBody>
      </p:sp>
      <p:sp>
        <p:nvSpPr>
          <p:cNvPr id="6" name="Shape 2"/>
          <p:cNvSpPr/>
          <p:nvPr/>
        </p:nvSpPr>
        <p:spPr>
          <a:xfrm>
            <a:off x="1611173" y="6437376"/>
            <a:ext cx="274320" cy="164592"/>
          </a:xfrm>
          <a:prstGeom prst="rect">
            <a:avLst/>
          </a:prstGeom>
          <a:solidFill>
            <a:srgbClr val="F4F5F7"/>
          </a:solidFill>
          <a:ln w="12700">
            <a:solidFill>
              <a:srgbClr val="7A828C"/>
            </a:solidFill>
            <a:prstDash val="solid"/>
          </a:ln>
        </p:spPr>
      </p:sp>
      <p:sp>
        <p:nvSpPr>
          <p:cNvPr id="7" name="Text 3"/>
          <p:cNvSpPr/>
          <p:nvPr/>
        </p:nvSpPr>
        <p:spPr>
          <a:xfrm>
            <a:off x="1922069"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une étape automatique</a:t>
            </a:r>
            <a:endParaRPr lang="en-US" sz="1000" dirty="0"/>
          </a:p>
        </p:txBody>
      </p:sp>
      <p:sp>
        <p:nvSpPr>
          <p:cNvPr id="8" name="Shape 4"/>
          <p:cNvSpPr/>
          <p:nvPr/>
        </p:nvSpPr>
        <p:spPr>
          <a:xfrm>
            <a:off x="3332074" y="6437376"/>
            <a:ext cx="274320" cy="164592"/>
          </a:xfrm>
          <a:prstGeom prst="rect">
            <a:avLst/>
          </a:prstGeom>
          <a:solidFill>
            <a:srgbClr val="F1E9F7"/>
          </a:solidFill>
          <a:ln w="12700">
            <a:solidFill>
              <a:srgbClr val="7B4F96"/>
            </a:solidFill>
            <a:prstDash val="solid"/>
          </a:ln>
        </p:spPr>
      </p:sp>
      <p:sp>
        <p:nvSpPr>
          <p:cNvPr id="9" name="Text 5"/>
          <p:cNvSpPr/>
          <p:nvPr/>
        </p:nvSpPr>
        <p:spPr>
          <a:xfrm>
            <a:off x="3642970" y="6382512"/>
            <a:ext cx="88513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le développeur</a:t>
            </a:r>
            <a:endParaRPr lang="en-US" sz="1000" dirty="0"/>
          </a:p>
        </p:txBody>
      </p:sp>
      <p:sp>
        <p:nvSpPr>
          <p:cNvPr id="10" name="Shape 6"/>
          <p:cNvSpPr/>
          <p:nvPr/>
        </p:nvSpPr>
        <p:spPr>
          <a:xfrm>
            <a:off x="4656125" y="6437376"/>
            <a:ext cx="274320" cy="164592"/>
          </a:xfrm>
          <a:prstGeom prst="rect">
            <a:avLst/>
          </a:prstGeom>
          <a:solidFill>
            <a:srgbClr val="E3F2E7"/>
          </a:solidFill>
          <a:ln w="12700">
            <a:solidFill>
              <a:srgbClr val="2F7D4F"/>
            </a:solidFill>
            <a:prstDash val="solid"/>
          </a:ln>
        </p:spPr>
      </p:sp>
      <p:sp>
        <p:nvSpPr>
          <p:cNvPr id="11" name="Text 7"/>
          <p:cNvSpPr/>
          <p:nvPr/>
        </p:nvSpPr>
        <p:spPr>
          <a:xfrm>
            <a:off x="4967021" y="6382512"/>
            <a:ext cx="374904"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livré</a:t>
            </a:r>
            <a:endParaRPr lang="en-US" sz="1000" dirty="0"/>
          </a:p>
        </p:txBody>
      </p:sp>
      <p:sp>
        <p:nvSpPr>
          <p:cNvPr id="12" name="Shape 8"/>
          <p:cNvSpPr/>
          <p:nvPr/>
        </p:nvSpPr>
        <p:spPr>
          <a:xfrm>
            <a:off x="5469941" y="6437376"/>
            <a:ext cx="274320" cy="164592"/>
          </a:xfrm>
          <a:prstGeom prst="rect">
            <a:avLst/>
          </a:prstGeom>
          <a:solidFill>
            <a:srgbClr val="FBE6E3"/>
          </a:solidFill>
          <a:ln w="12700">
            <a:solidFill>
              <a:srgbClr val="B23A30"/>
            </a:solidFill>
            <a:prstDash val="solid"/>
          </a:ln>
        </p:spPr>
      </p:sp>
      <p:sp>
        <p:nvSpPr>
          <p:cNvPr id="13" name="Text 9"/>
          <p:cNvSpPr/>
          <p:nvPr/>
        </p:nvSpPr>
        <p:spPr>
          <a:xfrm>
            <a:off x="5780837"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arrêt, avec sa raison</a:t>
            </a:r>
            <a:endParaRPr lang="en-US" sz="1000" dirty="0"/>
          </a:p>
        </p:txBody>
      </p:sp>
      <p:sp>
        <p:nvSpPr>
          <p:cNvPr id="14" name="Shape 10"/>
          <p:cNvSpPr/>
          <p:nvPr/>
        </p:nvSpPr>
        <p:spPr>
          <a:xfrm>
            <a:off x="7190842" y="6437376"/>
            <a:ext cx="274320" cy="164592"/>
          </a:xfrm>
          <a:prstGeom prst="rect">
            <a:avLst/>
          </a:prstGeom>
          <a:solidFill>
            <a:srgbClr val="FDF0D5"/>
          </a:solidFill>
          <a:ln w="12700">
            <a:solidFill>
              <a:srgbClr val="B7791F"/>
            </a:solidFill>
            <a:prstDash val="solid"/>
          </a:ln>
        </p:spPr>
      </p:sp>
      <p:sp>
        <p:nvSpPr>
          <p:cNvPr id="15" name="Text 11"/>
          <p:cNvSpPr/>
          <p:nvPr/>
        </p:nvSpPr>
        <p:spPr>
          <a:xfrm>
            <a:off x="7501738" y="6382512"/>
            <a:ext cx="1168603"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relancé tout seul</a:t>
            </a:r>
            <a:endParaRPr lang="en-US" sz="1000" dirty="0"/>
          </a:p>
        </p:txBody>
      </p:sp>
      <p:sp>
        <p:nvSpPr>
          <p:cNvPr id="16" name="Shape 12"/>
          <p:cNvSpPr/>
          <p:nvPr/>
        </p:nvSpPr>
        <p:spPr>
          <a:xfrm>
            <a:off x="8798357" y="6437376"/>
            <a:ext cx="274320" cy="164592"/>
          </a:xfrm>
          <a:prstGeom prst="rect">
            <a:avLst/>
          </a:prstGeom>
          <a:solidFill>
            <a:srgbClr val="EEF1F6"/>
          </a:solidFill>
          <a:ln w="12700">
            <a:solidFill>
              <a:srgbClr val="4A5B78"/>
            </a:solidFill>
            <a:prstDash val="dash"/>
          </a:ln>
        </p:spPr>
      </p:sp>
      <p:sp>
        <p:nvSpPr>
          <p:cNvPr id="17" name="Text 13"/>
          <p:cNvSpPr/>
          <p:nvPr/>
        </p:nvSpPr>
        <p:spPr>
          <a:xfrm>
            <a:off x="9109253" y="6382512"/>
            <a:ext cx="1281989" cy="274320"/>
          </a:xfrm>
          <a:prstGeom prst="rect">
            <a:avLst/>
          </a:prstGeom>
          <a:noFill/>
          <a:ln/>
        </p:spPr>
        <p:txBody>
          <a:bodyPr wrap="square" lIns="0" tIns="0" rIns="0" bIns="0" rtlCol="0" anchor="ctr"/>
          <a:lstStyle/>
          <a:p>
            <a:pPr indent="0" marL="0">
              <a:buNone/>
            </a:pPr>
            <a:r>
              <a:rPr lang="en-US" sz="1000" dirty="0">
                <a:solidFill>
                  <a:srgbClr val="5B6470"/>
                </a:solidFill>
                <a:latin typeface="Calibri" pitchFamily="34" charset="0"/>
                <a:ea typeface="Calibri" pitchFamily="34" charset="-122"/>
                <a:cs typeface="Calibri" pitchFamily="34" charset="-120"/>
              </a:rPr>
              <a:t>≤ borné dans le temps</a:t>
            </a:r>
            <a:endParaRPr lang="en-US" sz="10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EXT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rtlCol="0"/>
          <a:lstStyle>
            <a:lvl1pPr algn="l" indent="0" marL="0">
              <a:buNone/>
              <a:defRPr lang="en-US" sz="3000" b="1" dirty="0">
                <a:solidFill>
                  <a:srgbClr val="1F2933"/>
                </a:solidFill>
                <a:latin typeface="Calibri" pitchFamily="34" charset="0"/>
                <a:ea typeface="Calibri" pitchFamily="34" charset="-122"/>
                <a:cs typeface="Calibri" pitchFamily="34" charset="-120"/>
              </a:defRPr>
            </a:lvl1pPr>
          </a:lstStyle>
          <a:p>
            <a:pPr algn="l" indent="0" marL="0">
              <a:buNone/>
            </a:pP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rtlCol="0"/>
          <a:lstStyle>
            <a:lvl1pPr algn="l" indent="0" marL="0">
              <a:buNone/>
              <a:defRPr lang="en-US" sz="1500" dirty="0">
                <a:solidFill>
                  <a:srgbClr val="5B6470"/>
                </a:solidFill>
                <a:latin typeface="Calibri" pitchFamily="34" charset="0"/>
                <a:ea typeface="Calibri" pitchFamily="34" charset="-122"/>
                <a:cs typeface="Calibri" pitchFamily="34" charset="-120"/>
              </a:defRPr>
            </a:lvl1pPr>
          </a:lstStyle>
          <a:p>
            <a:pPr algn="l" indent="0" marL="0">
              <a:buNone/>
            </a:pPr>
            <a:endParaRPr lang="en-US" sz="15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r>
              <a:rPr lang="en-US" sz="4400" b="1" dirty="0">
                <a:solidFill>
                  <a:srgbClr val="FFFFFF"/>
                </a:solidFill>
                <a:latin typeface="Calibri" pitchFamily="34" charset="0"/>
                <a:ea typeface="Calibri" pitchFamily="34" charset="-122"/>
                <a:cs typeface="Calibri" pitchFamily="34" charset="-120"/>
              </a:rPr>
              <a:t>Du ticket à la merge request</a:t>
            </a:r>
            <a:endParaRPr lang="en-US" sz="4400" dirty="0"/>
          </a:p>
        </p:txBody>
      </p:sp>
      <p:sp>
        <p:nvSpPr>
          <p:cNvPr id="3"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r>
              <a:rPr lang="en-US" sz="2000" dirty="0">
                <a:solidFill>
                  <a:srgbClr val="C9D2DC"/>
                </a:solidFill>
                <a:latin typeface="Calibri" pitchFamily="34" charset="0"/>
                <a:ea typeface="Calibri" pitchFamily="34" charset="-122"/>
                <a:cs typeface="Calibri" pitchFamily="34" charset="-120"/>
              </a:rPr>
              <a:t>Les flux des agents OpenCode : /fortify, /go, /fix, /tests, le travail sans ticket, et ce qui se passe quand ça coince</a:t>
            </a:r>
            <a:endParaRPr lang="en-US" sz="2000" dirty="0"/>
          </a:p>
        </p:txBody>
      </p:sp>
      <p:sp>
        <p:nvSpPr>
          <p:cNvPr id="4" name="chip-/fortify"/>
          <p:cNvSpPr/>
          <p:nvPr/>
        </p:nvSpPr>
        <p:spPr>
          <a:xfrm>
            <a:off x="731520" y="4846320"/>
            <a:ext cx="1463040" cy="502920"/>
          </a:xfrm>
          <a:prstGeom prst="roundRect">
            <a:avLst>
              <a:gd name="adj" fmla="val 18182"/>
            </a:avLst>
          </a:prstGeom>
          <a:solidFill>
            <a:srgbClr val="7A2E27"/>
          </a:solidFill>
          <a:ln w="12700">
            <a:solidFill>
              <a:srgbClr val="B23A30"/>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/fortify</a:t>
            </a:r>
            <a:endParaRPr lang="en-US" sz="1600" dirty="0"/>
          </a:p>
        </p:txBody>
      </p:sp>
      <p:sp>
        <p:nvSpPr>
          <p:cNvPr id="5" name="chip-/go"/>
          <p:cNvSpPr/>
          <p:nvPr/>
        </p:nvSpPr>
        <p:spPr>
          <a:xfrm>
            <a:off x="242316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/go</a:t>
            </a:r>
            <a:endParaRPr lang="en-US" sz="1600" dirty="0"/>
          </a:p>
        </p:txBody>
      </p:sp>
      <p:sp>
        <p:nvSpPr>
          <p:cNvPr id="6" name="chip-/fix"/>
          <p:cNvSpPr/>
          <p:nvPr/>
        </p:nvSpPr>
        <p:spPr>
          <a:xfrm>
            <a:off x="3749040" y="4846320"/>
            <a:ext cx="109728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/fix</a:t>
            </a:r>
            <a:endParaRPr lang="en-US" sz="1600" dirty="0"/>
          </a:p>
        </p:txBody>
      </p:sp>
      <p:sp>
        <p:nvSpPr>
          <p:cNvPr id="7" name="chip-/tests"/>
          <p:cNvSpPr/>
          <p:nvPr/>
        </p:nvSpPr>
        <p:spPr>
          <a:xfrm>
            <a:off x="5074920" y="4846320"/>
            <a:ext cx="12801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/tests</a:t>
            </a:r>
            <a:endParaRPr lang="en-US" sz="1600" dirty="0"/>
          </a:p>
        </p:txBody>
      </p:sp>
      <p:sp>
        <p:nvSpPr>
          <p:cNvPr id="8" name="chip-sans ticket"/>
          <p:cNvSpPr/>
          <p:nvPr/>
        </p:nvSpPr>
        <p:spPr>
          <a:xfrm>
            <a:off x="6583680" y="4846320"/>
            <a:ext cx="1737360" cy="502920"/>
          </a:xfrm>
          <a:prstGeom prst="roundRect">
            <a:avLst>
              <a:gd name="adj" fmla="val 18182"/>
            </a:avLst>
          </a:prstGeom>
          <a:solidFill>
            <a:srgbClr val="2B3743"/>
          </a:solidFill>
          <a:ln w="12700">
            <a:solidFill>
              <a:srgbClr val="52606D"/>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sans ticket</a:t>
            </a:r>
            <a:endParaRPr lang="en-US" sz="1600" dirty="0"/>
          </a:p>
        </p:txBody>
      </p:sp>
      <p:sp>
        <p:nvSpPr>
          <p:cNvPr id="9" name="date"/>
          <p:cNvSpPr txBox="1"/>
          <p:nvPr/>
        </p:nvSpPr>
        <p:spPr>
          <a:xfrm>
            <a:off x="731520" y="5989320"/>
            <a:ext cx="731520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OpenCode v2 · Qwen 3.8 · octobre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Qui fait quoi</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agents écrivent et décident ; des scripts mesurent et contrôlent ; le développeur valide.</a:t>
            </a:r>
            <a:endParaRPr lang="en-US" sz="1500" dirty="0"/>
          </a:p>
        </p:txBody>
      </p:sp>
      <p:sp>
        <p:nvSpPr>
          <p:cNvPr id="5" name="card-Le développeur"/>
          <p:cNvSpPr/>
          <p:nvPr/>
        </p:nvSpPr>
        <p:spPr>
          <a:xfrm>
            <a:off x="457200" y="1508760"/>
            <a:ext cx="3383280" cy="3931920"/>
          </a:xfrm>
          <a:prstGeom prst="roundRect">
            <a:avLst>
              <a:gd name="adj" fmla="val 2703"/>
            </a:avLst>
          </a:prstGeom>
          <a:solidFill>
            <a:srgbClr val="F1E9F7"/>
          </a:solidFill>
          <a:ln w="15875">
            <a:solidFill>
              <a:srgbClr val="7B4F96"/>
            </a:solidFill>
            <a:prstDash val="solid"/>
          </a:ln>
        </p:spPr>
      </p:sp>
      <p:sp>
        <p:nvSpPr>
          <p:cNvPr id="6" name="card-head-Le développeur"/>
          <p:cNvSpPr txBox="1"/>
          <p:nvPr/>
        </p:nvSpPr>
        <p:spPr>
          <a:xfrm>
            <a:off x="658368" y="1636776"/>
            <a:ext cx="298094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 développeur</a:t>
            </a:r>
            <a:endParaRPr lang="en-US" sz="1900" dirty="0"/>
          </a:p>
        </p:txBody>
      </p:sp>
      <p:sp>
        <p:nvSpPr>
          <p:cNvPr id="7" name="item-Le développeur-0"/>
          <p:cNvSpPr/>
          <p:nvPr/>
        </p:nvSpPr>
        <p:spPr>
          <a:xfrm>
            <a:off x="621792" y="2221992"/>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Lance une commande</a:t>
            </a:r>
            <a:endParaRPr lang="en-US" sz="1400" dirty="0"/>
          </a:p>
        </p:txBody>
      </p:sp>
      <p:sp>
        <p:nvSpPr>
          <p:cNvPr id="8" name="item-Le développeur-1"/>
          <p:cNvSpPr/>
          <p:nvPr/>
        </p:nvSpPr>
        <p:spPr>
          <a:xfrm>
            <a:off x="621792" y="2752344"/>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Répond au QCM du début</a:t>
            </a:r>
            <a:endParaRPr lang="en-US" sz="1400" dirty="0"/>
          </a:p>
        </p:txBody>
      </p:sp>
      <p:sp>
        <p:nvSpPr>
          <p:cNvPr id="9" name="item-Le développeur-2"/>
          <p:cNvSpPr/>
          <p:nvPr/>
        </p:nvSpPr>
        <p:spPr>
          <a:xfrm>
            <a:off x="621792" y="3282696"/>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Relit la MR en Draft</a:t>
            </a:r>
            <a:endParaRPr lang="en-US" sz="1400" dirty="0"/>
          </a:p>
        </p:txBody>
      </p:sp>
      <p:sp>
        <p:nvSpPr>
          <p:cNvPr id="10" name="item-Le développeur-3"/>
          <p:cNvSpPr/>
          <p:nvPr/>
        </p:nvSpPr>
        <p:spPr>
          <a:xfrm>
            <a:off x="621792" y="3813048"/>
            <a:ext cx="3054096" cy="420624"/>
          </a:xfrm>
          <a:prstGeom prst="roundRect">
            <a:avLst>
              <a:gd name="adj" fmla="val 13043"/>
            </a:avLst>
          </a:prstGeom>
          <a:solidFill>
            <a:srgbClr val="FFFFFF"/>
          </a:solidFill>
          <a:ln w="9525">
            <a:solidFill>
              <a:srgbClr val="7B4F96"/>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Merge, comme d'habitude</a:t>
            </a:r>
            <a:endParaRPr lang="en-US" sz="1400" dirty="0"/>
          </a:p>
        </p:txBody>
      </p:sp>
      <p:sp>
        <p:nvSpPr>
          <p:cNvPr id="11" name="card-Les agents IA"/>
          <p:cNvSpPr/>
          <p:nvPr/>
        </p:nvSpPr>
        <p:spPr>
          <a:xfrm>
            <a:off x="4069080" y="1508760"/>
            <a:ext cx="3977640" cy="3931920"/>
          </a:xfrm>
          <a:prstGeom prst="roundRect">
            <a:avLst>
              <a:gd name="adj" fmla="val 2326"/>
            </a:avLst>
          </a:prstGeom>
          <a:solidFill>
            <a:srgbClr val="E4EEF8"/>
          </a:solidFill>
          <a:ln w="15875">
            <a:solidFill>
              <a:srgbClr val="2E6DA4"/>
            </a:solidFill>
            <a:prstDash val="solid"/>
          </a:ln>
        </p:spPr>
      </p:sp>
      <p:sp>
        <p:nvSpPr>
          <p:cNvPr id="12" name="card-head-Les agents IA"/>
          <p:cNvSpPr txBox="1"/>
          <p:nvPr/>
        </p:nvSpPr>
        <p:spPr>
          <a:xfrm>
            <a:off x="4270248" y="1636776"/>
            <a:ext cx="3575304"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agents IA</a:t>
            </a:r>
            <a:endParaRPr lang="en-US" sz="1900" dirty="0"/>
          </a:p>
        </p:txBody>
      </p:sp>
      <p:sp>
        <p:nvSpPr>
          <p:cNvPr id="13" name="item-Les agents IA-0"/>
          <p:cNvSpPr/>
          <p:nvPr/>
        </p:nvSpPr>
        <p:spPr>
          <a:xfrm>
            <a:off x="4233672" y="222199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pilot : suit la procédure</a:t>
            </a:r>
            <a:endParaRPr lang="en-US" sz="1400" dirty="0"/>
          </a:p>
        </p:txBody>
      </p:sp>
      <p:sp>
        <p:nvSpPr>
          <p:cNvPr id="14" name="item-Les agents IA-1"/>
          <p:cNvSpPr/>
          <p:nvPr/>
        </p:nvSpPr>
        <p:spPr>
          <a:xfrm>
            <a:off x="4233672" y="2752344"/>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analyst : ticket → fiche</a:t>
            </a:r>
            <a:endParaRPr lang="en-US" sz="1400" dirty="0"/>
          </a:p>
        </p:txBody>
      </p:sp>
      <p:sp>
        <p:nvSpPr>
          <p:cNvPr id="15" name="item-Les agents IA-2"/>
          <p:cNvSpPr/>
          <p:nvPr/>
        </p:nvSpPr>
        <p:spPr>
          <a:xfrm>
            <a:off x="4233672" y="3282696"/>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coder : code et ses tests</a:t>
            </a:r>
            <a:endParaRPr lang="en-US" sz="1400" dirty="0"/>
          </a:p>
        </p:txBody>
      </p:sp>
      <p:sp>
        <p:nvSpPr>
          <p:cNvPr id="16" name="item-Les agents IA-3"/>
          <p:cNvSpPr/>
          <p:nvPr/>
        </p:nvSpPr>
        <p:spPr>
          <a:xfrm>
            <a:off x="4233672" y="3813048"/>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test-guardian : tests, preuves</a:t>
            </a:r>
            <a:endParaRPr lang="en-US" sz="1400" dirty="0"/>
          </a:p>
        </p:txBody>
      </p:sp>
      <p:sp>
        <p:nvSpPr>
          <p:cNvPr id="17" name="item-Les agents IA-4"/>
          <p:cNvSpPr/>
          <p:nvPr/>
        </p:nvSpPr>
        <p:spPr>
          <a:xfrm>
            <a:off x="4233672" y="4343400"/>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checker : relecture</a:t>
            </a:r>
            <a:endParaRPr lang="en-US" sz="1400" dirty="0"/>
          </a:p>
        </p:txBody>
      </p:sp>
      <p:sp>
        <p:nvSpPr>
          <p:cNvPr id="18" name="item-Les agents IA-5"/>
          <p:cNvSpPr/>
          <p:nvPr/>
        </p:nvSpPr>
        <p:spPr>
          <a:xfrm>
            <a:off x="4233672" y="4873752"/>
            <a:ext cx="3648456" cy="420624"/>
          </a:xfrm>
          <a:prstGeom prst="roundRect">
            <a:avLst>
              <a:gd name="adj" fmla="val 13043"/>
            </a:avLst>
          </a:prstGeom>
          <a:solidFill>
            <a:srgbClr val="FFFFFF"/>
          </a:solidFill>
          <a:ln w="9525">
            <a:solidFill>
              <a:srgbClr val="2E6DA4"/>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debugger : cause d'un échec</a:t>
            </a:r>
            <a:endParaRPr lang="en-US" sz="1400" dirty="0"/>
          </a:p>
        </p:txBody>
      </p:sp>
      <p:sp>
        <p:nvSpPr>
          <p:cNvPr id="19" name="card-Les scripts, sans IA"/>
          <p:cNvSpPr/>
          <p:nvPr/>
        </p:nvSpPr>
        <p:spPr>
          <a:xfrm>
            <a:off x="8275320" y="1508760"/>
            <a:ext cx="3456432" cy="3931920"/>
          </a:xfrm>
          <a:prstGeom prst="roundRect">
            <a:avLst>
              <a:gd name="adj" fmla="val 2646"/>
            </a:avLst>
          </a:prstGeom>
          <a:solidFill>
            <a:srgbClr val="F4F5F7"/>
          </a:solidFill>
          <a:ln w="15875">
            <a:solidFill>
              <a:srgbClr val="7A828C"/>
            </a:solidFill>
            <a:prstDash val="solid"/>
          </a:ln>
        </p:spPr>
      </p:sp>
      <p:sp>
        <p:nvSpPr>
          <p:cNvPr id="20" name="card-head-Les scripts, sans IA"/>
          <p:cNvSpPr txBox="1"/>
          <p:nvPr/>
        </p:nvSpPr>
        <p:spPr>
          <a:xfrm>
            <a:off x="8476488" y="1636776"/>
            <a:ext cx="3054096" cy="457200"/>
          </a:xfrm>
          <a:prstGeom prst="rect">
            <a:avLst/>
          </a:prstGeom>
          <a:noFill/>
          <a:ln/>
        </p:spPr>
        <p:txBody>
          <a:bodyPr wrap="square" lIns="0" tIns="0" rIns="0" bIns="0" rtlCol="0" anchor="ctr"/>
          <a:lstStyle/>
          <a:p>
            <a:pPr indent="0" marL="0">
              <a:buNone/>
            </a:pPr>
            <a:r>
              <a:rPr lang="en-US" sz="1900" b="1" dirty="0">
                <a:solidFill>
                  <a:srgbClr val="1F2933"/>
                </a:solidFill>
                <a:latin typeface="Calibri" pitchFamily="34" charset="0"/>
                <a:ea typeface="Calibri" pitchFamily="34" charset="-122"/>
                <a:cs typeface="Calibri" pitchFamily="34" charset="-120"/>
              </a:rPr>
              <a:t>Les scripts, sans IA</a:t>
            </a:r>
            <a:endParaRPr lang="en-US" sz="1900" dirty="0"/>
          </a:p>
        </p:txBody>
      </p:sp>
      <p:sp>
        <p:nvSpPr>
          <p:cNvPr id="21" name="item-Les scripts, sans IA-0"/>
          <p:cNvSpPr/>
          <p:nvPr/>
        </p:nvSpPr>
        <p:spPr>
          <a:xfrm>
            <a:off x="8439912" y="2221992"/>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a:t>
            </a:r>
            <a:endParaRPr lang="en-US" sz="1400" dirty="0"/>
          </a:p>
        </p:txBody>
      </p:sp>
      <p:sp>
        <p:nvSpPr>
          <p:cNvPr id="22" name="item-Les scripts, sans IA-1"/>
          <p:cNvSpPr/>
          <p:nvPr/>
        </p:nvSpPr>
        <p:spPr>
          <a:xfrm>
            <a:off x="8439912" y="2752344"/>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Couverture, contrôles</a:t>
            </a:r>
            <a:endParaRPr lang="en-US" sz="1400" dirty="0"/>
          </a:p>
        </p:txBody>
      </p:sp>
      <p:sp>
        <p:nvSpPr>
          <p:cNvPr id="23" name="item-Les scripts, sans IA-2"/>
          <p:cNvSpPr/>
          <p:nvPr/>
        </p:nvSpPr>
        <p:spPr>
          <a:xfrm>
            <a:off x="8439912" y="3282696"/>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Contrôle avant push</a:t>
            </a:r>
            <a:endParaRPr lang="en-US" sz="1400" dirty="0"/>
          </a:p>
        </p:txBody>
      </p:sp>
      <p:sp>
        <p:nvSpPr>
          <p:cNvPr id="24" name="item-Les scripts, sans IA-3"/>
          <p:cNvSpPr/>
          <p:nvPr/>
        </p:nvSpPr>
        <p:spPr>
          <a:xfrm>
            <a:off x="8439912" y="3813048"/>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Branche, commit, push</a:t>
            </a:r>
            <a:endParaRPr lang="en-US" sz="1400" dirty="0"/>
          </a:p>
        </p:txBody>
      </p:sp>
      <p:sp>
        <p:nvSpPr>
          <p:cNvPr id="25" name="item-Les scripts, sans IA-4"/>
          <p:cNvSpPr/>
          <p:nvPr/>
        </p:nvSpPr>
        <p:spPr>
          <a:xfrm>
            <a:off x="8439912" y="4343400"/>
            <a:ext cx="3127248" cy="420624"/>
          </a:xfrm>
          <a:prstGeom prst="roundRect">
            <a:avLst>
              <a:gd name="adj" fmla="val 13043"/>
            </a:avLst>
          </a:prstGeom>
          <a:solidFill>
            <a:srgbClr val="FFFFFF"/>
          </a:solidFill>
          <a:ln w="9525">
            <a:solidFill>
              <a:srgbClr val="7A828C"/>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Bornes de temps, relances</a:t>
            </a:r>
            <a:endParaRPr lang="en-US" sz="1400" dirty="0"/>
          </a:p>
        </p:txBody>
      </p:sp>
      <p:sp>
        <p:nvSpPr>
          <p:cNvPr id="26" name="never"/>
          <p:cNvSpPr/>
          <p:nvPr/>
        </p:nvSpPr>
        <p:spPr>
          <a:xfrm>
            <a:off x="457200" y="5669280"/>
            <a:ext cx="11274552" cy="548640"/>
          </a:xfrm>
          <a:prstGeom prst="roundRect">
            <a:avLst>
              <a:gd name="adj" fmla="val 13333"/>
            </a:avLst>
          </a:prstGeom>
          <a:solidFill>
            <a:srgbClr val="FBE6E3"/>
          </a:solidFill>
          <a:ln w="15875">
            <a:solidFill>
              <a:srgbClr val="B23A30"/>
            </a:solidFill>
          </a:ln>
        </p:spPr>
        <p:txBody>
          <a:bodyPr wrap="square" lIns="0" tIns="0" rIns="0" bIns="0" rtlCol="0" anchor="ctr"/>
          <a:lstStyle/>
          <a:p>
            <a:pPr algn="ctr" indent="0" marL="0">
              <a:buNone/>
            </a:pPr>
            <a:r>
              <a:rPr lang="en-US" sz="1600" b="1" dirty="0">
                <a:solidFill>
                  <a:srgbClr val="B23A30"/>
                </a:solidFill>
                <a:latin typeface="Calibri" pitchFamily="34" charset="0"/>
                <a:ea typeface="Calibri" pitchFamily="34" charset="-122"/>
                <a:cs typeface="Calibri" pitchFamily="34" charset="-120"/>
              </a:rPr>
              <a:t>⛔  Jamais : </a:t>
            </a:r>
            <a:pPr algn="ctr" indent="0" marL="0">
              <a:buNone/>
            </a:pPr>
            <a:r>
              <a:rPr lang="en-US" sz="1600" dirty="0">
                <a:solidFill>
                  <a:srgbClr val="1F2933"/>
                </a:solidFill>
                <a:latin typeface="Calibri" pitchFamily="34" charset="0"/>
                <a:ea typeface="Calibri" pitchFamily="34" charset="-122"/>
                <a:cs typeface="Calibri" pitchFamily="34" charset="-120"/>
              </a:rPr>
              <a:t>push sur develop ou main · merge · écriture dans Jira ou Fortify · lecture des secrets</a:t>
            </a:r>
            <a:endParaRPr lang="en-US" sz="16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Non-régression et preuve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de corriger : protéger l'existant, puis reproduire le problème. Après : un contrôle automatique.</a:t>
            </a:r>
            <a:endParaRPr lang="en-US" sz="1500" dirty="0"/>
          </a:p>
        </p:txBody>
      </p:sp>
      <p:sp>
        <p:nvSpPr>
          <p:cNvPr id="5" name="group-1"/>
          <p:cNvSpPr/>
          <p:nvPr/>
        </p:nvSpPr>
        <p:spPr>
          <a:xfrm>
            <a:off x="457200" y="1508760"/>
            <a:ext cx="5349240" cy="4434840"/>
          </a:xfrm>
          <a:prstGeom prst="roundRect">
            <a:avLst>
              <a:gd name="adj" fmla="val 2062"/>
            </a:avLst>
          </a:prstGeom>
          <a:solidFill>
            <a:srgbClr val="FFFFFF">
              <a:alpha val="0"/>
            </a:srgbClr>
          </a:solidFill>
          <a:ln w="12700">
            <a:solidFill>
              <a:srgbClr val="A3AAB3"/>
            </a:solidFill>
            <a:prstDash val="dash"/>
          </a:ln>
        </p:spPr>
      </p:sp>
      <p:sp>
        <p:nvSpPr>
          <p:cNvPr id="6" name="group-label-2"/>
          <p:cNvSpPr txBox="1"/>
          <p:nvPr/>
        </p:nvSpPr>
        <p:spPr>
          <a:xfrm>
            <a:off x="566928" y="1545336"/>
            <a:ext cx="512978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avant le correctif · test-guardian</a:t>
            </a:r>
            <a:endParaRPr lang="en-US" sz="1050" dirty="0"/>
          </a:p>
        </p:txBody>
      </p:sp>
      <p:sp>
        <p:nvSpPr>
          <p:cNvPr id="7" name="group-3"/>
          <p:cNvSpPr/>
          <p:nvPr/>
        </p:nvSpPr>
        <p:spPr>
          <a:xfrm>
            <a:off x="6172200" y="1508760"/>
            <a:ext cx="5559552" cy="4434840"/>
          </a:xfrm>
          <a:prstGeom prst="roundRect">
            <a:avLst>
              <a:gd name="adj" fmla="val 2062"/>
            </a:avLst>
          </a:prstGeom>
          <a:solidFill>
            <a:srgbClr val="FFFFFF">
              <a:alpha val="0"/>
            </a:srgbClr>
          </a:solidFill>
          <a:ln w="12700">
            <a:solidFill>
              <a:srgbClr val="A3AAB3"/>
            </a:solidFill>
            <a:prstDash val="dash"/>
          </a:ln>
        </p:spPr>
      </p:sp>
      <p:sp>
        <p:nvSpPr>
          <p:cNvPr id="8" name="group-label-4"/>
          <p:cNvSpPr txBox="1"/>
          <p:nvPr/>
        </p:nvSpPr>
        <p:spPr>
          <a:xfrm>
            <a:off x="6281928" y="1545336"/>
            <a:ext cx="534009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après le correctif</a:t>
            </a:r>
            <a:endParaRPr lang="en-US" sz="1050" dirty="0"/>
          </a:p>
        </p:txBody>
      </p:sp>
      <p:sp>
        <p:nvSpPr>
          <p:cNvPr id="9" name="a"/>
          <p:cNvSpPr/>
          <p:nvPr/>
        </p:nvSpPr>
        <p:spPr>
          <a:xfrm>
            <a:off x="731520" y="1828800"/>
            <a:ext cx="228600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 mesurée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méthodes touchées</a:t>
            </a:r>
            <a:endParaRPr lang="en-US" sz="1300" dirty="0"/>
          </a:p>
        </p:txBody>
      </p:sp>
      <p:sp>
        <p:nvSpPr>
          <p:cNvPr id="10" name="b"/>
          <p:cNvSpPr/>
          <p:nvPr/>
        </p:nvSpPr>
        <p:spPr>
          <a:xfrm>
            <a:off x="1143000" y="2788920"/>
            <a:ext cx="1463040" cy="91440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 80 % ?</a:t>
            </a:r>
            <a:endParaRPr lang="en-US" sz="1200" dirty="0"/>
          </a:p>
        </p:txBody>
      </p:sp>
      <p:sp>
        <p:nvSpPr>
          <p:cNvPr id="11" name="c"/>
          <p:cNvSpPr/>
          <p:nvPr/>
        </p:nvSpPr>
        <p:spPr>
          <a:xfrm>
            <a:off x="3291840" y="283464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tests ajoutés, verts ×2</a:t>
            </a:r>
            <a:endParaRPr lang="en-US" sz="1300" dirty="0"/>
          </a:p>
        </p:txBody>
      </p:sp>
      <p:sp>
        <p:nvSpPr>
          <p:cNvPr id="12" name="d"/>
          <p:cNvSpPr/>
          <p:nvPr/>
        </p:nvSpPr>
        <p:spPr>
          <a:xfrm>
            <a:off x="731520" y="4023360"/>
            <a:ext cx="22860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du problème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rouge deux fois ?</a:t>
            </a:r>
            <a:endParaRPr lang="en-US" sz="1300" dirty="0"/>
          </a:p>
        </p:txBody>
      </p:sp>
      <p:sp>
        <p:nvSpPr>
          <p:cNvPr id="13" name="e"/>
          <p:cNvSpPr/>
          <p:nvPr/>
        </p:nvSpPr>
        <p:spPr>
          <a:xfrm>
            <a:off x="3291840" y="4023360"/>
            <a:ext cx="22860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 coder n'y touche pas</a:t>
            </a:r>
            <a:endParaRPr lang="en-US" sz="1300" dirty="0"/>
          </a:p>
        </p:txBody>
      </p:sp>
      <p:sp>
        <p:nvSpPr>
          <p:cNvPr id="14" name="r1"/>
          <p:cNvSpPr/>
          <p:nvPr/>
        </p:nvSpPr>
        <p:spPr>
          <a:xfrm>
            <a:off x="640080" y="5230368"/>
            <a:ext cx="2103120" cy="594360"/>
          </a:xfrm>
          <a:prstGeom prst="roundRect">
            <a:avLst>
              <a:gd name="adj" fmla="val 12308"/>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code résiste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test gardé en preuve</a:t>
            </a:r>
            <a:endParaRPr lang="en-US" sz="1300" dirty="0"/>
          </a:p>
        </p:txBody>
      </p:sp>
      <p:sp>
        <p:nvSpPr>
          <p:cNvPr id="15" name="r2"/>
          <p:cNvSpPr/>
          <p:nvPr/>
        </p:nvSpPr>
        <p:spPr>
          <a:xfrm>
            <a:off x="3017520" y="5230368"/>
            <a:ext cx="2103120" cy="594360"/>
          </a:xfrm>
          <a:prstGeom prst="roundRect">
            <a:avLst>
              <a:gd name="adj" fmla="val 12308"/>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 instable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refusé</a:t>
            </a:r>
            <a:endParaRPr lang="en-US" sz="1300" dirty="0"/>
          </a:p>
        </p:txBody>
      </p:sp>
      <p:sp>
        <p:nvSpPr>
          <p:cNvPr id="16" name="wire-5"/>
          <p:cNvSpPr/>
          <p:nvPr/>
        </p:nvSpPr>
        <p:spPr>
          <a:xfrm>
            <a:off x="1874520" y="2606040"/>
            <a:ext cx="0" cy="182880"/>
          </a:xfrm>
          <a:prstGeom prst="line">
            <a:avLst/>
          </a:prstGeom>
          <a:noFill/>
          <a:ln w="15875">
            <a:solidFill>
              <a:srgbClr val="6B7280"/>
            </a:solidFill>
            <a:prstDash val="solid"/>
            <a:tailEnd type="triangle"/>
          </a:ln>
        </p:spPr>
      </p:sp>
      <p:sp>
        <p:nvSpPr>
          <p:cNvPr id="17" name="wire-6"/>
          <p:cNvSpPr/>
          <p:nvPr/>
        </p:nvSpPr>
        <p:spPr>
          <a:xfrm>
            <a:off x="2606040" y="3246120"/>
            <a:ext cx="685800" cy="0"/>
          </a:xfrm>
          <a:prstGeom prst="line">
            <a:avLst/>
          </a:prstGeom>
          <a:noFill/>
          <a:ln w="15875">
            <a:solidFill>
              <a:srgbClr val="6B7280"/>
            </a:solidFill>
            <a:prstDash val="solid"/>
            <a:tailEnd type="triangle"/>
          </a:ln>
        </p:spPr>
      </p:sp>
      <p:sp>
        <p:nvSpPr>
          <p:cNvPr id="18" name="label-7"/>
          <p:cNvSpPr txBox="1"/>
          <p:nvPr/>
        </p:nvSpPr>
        <p:spPr>
          <a:xfrm>
            <a:off x="2697480" y="2999232"/>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19" name="wire-8"/>
          <p:cNvSpPr/>
          <p:nvPr/>
        </p:nvSpPr>
        <p:spPr>
          <a:xfrm>
            <a:off x="1874520" y="3703320"/>
            <a:ext cx="0" cy="320040"/>
          </a:xfrm>
          <a:prstGeom prst="line">
            <a:avLst/>
          </a:prstGeom>
          <a:noFill/>
          <a:ln w="15875">
            <a:solidFill>
              <a:srgbClr val="6B7280"/>
            </a:solidFill>
            <a:prstDash val="solid"/>
            <a:tailEnd type="triangle"/>
          </a:ln>
        </p:spPr>
      </p:sp>
      <p:sp>
        <p:nvSpPr>
          <p:cNvPr id="20" name="label-9"/>
          <p:cNvSpPr txBox="1"/>
          <p:nvPr/>
        </p:nvSpPr>
        <p:spPr>
          <a:xfrm>
            <a:off x="1938528" y="376732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1" name="wire-10"/>
          <p:cNvSpPr/>
          <p:nvPr/>
        </p:nvSpPr>
        <p:spPr>
          <a:xfrm>
            <a:off x="4434840" y="3657600"/>
            <a:ext cx="0" cy="182880"/>
          </a:xfrm>
          <a:prstGeom prst="line">
            <a:avLst/>
          </a:prstGeom>
          <a:noFill/>
          <a:ln w="15875">
            <a:solidFill>
              <a:srgbClr val="6B7280"/>
            </a:solidFill>
            <a:prstDash val="solid"/>
          </a:ln>
        </p:spPr>
      </p:sp>
      <p:sp>
        <p:nvSpPr>
          <p:cNvPr id="22" name="wire-11"/>
          <p:cNvSpPr/>
          <p:nvPr/>
        </p:nvSpPr>
        <p:spPr>
          <a:xfrm flipH="1">
            <a:off x="2514600" y="3840480"/>
            <a:ext cx="1920240" cy="0"/>
          </a:xfrm>
          <a:prstGeom prst="line">
            <a:avLst/>
          </a:prstGeom>
          <a:noFill/>
          <a:ln w="15875">
            <a:solidFill>
              <a:srgbClr val="6B7280"/>
            </a:solidFill>
            <a:prstDash val="solid"/>
          </a:ln>
        </p:spPr>
      </p:sp>
      <p:sp>
        <p:nvSpPr>
          <p:cNvPr id="23" name="wire-12"/>
          <p:cNvSpPr/>
          <p:nvPr/>
        </p:nvSpPr>
        <p:spPr>
          <a:xfrm>
            <a:off x="2514600" y="3840480"/>
            <a:ext cx="0" cy="182880"/>
          </a:xfrm>
          <a:prstGeom prst="line">
            <a:avLst/>
          </a:prstGeom>
          <a:noFill/>
          <a:ln w="15875">
            <a:solidFill>
              <a:srgbClr val="6B7280"/>
            </a:solidFill>
            <a:prstDash val="solid"/>
            <a:tailEnd type="triangle"/>
          </a:ln>
        </p:spPr>
      </p:sp>
      <p:sp>
        <p:nvSpPr>
          <p:cNvPr id="24" name="wire-13"/>
          <p:cNvSpPr/>
          <p:nvPr/>
        </p:nvSpPr>
        <p:spPr>
          <a:xfrm>
            <a:off x="3017520" y="4434840"/>
            <a:ext cx="274320" cy="0"/>
          </a:xfrm>
          <a:prstGeom prst="line">
            <a:avLst/>
          </a:prstGeom>
          <a:noFill/>
          <a:ln w="15875">
            <a:solidFill>
              <a:srgbClr val="6B7280"/>
            </a:solidFill>
            <a:prstDash val="solid"/>
            <a:tailEnd type="triangle"/>
          </a:ln>
        </p:spPr>
      </p:sp>
      <p:sp>
        <p:nvSpPr>
          <p:cNvPr id="25" name="wire-14"/>
          <p:cNvSpPr/>
          <p:nvPr/>
        </p:nvSpPr>
        <p:spPr>
          <a:xfrm>
            <a:off x="1874520" y="4846320"/>
            <a:ext cx="0" cy="201168"/>
          </a:xfrm>
          <a:prstGeom prst="line">
            <a:avLst/>
          </a:prstGeom>
          <a:noFill/>
          <a:ln w="15875">
            <a:solidFill>
              <a:srgbClr val="6B7280"/>
            </a:solidFill>
            <a:prstDash val="solid"/>
          </a:ln>
        </p:spPr>
      </p:sp>
      <p:sp>
        <p:nvSpPr>
          <p:cNvPr id="26" name="wire-15"/>
          <p:cNvSpPr/>
          <p:nvPr/>
        </p:nvSpPr>
        <p:spPr>
          <a:xfrm>
            <a:off x="1691640" y="5047488"/>
            <a:ext cx="2377440" cy="0"/>
          </a:xfrm>
          <a:prstGeom prst="line">
            <a:avLst/>
          </a:prstGeom>
          <a:noFill/>
          <a:ln w="15875">
            <a:solidFill>
              <a:srgbClr val="6B7280"/>
            </a:solidFill>
            <a:prstDash val="solid"/>
          </a:ln>
        </p:spPr>
      </p:sp>
      <p:sp>
        <p:nvSpPr>
          <p:cNvPr id="27" name="wire-16"/>
          <p:cNvSpPr/>
          <p:nvPr/>
        </p:nvSpPr>
        <p:spPr>
          <a:xfrm flipH="1">
            <a:off x="1691640" y="5047488"/>
            <a:ext cx="0" cy="182880"/>
          </a:xfrm>
          <a:prstGeom prst="line">
            <a:avLst/>
          </a:prstGeom>
          <a:noFill/>
          <a:ln w="15875">
            <a:solidFill>
              <a:srgbClr val="6B7280"/>
            </a:solidFill>
            <a:prstDash val="solid"/>
            <a:tailEnd type="triangle"/>
          </a:ln>
        </p:spPr>
      </p:sp>
      <p:sp>
        <p:nvSpPr>
          <p:cNvPr id="28" name="wire-17"/>
          <p:cNvSpPr/>
          <p:nvPr/>
        </p:nvSpPr>
        <p:spPr>
          <a:xfrm flipH="1">
            <a:off x="4069080" y="5047488"/>
            <a:ext cx="0" cy="182880"/>
          </a:xfrm>
          <a:prstGeom prst="line">
            <a:avLst/>
          </a:prstGeom>
          <a:noFill/>
          <a:ln w="15875">
            <a:solidFill>
              <a:srgbClr val="6B7280"/>
            </a:solidFill>
            <a:prstDash val="solid"/>
            <a:tailEnd type="triangle"/>
          </a:ln>
        </p:spPr>
      </p:sp>
      <p:sp>
        <p:nvSpPr>
          <p:cNvPr id="29" name="label-18"/>
          <p:cNvSpPr txBox="1"/>
          <p:nvPr/>
        </p:nvSpPr>
        <p:spPr>
          <a:xfrm>
            <a:off x="566928" y="4901184"/>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 déjà</a:t>
            </a:r>
            <a:endParaRPr lang="en-US" sz="1050" dirty="0"/>
          </a:p>
        </p:txBody>
      </p:sp>
      <p:sp>
        <p:nvSpPr>
          <p:cNvPr id="30" name="label-19"/>
          <p:cNvSpPr txBox="1"/>
          <p:nvPr/>
        </p:nvSpPr>
        <p:spPr>
          <a:xfrm>
            <a:off x="4160520" y="4901184"/>
            <a:ext cx="9144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instable</a:t>
            </a:r>
            <a:endParaRPr lang="en-US" sz="1050" dirty="0"/>
          </a:p>
        </p:txBody>
      </p:sp>
      <p:sp>
        <p:nvSpPr>
          <p:cNvPr id="31" name="f"/>
          <p:cNvSpPr/>
          <p:nvPr/>
        </p:nvSpPr>
        <p:spPr>
          <a:xfrm>
            <a:off x="6446520" y="4023360"/>
            <a:ext cx="18288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 tests intacts</a:t>
            </a:r>
            <a:endParaRPr lang="en-US" sz="1300" dirty="0"/>
          </a:p>
        </p:txBody>
      </p:sp>
      <p:sp>
        <p:nvSpPr>
          <p:cNvPr id="32" name="g"/>
          <p:cNvSpPr/>
          <p:nvPr/>
        </p:nvSpPr>
        <p:spPr>
          <a:xfrm>
            <a:off x="8549640" y="3931920"/>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33" name="h"/>
          <p:cNvSpPr/>
          <p:nvPr/>
        </p:nvSpPr>
        <p:spPr>
          <a:xfrm>
            <a:off x="10287000" y="4023360"/>
            <a:ext cx="132588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p:txBody>
      </p:sp>
      <p:sp>
        <p:nvSpPr>
          <p:cNvPr id="34" name="i"/>
          <p:cNvSpPr/>
          <p:nvPr/>
        </p:nvSpPr>
        <p:spPr>
          <a:xfrm>
            <a:off x="8275320" y="224028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35" name="wire-20"/>
          <p:cNvSpPr/>
          <p:nvPr/>
        </p:nvSpPr>
        <p:spPr>
          <a:xfrm>
            <a:off x="5577840" y="4434840"/>
            <a:ext cx="868680" cy="0"/>
          </a:xfrm>
          <a:prstGeom prst="line">
            <a:avLst/>
          </a:prstGeom>
          <a:noFill/>
          <a:ln w="15875">
            <a:solidFill>
              <a:srgbClr val="6B7280"/>
            </a:solidFill>
            <a:prstDash val="solid"/>
            <a:tailEnd type="triangle"/>
          </a:ln>
        </p:spPr>
      </p:sp>
      <p:sp>
        <p:nvSpPr>
          <p:cNvPr id="36" name="wire-21"/>
          <p:cNvSpPr/>
          <p:nvPr/>
        </p:nvSpPr>
        <p:spPr>
          <a:xfrm flipV="1">
            <a:off x="8275320" y="4434840"/>
            <a:ext cx="274320" cy="0"/>
          </a:xfrm>
          <a:prstGeom prst="line">
            <a:avLst/>
          </a:prstGeom>
          <a:noFill/>
          <a:ln w="15875">
            <a:solidFill>
              <a:srgbClr val="6B7280"/>
            </a:solidFill>
            <a:prstDash val="solid"/>
            <a:tailEnd type="triangle"/>
          </a:ln>
        </p:spPr>
      </p:sp>
      <p:sp>
        <p:nvSpPr>
          <p:cNvPr id="37" name="wire-22"/>
          <p:cNvSpPr/>
          <p:nvPr/>
        </p:nvSpPr>
        <p:spPr>
          <a:xfrm>
            <a:off x="10012680" y="4434840"/>
            <a:ext cx="274320" cy="0"/>
          </a:xfrm>
          <a:prstGeom prst="line">
            <a:avLst/>
          </a:prstGeom>
          <a:noFill/>
          <a:ln w="15875">
            <a:solidFill>
              <a:srgbClr val="6B7280"/>
            </a:solidFill>
            <a:prstDash val="solid"/>
            <a:tailEnd type="triangle"/>
          </a:ln>
        </p:spPr>
      </p:sp>
      <p:sp>
        <p:nvSpPr>
          <p:cNvPr id="38" name="label-23"/>
          <p:cNvSpPr txBox="1"/>
          <p:nvPr/>
        </p:nvSpPr>
        <p:spPr>
          <a:xfrm>
            <a:off x="10012680" y="418795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9" name="wire-24"/>
          <p:cNvSpPr/>
          <p:nvPr/>
        </p:nvSpPr>
        <p:spPr>
          <a:xfrm flipV="1">
            <a:off x="9281160" y="3063240"/>
            <a:ext cx="0" cy="868680"/>
          </a:xfrm>
          <a:prstGeom prst="line">
            <a:avLst/>
          </a:prstGeom>
          <a:noFill/>
          <a:ln w="15875">
            <a:solidFill>
              <a:srgbClr val="6B7280"/>
            </a:solidFill>
            <a:prstDash val="solid"/>
            <a:tailEnd type="triangle"/>
          </a:ln>
        </p:spPr>
      </p:sp>
      <p:sp>
        <p:nvSpPr>
          <p:cNvPr id="40" name="label-25"/>
          <p:cNvSpPr txBox="1"/>
          <p:nvPr/>
        </p:nvSpPr>
        <p:spPr>
          <a:xfrm>
            <a:off x="9372600" y="342900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41" name="wire-26"/>
          <p:cNvSpPr/>
          <p:nvPr/>
        </p:nvSpPr>
        <p:spPr>
          <a:xfrm flipV="1">
            <a:off x="10287000" y="2651760"/>
            <a:ext cx="662940" cy="0"/>
          </a:xfrm>
          <a:prstGeom prst="line">
            <a:avLst/>
          </a:prstGeom>
          <a:noFill/>
          <a:ln w="15875">
            <a:solidFill>
              <a:srgbClr val="6B7280"/>
            </a:solidFill>
            <a:prstDash val="solid"/>
          </a:ln>
        </p:spPr>
      </p:sp>
      <p:sp>
        <p:nvSpPr>
          <p:cNvPr id="42" name="wire-27"/>
          <p:cNvSpPr/>
          <p:nvPr/>
        </p:nvSpPr>
        <p:spPr>
          <a:xfrm>
            <a:off x="10949940" y="2651760"/>
            <a:ext cx="0" cy="1371600"/>
          </a:xfrm>
          <a:prstGeom prst="line">
            <a:avLst/>
          </a:prstGeom>
          <a:noFill/>
          <a:ln w="15875">
            <a:solidFill>
              <a:srgbClr val="6B7280"/>
            </a:solidFill>
            <a:prstDash val="solid"/>
            <a:tailEnd type="triangle"/>
          </a:ln>
        </p:spPr>
      </p:sp>
      <p:sp>
        <p:nvSpPr>
          <p:cNvPr id="43" name="label-28"/>
          <p:cNvSpPr txBox="1"/>
          <p:nvPr/>
        </p:nvSpPr>
        <p:spPr>
          <a:xfrm>
            <a:off x="11018520" y="3291840"/>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44" name="wire-29"/>
          <p:cNvSpPr/>
          <p:nvPr/>
        </p:nvSpPr>
        <p:spPr>
          <a:xfrm flipH="1" flipV="1">
            <a:off x="7360920" y="2651760"/>
            <a:ext cx="914400" cy="0"/>
          </a:xfrm>
          <a:prstGeom prst="line">
            <a:avLst/>
          </a:prstGeom>
          <a:noFill/>
          <a:ln w="15875">
            <a:solidFill>
              <a:srgbClr val="6B7280"/>
            </a:solidFill>
            <a:prstDash val="dash"/>
          </a:ln>
        </p:spPr>
      </p:sp>
      <p:sp>
        <p:nvSpPr>
          <p:cNvPr id="45" name="wire-30"/>
          <p:cNvSpPr/>
          <p:nvPr/>
        </p:nvSpPr>
        <p:spPr>
          <a:xfrm>
            <a:off x="7360920" y="2651760"/>
            <a:ext cx="0" cy="1371600"/>
          </a:xfrm>
          <a:prstGeom prst="line">
            <a:avLst/>
          </a:prstGeom>
          <a:noFill/>
          <a:ln w="15875">
            <a:solidFill>
              <a:srgbClr val="6B7280"/>
            </a:solidFill>
            <a:prstDash val="dash"/>
            <a:tailEnd type="triangle"/>
          </a:ln>
        </p:spPr>
      </p:sp>
      <p:sp>
        <p:nvSpPr>
          <p:cNvPr id="46" name="label-31"/>
          <p:cNvSpPr txBox="1"/>
          <p:nvPr/>
        </p:nvSpPr>
        <p:spPr>
          <a:xfrm>
            <a:off x="6446520" y="2395728"/>
            <a:ext cx="8686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régression</a:t>
            </a:r>
            <a:endParaRPr lang="en-US" sz="1050" dirty="0"/>
          </a:p>
        </p:txBody>
      </p:sp>
      <p:sp>
        <p:nvSpPr>
          <p:cNvPr id="47" name="tag-32"/>
          <p:cNvSpPr/>
          <p:nvPr/>
        </p:nvSpPr>
        <p:spPr>
          <a:xfrm>
            <a:off x="6355080" y="5257800"/>
            <a:ext cx="521208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le script vérifie : verrouillés intacts · verts ×2 · couverture sans perte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Une journée type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Deux moments pour le développeur : les questions du début et la relecture de la MR.</a:t>
            </a:r>
            <a:endParaRPr lang="en-US" sz="1500" dirty="0"/>
          </a:p>
        </p:txBody>
      </p:sp>
      <p:sp>
        <p:nvSpPr>
          <p:cNvPr id="5" name="lane-1"/>
          <p:cNvSpPr/>
          <p:nvPr/>
        </p:nvSpPr>
        <p:spPr>
          <a:xfrm>
            <a:off x="457200" y="1417320"/>
            <a:ext cx="11274552" cy="1280160"/>
          </a:xfrm>
          <a:prstGeom prst="rect">
            <a:avLst/>
          </a:prstGeom>
          <a:solidFill>
            <a:srgbClr val="F7F8FA"/>
          </a:solidFill>
          <a:ln w="12700">
            <a:solidFill>
              <a:srgbClr val="F7F8FA"/>
            </a:solidFill>
            <a:prstDash val="solid"/>
          </a:ln>
        </p:spPr>
      </p:sp>
      <p:sp>
        <p:nvSpPr>
          <p:cNvPr id="6" name="lane-label-2"/>
          <p:cNvSpPr txBox="1"/>
          <p:nvPr/>
        </p:nvSpPr>
        <p:spPr>
          <a:xfrm>
            <a:off x="548640" y="1417320"/>
            <a:ext cx="1188720" cy="128016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Développeur</a:t>
            </a:r>
            <a:endParaRPr lang="en-US" sz="1300" dirty="0"/>
          </a:p>
        </p:txBody>
      </p:sp>
      <p:sp>
        <p:nvSpPr>
          <p:cNvPr id="7" name="lane-3"/>
          <p:cNvSpPr/>
          <p:nvPr/>
        </p:nvSpPr>
        <p:spPr>
          <a:xfrm>
            <a:off x="457200" y="2770632"/>
            <a:ext cx="11274552" cy="1554480"/>
          </a:xfrm>
          <a:prstGeom prst="rect">
            <a:avLst/>
          </a:prstGeom>
          <a:solidFill>
            <a:srgbClr val="F7F8FA"/>
          </a:solidFill>
          <a:ln w="12700">
            <a:solidFill>
              <a:srgbClr val="F7F8FA"/>
            </a:solidFill>
            <a:prstDash val="solid"/>
          </a:ln>
        </p:spPr>
      </p:sp>
      <p:sp>
        <p:nvSpPr>
          <p:cNvPr id="8" name="lane-label-4"/>
          <p:cNvSpPr txBox="1"/>
          <p:nvPr/>
        </p:nvSpPr>
        <p:spPr>
          <a:xfrm>
            <a:off x="548640" y="2770632"/>
            <a:ext cx="1051560" cy="1554480"/>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Agents</a:t>
            </a:r>
            <a:endParaRPr lang="en-US" sz="1300" dirty="0"/>
          </a:p>
        </p:txBody>
      </p:sp>
      <p:sp>
        <p:nvSpPr>
          <p:cNvPr id="9" name="lane-5"/>
          <p:cNvSpPr/>
          <p:nvPr/>
        </p:nvSpPr>
        <p:spPr>
          <a:xfrm>
            <a:off x="457200" y="4398264"/>
            <a:ext cx="11274552" cy="1261872"/>
          </a:xfrm>
          <a:prstGeom prst="rect">
            <a:avLst/>
          </a:prstGeom>
          <a:solidFill>
            <a:srgbClr val="F7F8FA"/>
          </a:solidFill>
          <a:ln w="12700">
            <a:solidFill>
              <a:srgbClr val="F7F8FA"/>
            </a:solidFill>
            <a:prstDash val="solid"/>
          </a:ln>
        </p:spPr>
      </p:sp>
      <p:sp>
        <p:nvSpPr>
          <p:cNvPr id="10" name="lane-label-6"/>
          <p:cNvSpPr txBox="1"/>
          <p:nvPr/>
        </p:nvSpPr>
        <p:spPr>
          <a:xfrm>
            <a:off x="548640" y="4398264"/>
            <a:ext cx="1051560" cy="1261872"/>
          </a:xfrm>
          <a:prstGeom prst="rect">
            <a:avLst/>
          </a:prstGeom>
          <a:noFill/>
          <a:ln/>
        </p:spPr>
        <p:txBody>
          <a:bodyPr wrap="square" lIns="0" tIns="0" rIns="0" bIns="0" rtlCol="0" anchor="ctr"/>
          <a:lstStyle/>
          <a:p>
            <a:pPr indent="0" marL="0">
              <a:buNone/>
            </a:pPr>
            <a:r>
              <a:rPr lang="en-US" sz="1300" b="1" dirty="0">
                <a:solidFill>
                  <a:srgbClr val="5B6470"/>
                </a:solidFill>
                <a:latin typeface="Calibri" pitchFamily="34" charset="0"/>
                <a:ea typeface="Calibri" pitchFamily="34" charset="-122"/>
                <a:cs typeface="Calibri" pitchFamily="34" charset="-120"/>
              </a:rPr>
              <a:t>GitLab, CI</a:t>
            </a:r>
            <a:endParaRPr lang="en-US" sz="1300" dirty="0"/>
          </a:p>
        </p:txBody>
      </p:sp>
      <p:sp>
        <p:nvSpPr>
          <p:cNvPr id="11" name="p1"/>
          <p:cNvSpPr/>
          <p:nvPr/>
        </p:nvSpPr>
        <p:spPr>
          <a:xfrm>
            <a:off x="1783080"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/daily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08:45, planifié</a:t>
            </a:r>
            <a:endParaRPr lang="en-US" sz="1300" dirty="0"/>
          </a:p>
        </p:txBody>
      </p:sp>
      <p:sp>
        <p:nvSpPr>
          <p:cNvPr id="12" name="t1"/>
          <p:cNvSpPr/>
          <p:nvPr/>
        </p:nvSpPr>
        <p:spPr>
          <a:xfrm>
            <a:off x="1783080"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Point du matin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sprint, MR, CI</a:t>
            </a:r>
            <a:endParaRPr lang="en-US" sz="1300" dirty="0"/>
          </a:p>
        </p:txBody>
      </p:sp>
      <p:sp>
        <p:nvSpPr>
          <p:cNvPr id="13" name="t2"/>
          <p:cNvSpPr/>
          <p:nvPr/>
        </p:nvSpPr>
        <p:spPr>
          <a:xfrm>
            <a:off x="318211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14" name="p2"/>
          <p:cNvSpPr/>
          <p:nvPr/>
        </p:nvSpPr>
        <p:spPr>
          <a:xfrm>
            <a:off x="3182112" y="3108960"/>
            <a:ext cx="128016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Questions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toutes au début</a:t>
            </a:r>
            <a:endParaRPr lang="en-US" sz="1300" dirty="0"/>
          </a:p>
        </p:txBody>
      </p:sp>
      <p:sp>
        <p:nvSpPr>
          <p:cNvPr id="15" name="t3"/>
          <p:cNvSpPr/>
          <p:nvPr/>
        </p:nvSpPr>
        <p:spPr>
          <a:xfrm>
            <a:off x="4581144"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clic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réponse</a:t>
            </a:r>
            <a:endParaRPr lang="en-US" sz="1300" dirty="0"/>
          </a:p>
        </p:txBody>
      </p:sp>
      <p:sp>
        <p:nvSpPr>
          <p:cNvPr id="16" name="p3"/>
          <p:cNvSpPr/>
          <p:nvPr/>
        </p:nvSpPr>
        <p:spPr>
          <a:xfrm>
            <a:off x="5980176"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preuves, relecture</a:t>
            </a:r>
            <a:endParaRPr lang="en-US" sz="1300" dirty="0"/>
          </a:p>
        </p:txBody>
      </p:sp>
      <p:sp>
        <p:nvSpPr>
          <p:cNvPr id="17" name="g1"/>
          <p:cNvSpPr/>
          <p:nvPr/>
        </p:nvSpPr>
        <p:spPr>
          <a:xfrm>
            <a:off x="5980176"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18" name="t4"/>
          <p:cNvSpPr/>
          <p:nvPr/>
        </p:nvSpPr>
        <p:spPr>
          <a:xfrm>
            <a:off x="7379208"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clic</a:t>
            </a:r>
            <a:endParaRPr lang="en-US" sz="1300" dirty="0"/>
          </a:p>
        </p:txBody>
      </p:sp>
      <p:sp>
        <p:nvSpPr>
          <p:cNvPr id="19" name="p4"/>
          <p:cNvSpPr/>
          <p:nvPr/>
        </p:nvSpPr>
        <p:spPr>
          <a:xfrm>
            <a:off x="8778240" y="3108960"/>
            <a:ext cx="12801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Attend la CI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corrige</a:t>
            </a:r>
            <a:endParaRPr lang="en-US" sz="1300" dirty="0"/>
          </a:p>
        </p:txBody>
      </p:sp>
      <p:sp>
        <p:nvSpPr>
          <p:cNvPr id="20" name="g2"/>
          <p:cNvSpPr/>
          <p:nvPr/>
        </p:nvSpPr>
        <p:spPr>
          <a:xfrm>
            <a:off x="8778240" y="4572000"/>
            <a:ext cx="128016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à jour</a:t>
            </a:r>
            <a:endParaRPr lang="en-US" sz="1300" dirty="0"/>
          </a:p>
        </p:txBody>
      </p:sp>
      <p:sp>
        <p:nvSpPr>
          <p:cNvPr id="21" name="t5"/>
          <p:cNvSpPr/>
          <p:nvPr/>
        </p:nvSpPr>
        <p:spPr>
          <a:xfrm>
            <a:off x="10177272" y="1627632"/>
            <a:ext cx="1280160" cy="868680"/>
          </a:xfrm>
          <a:prstGeom prst="roundRect">
            <a:avLst>
              <a:gd name="adj" fmla="val 8421"/>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Relecture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/fix si besoin</a:t>
            </a:r>
            <a:endParaRPr lang="en-US" sz="1300" dirty="0"/>
          </a:p>
        </p:txBody>
      </p:sp>
      <p:sp>
        <p:nvSpPr>
          <p:cNvPr id="22" name="wire-7"/>
          <p:cNvSpPr/>
          <p:nvPr/>
        </p:nvSpPr>
        <p:spPr>
          <a:xfrm flipV="1">
            <a:off x="2423160" y="2496312"/>
            <a:ext cx="0" cy="612648"/>
          </a:xfrm>
          <a:prstGeom prst="line">
            <a:avLst/>
          </a:prstGeom>
          <a:noFill/>
          <a:ln w="15875">
            <a:solidFill>
              <a:srgbClr val="6B7280"/>
            </a:solidFill>
            <a:prstDash val="solid"/>
            <a:tailEnd type="triangle"/>
          </a:ln>
        </p:spPr>
      </p:sp>
      <p:sp>
        <p:nvSpPr>
          <p:cNvPr id="23" name="wire-8"/>
          <p:cNvSpPr/>
          <p:nvPr/>
        </p:nvSpPr>
        <p:spPr>
          <a:xfrm>
            <a:off x="3063240" y="2061972"/>
            <a:ext cx="118872" cy="0"/>
          </a:xfrm>
          <a:prstGeom prst="line">
            <a:avLst/>
          </a:prstGeom>
          <a:noFill/>
          <a:ln w="15875">
            <a:solidFill>
              <a:srgbClr val="6B7280"/>
            </a:solidFill>
            <a:prstDash val="solid"/>
            <a:tailEnd type="triangle"/>
          </a:ln>
        </p:spPr>
      </p:sp>
      <p:sp>
        <p:nvSpPr>
          <p:cNvPr id="24" name="wire-9"/>
          <p:cNvSpPr/>
          <p:nvPr/>
        </p:nvSpPr>
        <p:spPr>
          <a:xfrm>
            <a:off x="3822192" y="2496312"/>
            <a:ext cx="0" cy="612648"/>
          </a:xfrm>
          <a:prstGeom prst="line">
            <a:avLst/>
          </a:prstGeom>
          <a:noFill/>
          <a:ln w="15875">
            <a:solidFill>
              <a:srgbClr val="6B7280"/>
            </a:solidFill>
            <a:prstDash val="solid"/>
            <a:tailEnd type="triangle"/>
          </a:ln>
        </p:spPr>
      </p:sp>
      <p:sp>
        <p:nvSpPr>
          <p:cNvPr id="25" name="wire-10"/>
          <p:cNvSpPr/>
          <p:nvPr/>
        </p:nvSpPr>
        <p:spPr>
          <a:xfrm>
            <a:off x="4462272" y="3543300"/>
            <a:ext cx="59436" cy="0"/>
          </a:xfrm>
          <a:prstGeom prst="line">
            <a:avLst/>
          </a:prstGeom>
          <a:noFill/>
          <a:ln w="15875">
            <a:solidFill>
              <a:srgbClr val="6B7280"/>
            </a:solidFill>
            <a:prstDash val="solid"/>
          </a:ln>
        </p:spPr>
      </p:sp>
      <p:sp>
        <p:nvSpPr>
          <p:cNvPr id="26" name="wire-11"/>
          <p:cNvSpPr/>
          <p:nvPr/>
        </p:nvSpPr>
        <p:spPr>
          <a:xfrm flipV="1">
            <a:off x="4521708" y="2061972"/>
            <a:ext cx="0" cy="1481328"/>
          </a:xfrm>
          <a:prstGeom prst="line">
            <a:avLst/>
          </a:prstGeom>
          <a:noFill/>
          <a:ln w="15875">
            <a:solidFill>
              <a:srgbClr val="6B7280"/>
            </a:solidFill>
            <a:prstDash val="solid"/>
          </a:ln>
        </p:spPr>
      </p:sp>
      <p:sp>
        <p:nvSpPr>
          <p:cNvPr id="27" name="wire-12"/>
          <p:cNvSpPr/>
          <p:nvPr/>
        </p:nvSpPr>
        <p:spPr>
          <a:xfrm>
            <a:off x="4521708" y="2061972"/>
            <a:ext cx="59436" cy="0"/>
          </a:xfrm>
          <a:prstGeom prst="line">
            <a:avLst/>
          </a:prstGeom>
          <a:noFill/>
          <a:ln w="15875">
            <a:solidFill>
              <a:srgbClr val="6B7280"/>
            </a:solidFill>
            <a:prstDash val="solid"/>
            <a:tailEnd type="triangle"/>
          </a:ln>
        </p:spPr>
      </p:sp>
      <p:sp>
        <p:nvSpPr>
          <p:cNvPr id="28" name="wire-13"/>
          <p:cNvSpPr/>
          <p:nvPr/>
        </p:nvSpPr>
        <p:spPr>
          <a:xfrm>
            <a:off x="5861304" y="2061972"/>
            <a:ext cx="59436" cy="0"/>
          </a:xfrm>
          <a:prstGeom prst="line">
            <a:avLst/>
          </a:prstGeom>
          <a:noFill/>
          <a:ln w="15875">
            <a:solidFill>
              <a:srgbClr val="6B7280"/>
            </a:solidFill>
            <a:prstDash val="solid"/>
          </a:ln>
        </p:spPr>
      </p:sp>
      <p:sp>
        <p:nvSpPr>
          <p:cNvPr id="29" name="wire-14"/>
          <p:cNvSpPr/>
          <p:nvPr/>
        </p:nvSpPr>
        <p:spPr>
          <a:xfrm>
            <a:off x="5920740" y="2061972"/>
            <a:ext cx="0" cy="1481328"/>
          </a:xfrm>
          <a:prstGeom prst="line">
            <a:avLst/>
          </a:prstGeom>
          <a:noFill/>
          <a:ln w="15875">
            <a:solidFill>
              <a:srgbClr val="6B7280"/>
            </a:solidFill>
            <a:prstDash val="solid"/>
          </a:ln>
        </p:spPr>
      </p:sp>
      <p:sp>
        <p:nvSpPr>
          <p:cNvPr id="30" name="wire-15"/>
          <p:cNvSpPr/>
          <p:nvPr/>
        </p:nvSpPr>
        <p:spPr>
          <a:xfrm>
            <a:off x="5920740" y="3543300"/>
            <a:ext cx="59436" cy="0"/>
          </a:xfrm>
          <a:prstGeom prst="line">
            <a:avLst/>
          </a:prstGeom>
          <a:noFill/>
          <a:ln w="15875">
            <a:solidFill>
              <a:srgbClr val="6B7280"/>
            </a:solidFill>
            <a:prstDash val="solid"/>
            <a:tailEnd type="triangle"/>
          </a:ln>
        </p:spPr>
      </p:sp>
      <p:sp>
        <p:nvSpPr>
          <p:cNvPr id="31" name="wire-16"/>
          <p:cNvSpPr/>
          <p:nvPr/>
        </p:nvSpPr>
        <p:spPr>
          <a:xfrm>
            <a:off x="6620256" y="3977640"/>
            <a:ext cx="0" cy="594360"/>
          </a:xfrm>
          <a:prstGeom prst="line">
            <a:avLst/>
          </a:prstGeom>
          <a:noFill/>
          <a:ln w="15875">
            <a:solidFill>
              <a:srgbClr val="6B7280"/>
            </a:solidFill>
            <a:prstDash val="solid"/>
            <a:tailEnd type="triangle"/>
          </a:ln>
        </p:spPr>
      </p:sp>
      <p:sp>
        <p:nvSpPr>
          <p:cNvPr id="32" name="wire-17"/>
          <p:cNvSpPr/>
          <p:nvPr/>
        </p:nvSpPr>
        <p:spPr>
          <a:xfrm>
            <a:off x="7260336" y="5006340"/>
            <a:ext cx="59436" cy="0"/>
          </a:xfrm>
          <a:prstGeom prst="line">
            <a:avLst/>
          </a:prstGeom>
          <a:noFill/>
          <a:ln w="15875">
            <a:solidFill>
              <a:srgbClr val="6B7280"/>
            </a:solidFill>
            <a:prstDash val="solid"/>
          </a:ln>
        </p:spPr>
      </p:sp>
      <p:sp>
        <p:nvSpPr>
          <p:cNvPr id="33" name="wire-18"/>
          <p:cNvSpPr/>
          <p:nvPr/>
        </p:nvSpPr>
        <p:spPr>
          <a:xfrm flipV="1">
            <a:off x="7319772" y="2061972"/>
            <a:ext cx="0" cy="2944368"/>
          </a:xfrm>
          <a:prstGeom prst="line">
            <a:avLst/>
          </a:prstGeom>
          <a:noFill/>
          <a:ln w="15875">
            <a:solidFill>
              <a:srgbClr val="6B7280"/>
            </a:solidFill>
            <a:prstDash val="solid"/>
          </a:ln>
        </p:spPr>
      </p:sp>
      <p:sp>
        <p:nvSpPr>
          <p:cNvPr id="34" name="wire-19"/>
          <p:cNvSpPr/>
          <p:nvPr/>
        </p:nvSpPr>
        <p:spPr>
          <a:xfrm>
            <a:off x="7319772" y="2061972"/>
            <a:ext cx="59436" cy="0"/>
          </a:xfrm>
          <a:prstGeom prst="line">
            <a:avLst/>
          </a:prstGeom>
          <a:noFill/>
          <a:ln w="15875">
            <a:solidFill>
              <a:srgbClr val="6B7280"/>
            </a:solidFill>
            <a:prstDash val="solid"/>
            <a:tailEnd type="triangle"/>
          </a:ln>
        </p:spPr>
      </p:sp>
      <p:sp>
        <p:nvSpPr>
          <p:cNvPr id="35" name="wire-20"/>
          <p:cNvSpPr/>
          <p:nvPr/>
        </p:nvSpPr>
        <p:spPr>
          <a:xfrm>
            <a:off x="8659368" y="2061972"/>
            <a:ext cx="59436" cy="0"/>
          </a:xfrm>
          <a:prstGeom prst="line">
            <a:avLst/>
          </a:prstGeom>
          <a:noFill/>
          <a:ln w="15875">
            <a:solidFill>
              <a:srgbClr val="6B7280"/>
            </a:solidFill>
            <a:prstDash val="solid"/>
          </a:ln>
        </p:spPr>
      </p:sp>
      <p:sp>
        <p:nvSpPr>
          <p:cNvPr id="36" name="wire-21"/>
          <p:cNvSpPr/>
          <p:nvPr/>
        </p:nvSpPr>
        <p:spPr>
          <a:xfrm>
            <a:off x="8718804" y="2061972"/>
            <a:ext cx="0" cy="1481328"/>
          </a:xfrm>
          <a:prstGeom prst="line">
            <a:avLst/>
          </a:prstGeom>
          <a:noFill/>
          <a:ln w="15875">
            <a:solidFill>
              <a:srgbClr val="6B7280"/>
            </a:solidFill>
            <a:prstDash val="solid"/>
          </a:ln>
        </p:spPr>
      </p:sp>
      <p:sp>
        <p:nvSpPr>
          <p:cNvPr id="37" name="wire-22"/>
          <p:cNvSpPr/>
          <p:nvPr/>
        </p:nvSpPr>
        <p:spPr>
          <a:xfrm>
            <a:off x="8718804" y="3543300"/>
            <a:ext cx="59436" cy="0"/>
          </a:xfrm>
          <a:prstGeom prst="line">
            <a:avLst/>
          </a:prstGeom>
          <a:noFill/>
          <a:ln w="15875">
            <a:solidFill>
              <a:srgbClr val="6B7280"/>
            </a:solidFill>
            <a:prstDash val="solid"/>
            <a:tailEnd type="triangle"/>
          </a:ln>
        </p:spPr>
      </p:sp>
      <p:sp>
        <p:nvSpPr>
          <p:cNvPr id="38" name="wire-23"/>
          <p:cNvSpPr/>
          <p:nvPr/>
        </p:nvSpPr>
        <p:spPr>
          <a:xfrm>
            <a:off x="9418320" y="3977640"/>
            <a:ext cx="0" cy="594360"/>
          </a:xfrm>
          <a:prstGeom prst="line">
            <a:avLst/>
          </a:prstGeom>
          <a:noFill/>
          <a:ln w="15875">
            <a:solidFill>
              <a:srgbClr val="6B7280"/>
            </a:solidFill>
            <a:prstDash val="solid"/>
            <a:tailEnd type="triangle"/>
          </a:ln>
        </p:spPr>
      </p:sp>
      <p:sp>
        <p:nvSpPr>
          <p:cNvPr id="39" name="wire-24"/>
          <p:cNvSpPr/>
          <p:nvPr/>
        </p:nvSpPr>
        <p:spPr>
          <a:xfrm>
            <a:off x="10058400" y="5006340"/>
            <a:ext cx="59436" cy="0"/>
          </a:xfrm>
          <a:prstGeom prst="line">
            <a:avLst/>
          </a:prstGeom>
          <a:noFill/>
          <a:ln w="15875">
            <a:solidFill>
              <a:srgbClr val="6B7280"/>
            </a:solidFill>
            <a:prstDash val="solid"/>
          </a:ln>
        </p:spPr>
      </p:sp>
      <p:sp>
        <p:nvSpPr>
          <p:cNvPr id="40" name="wire-25"/>
          <p:cNvSpPr/>
          <p:nvPr/>
        </p:nvSpPr>
        <p:spPr>
          <a:xfrm flipV="1">
            <a:off x="10117836" y="2061972"/>
            <a:ext cx="0" cy="2944368"/>
          </a:xfrm>
          <a:prstGeom prst="line">
            <a:avLst/>
          </a:prstGeom>
          <a:noFill/>
          <a:ln w="15875">
            <a:solidFill>
              <a:srgbClr val="6B7280"/>
            </a:solidFill>
            <a:prstDash val="solid"/>
          </a:ln>
        </p:spPr>
      </p:sp>
      <p:sp>
        <p:nvSpPr>
          <p:cNvPr id="41" name="wire-26"/>
          <p:cNvSpPr/>
          <p:nvPr/>
        </p:nvSpPr>
        <p:spPr>
          <a:xfrm>
            <a:off x="10117836" y="2061972"/>
            <a:ext cx="59436" cy="0"/>
          </a:xfrm>
          <a:prstGeom prst="line">
            <a:avLst/>
          </a:prstGeom>
          <a:noFill/>
          <a:ln w="15875">
            <a:solidFill>
              <a:srgbClr val="6B7280"/>
            </a:solidFill>
            <a:prstDash val="solid"/>
            <a:tailEnd type="triangle"/>
          </a:ln>
        </p:spPr>
      </p:sp>
      <p:sp>
        <p:nvSpPr>
          <p:cNvPr id="42" name="tag-27"/>
          <p:cNvSpPr/>
          <p:nvPr/>
        </p:nvSpPr>
        <p:spPr>
          <a:xfrm>
            <a:off x="8979408" y="2953512"/>
            <a:ext cx="118872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32 min *</a:t>
            </a:r>
            <a:endParaRPr lang="en-US" sz="1050" dirty="0"/>
          </a:p>
        </p:txBody>
      </p:sp>
      <p:sp>
        <p:nvSpPr>
          <p:cNvPr id="43" name="foot-28"/>
          <p:cNvSpPr txBox="1"/>
          <p:nvPr/>
        </p:nvSpPr>
        <p:spPr>
          <a:xfrm>
            <a:off x="457200" y="576072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/fix attend la fin du pipeline : un coup d'œil toutes les 4 min, 8 au plus. Au-delà, il traite ce qui est fini et propose de le relancer.</a:t>
            </a:r>
            <a:endParaRPr lang="en-US" sz="1100" dirty="0"/>
          </a:p>
        </p:txBody>
      </p:sp>
      <p:sp>
        <p:nvSpPr>
          <p:cNvPr id="44" name="foot-29"/>
          <p:cNvSpPr txBox="1"/>
          <p:nvPr/>
        </p:nvSpPr>
        <p:spPr>
          <a:xfrm>
            <a:off x="457200" y="6035040"/>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À tout moment : /tests, /push, /sync, /outil vitesse.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 lot de failles, une MR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peut avancer ensemble avance ensemble ; les correctifs passent un par un, chacun prouvé.</a:t>
            </a:r>
            <a:endParaRPr lang="en-US" sz="1500" dirty="0"/>
          </a:p>
        </p:txBody>
      </p:sp>
      <p:sp>
        <p:nvSpPr>
          <p:cNvPr id="5" name="row-0"/>
          <p:cNvSpPr/>
          <p:nvPr/>
        </p:nvSpPr>
        <p:spPr>
          <a:xfrm>
            <a:off x="457200" y="1883664"/>
            <a:ext cx="11274552" cy="457200"/>
          </a:xfrm>
          <a:prstGeom prst="rect">
            <a:avLst/>
          </a:prstGeom>
          <a:solidFill>
            <a:srgbClr val="F7F8FA"/>
          </a:solidFill>
          <a:ln w="12700">
            <a:solidFill>
              <a:srgbClr val="F7F8FA"/>
            </a:solidFill>
            <a:prstDash val="solid"/>
          </a:ln>
        </p:spPr>
      </p:sp>
      <p:sp>
        <p:nvSpPr>
          <p:cNvPr id="6" name="label-1"/>
          <p:cNvSpPr txBox="1"/>
          <p:nvPr/>
        </p:nvSpPr>
        <p:spPr>
          <a:xfrm>
            <a:off x="548640" y="19202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Pilote</a:t>
            </a:r>
            <a:endParaRPr lang="en-US" sz="1100" dirty="0"/>
          </a:p>
        </p:txBody>
      </p:sp>
      <p:sp>
        <p:nvSpPr>
          <p:cNvPr id="7" name="label-2"/>
          <p:cNvSpPr txBox="1"/>
          <p:nvPr/>
        </p:nvSpPr>
        <p:spPr>
          <a:xfrm>
            <a:off x="548640" y="23774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Analyse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analyst</a:t>
            </a:r>
            <a:endParaRPr lang="en-US" sz="1100" dirty="0"/>
          </a:p>
        </p:txBody>
      </p:sp>
      <p:sp>
        <p:nvSpPr>
          <p:cNvPr id="8" name="row-2"/>
          <p:cNvSpPr/>
          <p:nvPr/>
        </p:nvSpPr>
        <p:spPr>
          <a:xfrm>
            <a:off x="457200" y="3255264"/>
            <a:ext cx="11274552" cy="457200"/>
          </a:xfrm>
          <a:prstGeom prst="rect">
            <a:avLst/>
          </a:prstGeom>
          <a:solidFill>
            <a:srgbClr val="F7F8FA"/>
          </a:solidFill>
          <a:ln w="12700">
            <a:solidFill>
              <a:srgbClr val="F7F8FA"/>
            </a:solidFill>
            <a:prstDash val="solid"/>
          </a:ln>
        </p:spPr>
      </p:sp>
      <p:sp>
        <p:nvSpPr>
          <p:cNvPr id="9" name="label-3"/>
          <p:cNvSpPr txBox="1"/>
          <p:nvPr/>
        </p:nvSpPr>
        <p:spPr>
          <a:xfrm>
            <a:off x="548640" y="3291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Build</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de develop</a:t>
            </a:r>
            <a:endParaRPr lang="en-US" sz="1100" dirty="0"/>
          </a:p>
        </p:txBody>
      </p:sp>
      <p:sp>
        <p:nvSpPr>
          <p:cNvPr id="10" name="label-4"/>
          <p:cNvSpPr txBox="1"/>
          <p:nvPr/>
        </p:nvSpPr>
        <p:spPr>
          <a:xfrm>
            <a:off x="548640" y="3749040"/>
            <a:ext cx="1600200" cy="8412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Preuves</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test-guardian</a:t>
            </a:r>
            <a:endParaRPr lang="en-US" sz="1100" dirty="0"/>
          </a:p>
        </p:txBody>
      </p:sp>
      <p:sp>
        <p:nvSpPr>
          <p:cNvPr id="11" name="row-4"/>
          <p:cNvSpPr/>
          <p:nvPr/>
        </p:nvSpPr>
        <p:spPr>
          <a:xfrm>
            <a:off x="457200" y="4626864"/>
            <a:ext cx="11274552" cy="457200"/>
          </a:xfrm>
          <a:prstGeom prst="rect">
            <a:avLst/>
          </a:prstGeom>
          <a:solidFill>
            <a:srgbClr val="F7F8FA"/>
          </a:solidFill>
          <a:ln w="12700">
            <a:solidFill>
              <a:srgbClr val="F7F8FA"/>
            </a:solidFill>
            <a:prstDash val="solid"/>
          </a:ln>
        </p:spPr>
      </p:sp>
      <p:sp>
        <p:nvSpPr>
          <p:cNvPr id="12" name="label-5"/>
          <p:cNvSpPr txBox="1"/>
          <p:nvPr/>
        </p:nvSpPr>
        <p:spPr>
          <a:xfrm>
            <a:off x="548640" y="46634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Correctif</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coder</a:t>
            </a:r>
            <a:endParaRPr lang="en-US" sz="1100" dirty="0"/>
          </a:p>
        </p:txBody>
      </p:sp>
      <p:sp>
        <p:nvSpPr>
          <p:cNvPr id="13" name="label-6"/>
          <p:cNvSpPr txBox="1"/>
          <p:nvPr/>
        </p:nvSpPr>
        <p:spPr>
          <a:xfrm>
            <a:off x="548640" y="51206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Contrôle auto</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script</a:t>
            </a:r>
            <a:endParaRPr lang="en-US" sz="1100" dirty="0"/>
          </a:p>
        </p:txBody>
      </p:sp>
      <p:sp>
        <p:nvSpPr>
          <p:cNvPr id="14" name="row-6"/>
          <p:cNvSpPr/>
          <p:nvPr/>
        </p:nvSpPr>
        <p:spPr>
          <a:xfrm>
            <a:off x="457200" y="5541264"/>
            <a:ext cx="11274552" cy="457200"/>
          </a:xfrm>
          <a:prstGeom prst="rect">
            <a:avLst/>
          </a:prstGeom>
          <a:solidFill>
            <a:srgbClr val="F7F8FA"/>
          </a:solidFill>
          <a:ln w="12700">
            <a:solidFill>
              <a:srgbClr val="F7F8FA"/>
            </a:solidFill>
            <a:prstDash val="solid"/>
          </a:ln>
        </p:spPr>
      </p:sp>
      <p:sp>
        <p:nvSpPr>
          <p:cNvPr id="15" name="label-7"/>
          <p:cNvSpPr txBox="1"/>
          <p:nvPr/>
        </p:nvSpPr>
        <p:spPr>
          <a:xfrm>
            <a:off x="548640" y="5577840"/>
            <a:ext cx="1600200" cy="384048"/>
          </a:xfrm>
          <a:prstGeom prst="rect">
            <a:avLst/>
          </a:prstGeom>
          <a:noFill/>
          <a:ln/>
        </p:spPr>
        <p:txBody>
          <a:bodyPr wrap="square" lIns="0" tIns="0" rIns="0" bIns="0" rtlCol="0" anchor="ctr"/>
          <a:lstStyle/>
          <a:p>
            <a:pPr algn="l" indent="0" marL="0">
              <a:buNone/>
            </a:pPr>
            <a:r>
              <a:rPr lang="en-US" sz="1100" b="1" dirty="0">
                <a:solidFill>
                  <a:srgbClr val="5B6470"/>
                </a:solidFill>
                <a:latin typeface="Calibri" pitchFamily="34" charset="0"/>
                <a:ea typeface="Calibri" pitchFamily="34" charset="-122"/>
                <a:cs typeface="Calibri" pitchFamily="34" charset="-120"/>
              </a:rPr>
              <a:t>Relecture</a:t>
            </a:r>
            <a:endParaRPr lang="en-US" sz="1100" dirty="0"/>
          </a:p>
          <a:p>
            <a:pPr algn="l" indent="0" marL="0">
              <a:buNone/>
            </a:pPr>
            <a:r>
              <a:rPr lang="en-US" sz="1100" b="1" dirty="0">
                <a:solidFill>
                  <a:srgbClr val="5B6470"/>
                </a:solidFill>
                <a:latin typeface="Calibri" pitchFamily="34" charset="0"/>
                <a:ea typeface="Calibri" pitchFamily="34" charset="-122"/>
                <a:cs typeface="Calibri" pitchFamily="34" charset="-120"/>
              </a:rPr>
              <a:t>checker</a:t>
            </a:r>
            <a:endParaRPr lang="en-US" sz="1100" dirty="0"/>
          </a:p>
        </p:txBody>
      </p:sp>
      <p:sp>
        <p:nvSpPr>
          <p:cNvPr id="16" name="phase-0"/>
          <p:cNvSpPr/>
          <p:nvPr/>
        </p:nvSpPr>
        <p:spPr>
          <a:xfrm>
            <a:off x="2194560" y="1444752"/>
            <a:ext cx="68580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Sélection</a:t>
            </a:r>
            <a:endParaRPr lang="en-US" sz="1100" dirty="0"/>
          </a:p>
        </p:txBody>
      </p:sp>
      <p:sp>
        <p:nvSpPr>
          <p:cNvPr id="17" name="phase-1"/>
          <p:cNvSpPr/>
          <p:nvPr/>
        </p:nvSpPr>
        <p:spPr>
          <a:xfrm>
            <a:off x="2926080" y="1444752"/>
            <a:ext cx="164592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Analyse</a:t>
            </a:r>
            <a:endParaRPr lang="en-US" sz="1100" dirty="0"/>
          </a:p>
        </p:txBody>
      </p:sp>
      <p:sp>
        <p:nvSpPr>
          <p:cNvPr id="18" name="wire-8"/>
          <p:cNvSpPr/>
          <p:nvPr/>
        </p:nvSpPr>
        <p:spPr>
          <a:xfrm>
            <a:off x="2903220" y="1847088"/>
            <a:ext cx="0" cy="4151376"/>
          </a:xfrm>
          <a:prstGeom prst="line">
            <a:avLst/>
          </a:prstGeom>
          <a:noFill/>
          <a:ln w="9525">
            <a:solidFill>
              <a:srgbClr val="C7CCD3"/>
            </a:solidFill>
            <a:prstDash val="dash"/>
          </a:ln>
        </p:spPr>
      </p:sp>
      <p:sp>
        <p:nvSpPr>
          <p:cNvPr id="19" name="phase-2"/>
          <p:cNvSpPr/>
          <p:nvPr/>
        </p:nvSpPr>
        <p:spPr>
          <a:xfrm>
            <a:off x="4617720" y="1444752"/>
            <a:ext cx="118872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V1-V3</a:t>
            </a:r>
            <a:endParaRPr lang="en-US" sz="1100" dirty="0"/>
          </a:p>
        </p:txBody>
      </p:sp>
      <p:sp>
        <p:nvSpPr>
          <p:cNvPr id="20" name="wire-9"/>
          <p:cNvSpPr/>
          <p:nvPr/>
        </p:nvSpPr>
        <p:spPr>
          <a:xfrm>
            <a:off x="4594860" y="1847088"/>
            <a:ext cx="0" cy="4151376"/>
          </a:xfrm>
          <a:prstGeom prst="line">
            <a:avLst/>
          </a:prstGeom>
          <a:noFill/>
          <a:ln w="9525">
            <a:solidFill>
              <a:srgbClr val="C7CCD3"/>
            </a:solidFill>
            <a:prstDash val="dash"/>
          </a:ln>
        </p:spPr>
      </p:sp>
      <p:sp>
        <p:nvSpPr>
          <p:cNvPr id="21" name="phase-3"/>
          <p:cNvSpPr/>
          <p:nvPr/>
        </p:nvSpPr>
        <p:spPr>
          <a:xfrm>
            <a:off x="5852160" y="1444752"/>
            <a:ext cx="219456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V1-V3</a:t>
            </a:r>
            <a:endParaRPr lang="en-US" sz="1100" dirty="0"/>
          </a:p>
        </p:txBody>
      </p:sp>
      <p:sp>
        <p:nvSpPr>
          <p:cNvPr id="22" name="wire-10"/>
          <p:cNvSpPr/>
          <p:nvPr/>
        </p:nvSpPr>
        <p:spPr>
          <a:xfrm>
            <a:off x="5829300" y="1847088"/>
            <a:ext cx="0" cy="4151376"/>
          </a:xfrm>
          <a:prstGeom prst="line">
            <a:avLst/>
          </a:prstGeom>
          <a:noFill/>
          <a:ln w="9525">
            <a:solidFill>
              <a:srgbClr val="C7CCD3"/>
            </a:solidFill>
            <a:prstDash val="dash"/>
          </a:ln>
        </p:spPr>
      </p:sp>
      <p:sp>
        <p:nvSpPr>
          <p:cNvPr id="23" name="phase-4"/>
          <p:cNvSpPr/>
          <p:nvPr/>
        </p:nvSpPr>
        <p:spPr>
          <a:xfrm>
            <a:off x="8092440" y="1444752"/>
            <a:ext cx="1005840"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Preuves V4-V5</a:t>
            </a:r>
            <a:endParaRPr lang="en-US" sz="1100" dirty="0"/>
          </a:p>
        </p:txBody>
      </p:sp>
      <p:sp>
        <p:nvSpPr>
          <p:cNvPr id="24" name="wire-11"/>
          <p:cNvSpPr/>
          <p:nvPr/>
        </p:nvSpPr>
        <p:spPr>
          <a:xfrm>
            <a:off x="8069580" y="1847088"/>
            <a:ext cx="0" cy="4151376"/>
          </a:xfrm>
          <a:prstGeom prst="line">
            <a:avLst/>
          </a:prstGeom>
          <a:noFill/>
          <a:ln w="9525">
            <a:solidFill>
              <a:srgbClr val="C7CCD3"/>
            </a:solidFill>
            <a:prstDash val="dash"/>
          </a:ln>
        </p:spPr>
      </p:sp>
      <p:sp>
        <p:nvSpPr>
          <p:cNvPr id="25" name="phase-5"/>
          <p:cNvSpPr/>
          <p:nvPr/>
        </p:nvSpPr>
        <p:spPr>
          <a:xfrm>
            <a:off x="9144000" y="1444752"/>
            <a:ext cx="1463040" cy="329184"/>
          </a:xfrm>
          <a:prstGeom prst="roundRect">
            <a:avLst>
              <a:gd name="adj" fmla="val 16667"/>
            </a:avLst>
          </a:prstGeom>
          <a:solidFill>
            <a:srgbClr val="3E4C59"/>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Correctifs V4-V5</a:t>
            </a:r>
            <a:endParaRPr lang="en-US" sz="1100" dirty="0"/>
          </a:p>
        </p:txBody>
      </p:sp>
      <p:sp>
        <p:nvSpPr>
          <p:cNvPr id="26" name="wire-12"/>
          <p:cNvSpPr/>
          <p:nvPr/>
        </p:nvSpPr>
        <p:spPr>
          <a:xfrm>
            <a:off x="9121140" y="1847088"/>
            <a:ext cx="0" cy="4151376"/>
          </a:xfrm>
          <a:prstGeom prst="line">
            <a:avLst/>
          </a:prstGeom>
          <a:noFill/>
          <a:ln w="9525">
            <a:solidFill>
              <a:srgbClr val="C7CCD3"/>
            </a:solidFill>
            <a:prstDash val="dash"/>
          </a:ln>
        </p:spPr>
      </p:sp>
      <p:sp>
        <p:nvSpPr>
          <p:cNvPr id="27" name="phase-6"/>
          <p:cNvSpPr/>
          <p:nvPr/>
        </p:nvSpPr>
        <p:spPr>
          <a:xfrm>
            <a:off x="10652760" y="1444752"/>
            <a:ext cx="1078992" cy="329184"/>
          </a:xfrm>
          <a:prstGeom prst="roundRect">
            <a:avLst>
              <a:gd name="adj" fmla="val 16667"/>
            </a:avLst>
          </a:prstGeom>
          <a:solidFill>
            <a:srgbClr val="1F2933"/>
          </a:solidFill>
          <a:ln>
            <a:solidFill>
              <a:srgbClr val="1F2933"/>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t>
            </a:r>
            <a:endParaRPr lang="en-US" sz="1100" dirty="0"/>
          </a:p>
        </p:txBody>
      </p:sp>
      <p:sp>
        <p:nvSpPr>
          <p:cNvPr id="28" name="wire-13"/>
          <p:cNvSpPr/>
          <p:nvPr/>
        </p:nvSpPr>
        <p:spPr>
          <a:xfrm>
            <a:off x="10629900" y="1847088"/>
            <a:ext cx="0" cy="4151376"/>
          </a:xfrm>
          <a:prstGeom prst="line">
            <a:avLst/>
          </a:prstGeom>
          <a:noFill/>
          <a:ln w="9525">
            <a:solidFill>
              <a:srgbClr val="C7CCD3"/>
            </a:solidFill>
            <a:prstDash val="dash"/>
          </a:ln>
        </p:spPr>
      </p:sp>
      <p:sp>
        <p:nvSpPr>
          <p:cNvPr id="29" name="bar-14"/>
          <p:cNvSpPr/>
          <p:nvPr/>
        </p:nvSpPr>
        <p:spPr>
          <a:xfrm>
            <a:off x="2240280" y="1938528"/>
            <a:ext cx="640080"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5 failles</a:t>
            </a:r>
            <a:endParaRPr lang="en-US" sz="1050" dirty="0"/>
          </a:p>
        </p:txBody>
      </p:sp>
      <p:sp>
        <p:nvSpPr>
          <p:cNvPr id="30" name="bar-15"/>
          <p:cNvSpPr/>
          <p:nvPr/>
        </p:nvSpPr>
        <p:spPr>
          <a:xfrm>
            <a:off x="11109960" y="1938528"/>
            <a:ext cx="603504" cy="347472"/>
          </a:xfrm>
          <a:prstGeom prst="roundRect">
            <a:avLst>
              <a:gd name="adj" fmla="val 13158"/>
            </a:avLst>
          </a:prstGeom>
          <a:solidFill>
            <a:srgbClr val="E3F2E7"/>
          </a:solidFill>
          <a:ln w="12700">
            <a:solidFill>
              <a:srgbClr val="2F7D4F"/>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MR</a:t>
            </a:r>
            <a:endParaRPr lang="en-US" sz="1050" dirty="0"/>
          </a:p>
        </p:txBody>
      </p:sp>
      <p:sp>
        <p:nvSpPr>
          <p:cNvPr id="31" name="bar-16"/>
          <p:cNvSpPr/>
          <p:nvPr/>
        </p:nvSpPr>
        <p:spPr>
          <a:xfrm>
            <a:off x="2971800" y="239572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2" name="bar-17"/>
          <p:cNvSpPr/>
          <p:nvPr/>
        </p:nvSpPr>
        <p:spPr>
          <a:xfrm>
            <a:off x="2971800" y="267004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3" name="bar-18"/>
          <p:cNvSpPr/>
          <p:nvPr/>
        </p:nvSpPr>
        <p:spPr>
          <a:xfrm>
            <a:off x="2971800" y="2944368"/>
            <a:ext cx="100584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34" name="bar-19"/>
          <p:cNvSpPr/>
          <p:nvPr/>
        </p:nvSpPr>
        <p:spPr>
          <a:xfrm>
            <a:off x="4023360" y="239572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35" name="bar-20"/>
          <p:cNvSpPr/>
          <p:nvPr/>
        </p:nvSpPr>
        <p:spPr>
          <a:xfrm>
            <a:off x="4023360" y="2670048"/>
            <a:ext cx="530352"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36" name="bar-21"/>
          <p:cNvSpPr/>
          <p:nvPr/>
        </p:nvSpPr>
        <p:spPr>
          <a:xfrm>
            <a:off x="2971800" y="3310128"/>
            <a:ext cx="1581912"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build + tests</a:t>
            </a:r>
            <a:endParaRPr lang="en-US" sz="1050" dirty="0"/>
          </a:p>
        </p:txBody>
      </p:sp>
      <p:sp>
        <p:nvSpPr>
          <p:cNvPr id="37" name="bar-22"/>
          <p:cNvSpPr/>
          <p:nvPr/>
        </p:nvSpPr>
        <p:spPr>
          <a:xfrm>
            <a:off x="4663440" y="376732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38" name="bar-23"/>
          <p:cNvSpPr/>
          <p:nvPr/>
        </p:nvSpPr>
        <p:spPr>
          <a:xfrm>
            <a:off x="4663440" y="404164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39" name="bar-24"/>
          <p:cNvSpPr/>
          <p:nvPr/>
        </p:nvSpPr>
        <p:spPr>
          <a:xfrm>
            <a:off x="4663440" y="4315968"/>
            <a:ext cx="109728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40" name="bar-25"/>
          <p:cNvSpPr/>
          <p:nvPr/>
        </p:nvSpPr>
        <p:spPr>
          <a:xfrm>
            <a:off x="8138160" y="376732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41" name="bar-26"/>
          <p:cNvSpPr/>
          <p:nvPr/>
        </p:nvSpPr>
        <p:spPr>
          <a:xfrm>
            <a:off x="8138160" y="4041648"/>
            <a:ext cx="914400" cy="237744"/>
          </a:xfrm>
          <a:prstGeom prst="roundRect">
            <a:avLst>
              <a:gd name="adj" fmla="val 19231"/>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42" name="bar-27"/>
          <p:cNvSpPr/>
          <p:nvPr/>
        </p:nvSpPr>
        <p:spPr>
          <a:xfrm>
            <a:off x="589788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V1</a:t>
            </a:r>
            <a:endParaRPr lang="en-US" sz="1000" dirty="0"/>
          </a:p>
        </p:txBody>
      </p:sp>
      <p:sp>
        <p:nvSpPr>
          <p:cNvPr id="43" name="bar-28"/>
          <p:cNvSpPr/>
          <p:nvPr/>
        </p:nvSpPr>
        <p:spPr>
          <a:xfrm>
            <a:off x="635508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4" name="wire-29"/>
          <p:cNvSpPr/>
          <p:nvPr/>
        </p:nvSpPr>
        <p:spPr>
          <a:xfrm>
            <a:off x="6355080" y="4855464"/>
            <a:ext cx="114300" cy="0"/>
          </a:xfrm>
          <a:prstGeom prst="line">
            <a:avLst/>
          </a:prstGeom>
          <a:noFill/>
          <a:ln w="12700">
            <a:solidFill>
              <a:srgbClr val="6B7280"/>
            </a:solidFill>
            <a:prstDash val="solid"/>
          </a:ln>
        </p:spPr>
      </p:sp>
      <p:sp>
        <p:nvSpPr>
          <p:cNvPr id="45" name="wire-30"/>
          <p:cNvSpPr/>
          <p:nvPr/>
        </p:nvSpPr>
        <p:spPr>
          <a:xfrm>
            <a:off x="6469380" y="4855464"/>
            <a:ext cx="0" cy="283464"/>
          </a:xfrm>
          <a:prstGeom prst="line">
            <a:avLst/>
          </a:prstGeom>
          <a:noFill/>
          <a:ln w="12700">
            <a:solidFill>
              <a:srgbClr val="6B7280"/>
            </a:solidFill>
            <a:prstDash val="solid"/>
            <a:tailEnd type="triangle"/>
          </a:ln>
        </p:spPr>
      </p:sp>
      <p:sp>
        <p:nvSpPr>
          <p:cNvPr id="46" name="bar-31"/>
          <p:cNvSpPr/>
          <p:nvPr/>
        </p:nvSpPr>
        <p:spPr>
          <a:xfrm>
            <a:off x="662940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V2</a:t>
            </a:r>
            <a:endParaRPr lang="en-US" sz="1000" dirty="0"/>
          </a:p>
        </p:txBody>
      </p:sp>
      <p:sp>
        <p:nvSpPr>
          <p:cNvPr id="47" name="bar-32"/>
          <p:cNvSpPr/>
          <p:nvPr/>
        </p:nvSpPr>
        <p:spPr>
          <a:xfrm>
            <a:off x="708660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48" name="wire-33"/>
          <p:cNvSpPr/>
          <p:nvPr/>
        </p:nvSpPr>
        <p:spPr>
          <a:xfrm>
            <a:off x="7086600" y="4855464"/>
            <a:ext cx="114300" cy="0"/>
          </a:xfrm>
          <a:prstGeom prst="line">
            <a:avLst/>
          </a:prstGeom>
          <a:noFill/>
          <a:ln w="12700">
            <a:solidFill>
              <a:srgbClr val="6B7280"/>
            </a:solidFill>
            <a:prstDash val="solid"/>
          </a:ln>
        </p:spPr>
      </p:sp>
      <p:sp>
        <p:nvSpPr>
          <p:cNvPr id="49" name="wire-34"/>
          <p:cNvSpPr/>
          <p:nvPr/>
        </p:nvSpPr>
        <p:spPr>
          <a:xfrm>
            <a:off x="7200900" y="4855464"/>
            <a:ext cx="0" cy="283464"/>
          </a:xfrm>
          <a:prstGeom prst="line">
            <a:avLst/>
          </a:prstGeom>
          <a:noFill/>
          <a:ln w="12700">
            <a:solidFill>
              <a:srgbClr val="6B7280"/>
            </a:solidFill>
            <a:prstDash val="solid"/>
            <a:tailEnd type="triangle"/>
          </a:ln>
        </p:spPr>
      </p:sp>
      <p:sp>
        <p:nvSpPr>
          <p:cNvPr id="50" name="bar-35"/>
          <p:cNvSpPr/>
          <p:nvPr/>
        </p:nvSpPr>
        <p:spPr>
          <a:xfrm>
            <a:off x="73609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V3</a:t>
            </a:r>
            <a:endParaRPr lang="en-US" sz="1000" dirty="0"/>
          </a:p>
        </p:txBody>
      </p:sp>
      <p:sp>
        <p:nvSpPr>
          <p:cNvPr id="51" name="bar-36"/>
          <p:cNvSpPr/>
          <p:nvPr/>
        </p:nvSpPr>
        <p:spPr>
          <a:xfrm>
            <a:off x="78181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2" name="wire-37"/>
          <p:cNvSpPr/>
          <p:nvPr/>
        </p:nvSpPr>
        <p:spPr>
          <a:xfrm>
            <a:off x="7818120" y="4855464"/>
            <a:ext cx="114300" cy="0"/>
          </a:xfrm>
          <a:prstGeom prst="line">
            <a:avLst/>
          </a:prstGeom>
          <a:noFill/>
          <a:ln w="12700">
            <a:solidFill>
              <a:srgbClr val="6B7280"/>
            </a:solidFill>
            <a:prstDash val="solid"/>
          </a:ln>
        </p:spPr>
      </p:sp>
      <p:sp>
        <p:nvSpPr>
          <p:cNvPr id="53" name="wire-38"/>
          <p:cNvSpPr/>
          <p:nvPr/>
        </p:nvSpPr>
        <p:spPr>
          <a:xfrm>
            <a:off x="7932420" y="4855464"/>
            <a:ext cx="0" cy="283464"/>
          </a:xfrm>
          <a:prstGeom prst="line">
            <a:avLst/>
          </a:prstGeom>
          <a:noFill/>
          <a:ln w="12700">
            <a:solidFill>
              <a:srgbClr val="6B7280"/>
            </a:solidFill>
            <a:prstDash val="solid"/>
            <a:tailEnd type="triangle"/>
          </a:ln>
        </p:spPr>
      </p:sp>
      <p:sp>
        <p:nvSpPr>
          <p:cNvPr id="54" name="bar-39"/>
          <p:cNvSpPr/>
          <p:nvPr/>
        </p:nvSpPr>
        <p:spPr>
          <a:xfrm>
            <a:off x="918972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V4</a:t>
            </a:r>
            <a:endParaRPr lang="en-US" sz="1000" dirty="0"/>
          </a:p>
        </p:txBody>
      </p:sp>
      <p:sp>
        <p:nvSpPr>
          <p:cNvPr id="55" name="bar-40"/>
          <p:cNvSpPr/>
          <p:nvPr/>
        </p:nvSpPr>
        <p:spPr>
          <a:xfrm>
            <a:off x="964692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56" name="wire-41"/>
          <p:cNvSpPr/>
          <p:nvPr/>
        </p:nvSpPr>
        <p:spPr>
          <a:xfrm>
            <a:off x="9646920" y="4855464"/>
            <a:ext cx="114300" cy="0"/>
          </a:xfrm>
          <a:prstGeom prst="line">
            <a:avLst/>
          </a:prstGeom>
          <a:noFill/>
          <a:ln w="12700">
            <a:solidFill>
              <a:srgbClr val="6B7280"/>
            </a:solidFill>
            <a:prstDash val="solid"/>
          </a:ln>
        </p:spPr>
      </p:sp>
      <p:sp>
        <p:nvSpPr>
          <p:cNvPr id="57" name="wire-42"/>
          <p:cNvSpPr/>
          <p:nvPr/>
        </p:nvSpPr>
        <p:spPr>
          <a:xfrm>
            <a:off x="9761220" y="4855464"/>
            <a:ext cx="0" cy="283464"/>
          </a:xfrm>
          <a:prstGeom prst="line">
            <a:avLst/>
          </a:prstGeom>
          <a:noFill/>
          <a:ln w="12700">
            <a:solidFill>
              <a:srgbClr val="6B7280"/>
            </a:solidFill>
            <a:prstDash val="solid"/>
            <a:tailEnd type="triangle"/>
          </a:ln>
        </p:spPr>
      </p:sp>
      <p:sp>
        <p:nvSpPr>
          <p:cNvPr id="58" name="bar-43"/>
          <p:cNvSpPr/>
          <p:nvPr/>
        </p:nvSpPr>
        <p:spPr>
          <a:xfrm>
            <a:off x="9921240" y="4681728"/>
            <a:ext cx="457200"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V5</a:t>
            </a:r>
            <a:endParaRPr lang="en-US" sz="1000" dirty="0"/>
          </a:p>
        </p:txBody>
      </p:sp>
      <p:sp>
        <p:nvSpPr>
          <p:cNvPr id="59" name="bar-44"/>
          <p:cNvSpPr/>
          <p:nvPr/>
        </p:nvSpPr>
        <p:spPr>
          <a:xfrm>
            <a:off x="10378440" y="5138928"/>
            <a:ext cx="228600" cy="347472"/>
          </a:xfrm>
          <a:prstGeom prst="roundRect">
            <a:avLst>
              <a:gd name="adj" fmla="val 20000"/>
            </a:avLst>
          </a:prstGeom>
          <a:solidFill>
            <a:srgbClr val="E3F2E7"/>
          </a:solidFill>
          <a:ln w="12700">
            <a:solidFill>
              <a:srgbClr val="2F7D4F"/>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a:t>
            </a:r>
            <a:endParaRPr lang="en-US" sz="1000" dirty="0"/>
          </a:p>
        </p:txBody>
      </p:sp>
      <p:sp>
        <p:nvSpPr>
          <p:cNvPr id="60" name="wire-45"/>
          <p:cNvSpPr/>
          <p:nvPr/>
        </p:nvSpPr>
        <p:spPr>
          <a:xfrm>
            <a:off x="10378440" y="4855464"/>
            <a:ext cx="114300" cy="0"/>
          </a:xfrm>
          <a:prstGeom prst="line">
            <a:avLst/>
          </a:prstGeom>
          <a:noFill/>
          <a:ln w="12700">
            <a:solidFill>
              <a:srgbClr val="6B7280"/>
            </a:solidFill>
            <a:prstDash val="solid"/>
          </a:ln>
        </p:spPr>
      </p:sp>
      <p:sp>
        <p:nvSpPr>
          <p:cNvPr id="61" name="wire-46"/>
          <p:cNvSpPr/>
          <p:nvPr/>
        </p:nvSpPr>
        <p:spPr>
          <a:xfrm>
            <a:off x="10492740" y="4855464"/>
            <a:ext cx="0" cy="283464"/>
          </a:xfrm>
          <a:prstGeom prst="line">
            <a:avLst/>
          </a:prstGeom>
          <a:noFill/>
          <a:ln w="12700">
            <a:solidFill>
              <a:srgbClr val="6B7280"/>
            </a:solidFill>
            <a:prstDash val="solid"/>
            <a:tailEnd type="triangle"/>
          </a:ln>
        </p:spPr>
      </p:sp>
      <p:sp>
        <p:nvSpPr>
          <p:cNvPr id="62" name="bar-47"/>
          <p:cNvSpPr/>
          <p:nvPr/>
        </p:nvSpPr>
        <p:spPr>
          <a:xfrm>
            <a:off x="10698480" y="3310128"/>
            <a:ext cx="566928" cy="347472"/>
          </a:xfrm>
          <a:prstGeom prst="roundRect">
            <a:avLst>
              <a:gd name="adj" fmla="val 13158"/>
            </a:avLst>
          </a:prstGeom>
          <a:solidFill>
            <a:srgbClr val="F4F5F7"/>
          </a:solidFill>
          <a:ln w="12700">
            <a:solidFill>
              <a:srgbClr val="7A828C"/>
            </a:solidFill>
          </a:ln>
        </p:spPr>
        <p:txBody>
          <a:bodyPr wrap="square" lIns="0" tIns="0" rIns="0" bIns="0" rtlCol="0" anchor="ctr"/>
          <a:lstStyle/>
          <a:p>
            <a:pPr algn="ctr" indent="0" marL="0">
              <a:buNone/>
            </a:pPr>
            <a:r>
              <a:rPr lang="en-US" sz="1050" b="1" dirty="0">
                <a:solidFill>
                  <a:srgbClr val="1F2933"/>
                </a:solidFill>
                <a:latin typeface="Calibri" pitchFamily="34" charset="0"/>
                <a:ea typeface="Calibri" pitchFamily="34" charset="-122"/>
                <a:cs typeface="Calibri" pitchFamily="34" charset="-120"/>
              </a:rPr>
              <a:t>tests</a:t>
            </a:r>
            <a:endParaRPr lang="en-US" sz="1050" dirty="0"/>
          </a:p>
        </p:txBody>
      </p:sp>
      <p:sp>
        <p:nvSpPr>
          <p:cNvPr id="63" name="label-48"/>
          <p:cNvSpPr txBox="1"/>
          <p:nvPr/>
        </p:nvSpPr>
        <p:spPr>
          <a:xfrm>
            <a:off x="4709160" y="2651760"/>
            <a:ext cx="274320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analyses en même temps, puis 2</a:t>
            </a:r>
            <a:endParaRPr lang="en-US" sz="1050" dirty="0"/>
          </a:p>
        </p:txBody>
      </p:sp>
      <p:sp>
        <p:nvSpPr>
          <p:cNvPr id="64" name="label-49"/>
          <p:cNvSpPr txBox="1"/>
          <p:nvPr/>
        </p:nvSpPr>
        <p:spPr>
          <a:xfrm>
            <a:off x="5943600" y="4023360"/>
            <a:ext cx="2103120" cy="274320"/>
          </a:xfrm>
          <a:prstGeom prst="rect">
            <a:avLst/>
          </a:prstGeom>
          <a:noFill/>
          <a:ln/>
        </p:spPr>
        <p:txBody>
          <a:bodyPr wrap="square" lIns="0" tIns="0" rIns="0" bIns="0" rtlCol="0" anchor="ctr"/>
          <a:lstStyle/>
          <a:p>
            <a:pPr algn="l" indent="0" marL="0">
              <a:buNone/>
            </a:pPr>
            <a:r>
              <a:rPr lang="en-US" sz="1050" i="1" dirty="0">
                <a:solidFill>
                  <a:srgbClr val="5B6470"/>
                </a:solidFill>
                <a:latin typeface="Calibri" pitchFamily="34" charset="0"/>
                <a:ea typeface="Calibri" pitchFamily="34" charset="-122"/>
                <a:cs typeface="Calibri" pitchFamily="34" charset="-120"/>
              </a:rPr>
              <a:t>3 preuves en même temps, puis 2</a:t>
            </a:r>
            <a:endParaRPr lang="en-US" sz="1050" dirty="0"/>
          </a:p>
        </p:txBody>
      </p:sp>
      <p:sp>
        <p:nvSpPr>
          <p:cNvPr id="65" name="bar-50"/>
          <p:cNvSpPr/>
          <p:nvPr/>
        </p:nvSpPr>
        <p:spPr>
          <a:xfrm>
            <a:off x="10698480" y="5596128"/>
            <a:ext cx="566928" cy="347472"/>
          </a:xfrm>
          <a:prstGeom prst="roundRect">
            <a:avLst>
              <a:gd name="adj" fmla="val 13158"/>
            </a:avLst>
          </a:prstGeom>
          <a:solidFill>
            <a:srgbClr val="E4EEF8"/>
          </a:solidFill>
          <a:ln w="12700">
            <a:solidFill>
              <a:srgbClr val="2E6DA4"/>
            </a:solidFill>
          </a:ln>
        </p:spPr>
        <p:txBody>
          <a:bodyPr wrap="square" lIns="0" tIns="0" rIns="0" bIns="0" rtlCol="0" anchor="ctr"/>
          <a:lstStyle/>
          <a:p>
            <a:pPr algn="ctr" indent="0" marL="0">
              <a:buNone/>
            </a:pPr>
            <a:r>
              <a:rPr lang="en-US" sz="1000" b="1" dirty="0">
                <a:solidFill>
                  <a:srgbClr val="1F2933"/>
                </a:solidFill>
                <a:latin typeface="Calibri" pitchFamily="34" charset="0"/>
                <a:ea typeface="Calibri" pitchFamily="34" charset="-122"/>
                <a:cs typeface="Calibri" pitchFamily="34" charset="-120"/>
              </a:rPr>
              <a:t>relit</a:t>
            </a:r>
            <a:endParaRPr lang="en-US" sz="1000" dirty="0"/>
          </a:p>
        </p:txBody>
      </p:sp>
      <p:sp>
        <p:nvSpPr>
          <p:cNvPr id="66" name="foot-51"/>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En même temps : les analyses, le build de develop, les preuves.   Un par un : les correctifs, chacun contrôlé (✓) et commité seul.</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une faille, de la carte au commit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faille finit de trois façons, toutes prouvées : corrigée, non exploitable, ou mise de côté.</a:t>
            </a:r>
            <a:endParaRPr lang="en-US" sz="1500" dirty="0"/>
          </a:p>
        </p:txBody>
      </p:sp>
      <p:sp>
        <p:nvSpPr>
          <p:cNvPr id="5" name="a"/>
          <p:cNvSpPr/>
          <p:nvPr/>
        </p:nvSpPr>
        <p:spPr>
          <a:xfrm>
            <a:off x="457200" y="1874520"/>
            <a:ext cx="141732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 Fortify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Critical, High</a:t>
            </a:r>
            <a:endParaRPr lang="en-US" sz="1300" dirty="0"/>
          </a:p>
        </p:txBody>
      </p:sp>
      <p:sp>
        <p:nvSpPr>
          <p:cNvPr id="6" name="b"/>
          <p:cNvSpPr/>
          <p:nvPr/>
        </p:nvSpPr>
        <p:spPr>
          <a:xfrm>
            <a:off x="2194560" y="1874520"/>
            <a:ext cx="17830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carte de la faille</a:t>
            </a:r>
            <a:endParaRPr lang="en-US" sz="1300" dirty="0"/>
          </a:p>
        </p:txBody>
      </p:sp>
      <p:sp>
        <p:nvSpPr>
          <p:cNvPr id="7" name="c"/>
          <p:cNvSpPr/>
          <p:nvPr/>
        </p:nvSpPr>
        <p:spPr>
          <a:xfrm>
            <a:off x="4297680" y="1755648"/>
            <a:ext cx="146304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Verdict ?</a:t>
            </a:r>
            <a:endParaRPr lang="en-US" sz="1200" dirty="0"/>
          </a:p>
        </p:txBody>
      </p:sp>
      <p:sp>
        <p:nvSpPr>
          <p:cNvPr id="8" name="d"/>
          <p:cNvSpPr/>
          <p:nvPr/>
        </p:nvSpPr>
        <p:spPr>
          <a:xfrm>
            <a:off x="6446520" y="1874520"/>
            <a:ext cx="20116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9" name="e"/>
          <p:cNvSpPr/>
          <p:nvPr/>
        </p:nvSpPr>
        <p:spPr>
          <a:xfrm>
            <a:off x="8732520" y="1755648"/>
            <a:ext cx="1371600" cy="105156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Le test</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de la faille</a:t>
            </a:r>
            <a:endParaRPr lang="en-US" sz="1200" dirty="0"/>
          </a:p>
        </p:txBody>
      </p:sp>
      <p:sp>
        <p:nvSpPr>
          <p:cNvPr id="10" name="f"/>
          <p:cNvSpPr/>
          <p:nvPr/>
        </p:nvSpPr>
        <p:spPr>
          <a:xfrm>
            <a:off x="10424160" y="1874520"/>
            <a:ext cx="1307592"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 exploitable</a:t>
            </a:r>
            <a:endParaRPr lang="en-US" sz="1300" dirty="0"/>
          </a:p>
        </p:txBody>
      </p:sp>
      <p:sp>
        <p:nvSpPr>
          <p:cNvPr id="11" name="g"/>
          <p:cNvSpPr/>
          <p:nvPr/>
        </p:nvSpPr>
        <p:spPr>
          <a:xfrm>
            <a:off x="3977640" y="3246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À déclarer dans SSC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par toi, carte à l'appui</a:t>
            </a:r>
            <a:endParaRPr lang="en-US" sz="1300" dirty="0"/>
          </a:p>
        </p:txBody>
      </p:sp>
      <p:sp>
        <p:nvSpPr>
          <p:cNvPr id="12" name="h"/>
          <p:cNvSpPr/>
          <p:nvPr/>
        </p:nvSpPr>
        <p:spPr>
          <a:xfrm>
            <a:off x="8641080" y="3246120"/>
            <a:ext cx="15544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13" name="i"/>
          <p:cNvSpPr/>
          <p:nvPr/>
        </p:nvSpPr>
        <p:spPr>
          <a:xfrm>
            <a:off x="8641080" y="4526280"/>
            <a:ext cx="1554480" cy="777240"/>
          </a:xfrm>
          <a:prstGeom prst="roundRect">
            <a:avLst>
              <a:gd name="adj" fmla="val 9412"/>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plus petit correctif</a:t>
            </a:r>
            <a:endParaRPr lang="en-US" sz="1300" dirty="0"/>
          </a:p>
        </p:txBody>
      </p:sp>
      <p:sp>
        <p:nvSpPr>
          <p:cNvPr id="14" name="j"/>
          <p:cNvSpPr/>
          <p:nvPr/>
        </p:nvSpPr>
        <p:spPr>
          <a:xfrm>
            <a:off x="6263640" y="4407408"/>
            <a:ext cx="1463040" cy="100584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5" name="k"/>
          <p:cNvSpPr/>
          <p:nvPr/>
        </p:nvSpPr>
        <p:spPr>
          <a:xfrm>
            <a:off x="3977640" y="4526280"/>
            <a:ext cx="210312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fix(security)</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commit par faille</a:t>
            </a:r>
            <a:endParaRPr lang="en-US" sz="1300" dirty="0"/>
          </a:p>
        </p:txBody>
      </p:sp>
      <p:sp>
        <p:nvSpPr>
          <p:cNvPr id="16" name="l"/>
          <p:cNvSpPr/>
          <p:nvPr/>
        </p:nvSpPr>
        <p:spPr>
          <a:xfrm>
            <a:off x="6217920" y="5596128"/>
            <a:ext cx="1554480" cy="566928"/>
          </a:xfrm>
          <a:prstGeom prst="roundRect">
            <a:avLst>
              <a:gd name="adj" fmla="val 12903"/>
            </a:avLst>
          </a:prstGeom>
          <a:solidFill>
            <a:srgbClr val="FBE6E3"/>
          </a:solidFill>
          <a:ln w="15875">
            <a:solidFill>
              <a:srgbClr val="B23A30"/>
            </a:solidFill>
          </a:ln>
        </p:spPr>
        <p:txBody>
          <a:bodyPr wrap="square" lIns="38100" tIns="38100" rIns="38100" bIns="3810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Mise de côté</a:t>
            </a:r>
            <a:endParaRPr lang="en-US" sz="1200" dirty="0"/>
          </a:p>
          <a:p>
            <a:pPr algn="ctr" indent="0" marL="0">
              <a:buNone/>
            </a:pPr>
            <a:r>
              <a:rPr lang="en-US" sz="1000" dirty="0">
                <a:solidFill>
                  <a:srgbClr val="3E4C59"/>
                </a:solidFill>
                <a:latin typeface="Calibri" pitchFamily="34" charset="0"/>
                <a:ea typeface="Calibri" pitchFamily="34" charset="-122"/>
                <a:cs typeface="Calibri" pitchFamily="34" charset="-120"/>
              </a:rPr>
              <a:t>récupérable</a:t>
            </a:r>
            <a:endParaRPr lang="en-US" sz="1200" dirty="0"/>
          </a:p>
        </p:txBody>
      </p:sp>
      <p:sp>
        <p:nvSpPr>
          <p:cNvPr id="17" name="wire-1"/>
          <p:cNvSpPr/>
          <p:nvPr/>
        </p:nvSpPr>
        <p:spPr>
          <a:xfrm>
            <a:off x="1874520" y="2286000"/>
            <a:ext cx="320040" cy="0"/>
          </a:xfrm>
          <a:prstGeom prst="line">
            <a:avLst/>
          </a:prstGeom>
          <a:noFill/>
          <a:ln w="15875">
            <a:solidFill>
              <a:srgbClr val="6B7280"/>
            </a:solidFill>
            <a:prstDash val="solid"/>
            <a:tailEnd type="triangle"/>
          </a:ln>
        </p:spPr>
      </p:sp>
      <p:sp>
        <p:nvSpPr>
          <p:cNvPr id="18" name="wire-2"/>
          <p:cNvSpPr/>
          <p:nvPr/>
        </p:nvSpPr>
        <p:spPr>
          <a:xfrm flipV="1">
            <a:off x="3977640" y="2281428"/>
            <a:ext cx="320040" cy="4572"/>
          </a:xfrm>
          <a:prstGeom prst="line">
            <a:avLst/>
          </a:prstGeom>
          <a:noFill/>
          <a:ln w="15875">
            <a:solidFill>
              <a:srgbClr val="6B7280"/>
            </a:solidFill>
            <a:prstDash val="solid"/>
            <a:tailEnd type="triangle"/>
          </a:ln>
        </p:spPr>
      </p:sp>
      <p:sp>
        <p:nvSpPr>
          <p:cNvPr id="19" name="wire-3"/>
          <p:cNvSpPr/>
          <p:nvPr/>
        </p:nvSpPr>
        <p:spPr>
          <a:xfrm>
            <a:off x="5760720" y="2281428"/>
            <a:ext cx="685800" cy="4572"/>
          </a:xfrm>
          <a:prstGeom prst="line">
            <a:avLst/>
          </a:prstGeom>
          <a:noFill/>
          <a:ln w="15875">
            <a:solidFill>
              <a:srgbClr val="6B7280"/>
            </a:solidFill>
            <a:prstDash val="solid"/>
            <a:tailEnd type="triangle"/>
          </a:ln>
        </p:spPr>
      </p:sp>
      <p:sp>
        <p:nvSpPr>
          <p:cNvPr id="20" name="label-4"/>
          <p:cNvSpPr txBox="1"/>
          <p:nvPr/>
        </p:nvSpPr>
        <p:spPr>
          <a:xfrm>
            <a:off x="5669280" y="2011680"/>
            <a:ext cx="7772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vraie faille</a:t>
            </a:r>
            <a:endParaRPr lang="en-US" sz="1050" dirty="0"/>
          </a:p>
        </p:txBody>
      </p:sp>
      <p:sp>
        <p:nvSpPr>
          <p:cNvPr id="21" name="wire-5"/>
          <p:cNvSpPr/>
          <p:nvPr/>
        </p:nvSpPr>
        <p:spPr>
          <a:xfrm>
            <a:off x="5029200" y="2807208"/>
            <a:ext cx="0" cy="438912"/>
          </a:xfrm>
          <a:prstGeom prst="line">
            <a:avLst/>
          </a:prstGeom>
          <a:noFill/>
          <a:ln w="15875">
            <a:solidFill>
              <a:srgbClr val="6B7280"/>
            </a:solidFill>
            <a:prstDash val="solid"/>
            <a:tailEnd type="triangle"/>
          </a:ln>
        </p:spPr>
      </p:sp>
      <p:sp>
        <p:nvSpPr>
          <p:cNvPr id="22" name="label-6"/>
          <p:cNvSpPr txBox="1"/>
          <p:nvPr/>
        </p:nvSpPr>
        <p:spPr>
          <a:xfrm>
            <a:off x="5120640" y="288036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faux positif</a:t>
            </a:r>
            <a:endParaRPr lang="en-US" sz="1050" dirty="0"/>
          </a:p>
        </p:txBody>
      </p:sp>
      <p:sp>
        <p:nvSpPr>
          <p:cNvPr id="23" name="wire-7"/>
          <p:cNvSpPr/>
          <p:nvPr/>
        </p:nvSpPr>
        <p:spPr>
          <a:xfrm flipV="1">
            <a:off x="8458200" y="2281428"/>
            <a:ext cx="274320" cy="4572"/>
          </a:xfrm>
          <a:prstGeom prst="line">
            <a:avLst/>
          </a:prstGeom>
          <a:noFill/>
          <a:ln w="15875">
            <a:solidFill>
              <a:srgbClr val="6B7280"/>
            </a:solidFill>
            <a:prstDash val="solid"/>
            <a:tailEnd type="triangle"/>
          </a:ln>
        </p:spPr>
      </p:sp>
      <p:sp>
        <p:nvSpPr>
          <p:cNvPr id="24" name="wire-8"/>
          <p:cNvSpPr/>
          <p:nvPr/>
        </p:nvSpPr>
        <p:spPr>
          <a:xfrm>
            <a:off x="10104120" y="2281428"/>
            <a:ext cx="320040" cy="4572"/>
          </a:xfrm>
          <a:prstGeom prst="line">
            <a:avLst/>
          </a:prstGeom>
          <a:noFill/>
          <a:ln w="15875">
            <a:solidFill>
              <a:srgbClr val="6B7280"/>
            </a:solidFill>
            <a:prstDash val="solid"/>
            <a:tailEnd type="triangle"/>
          </a:ln>
        </p:spPr>
      </p:sp>
      <p:sp>
        <p:nvSpPr>
          <p:cNvPr id="25" name="label-9"/>
          <p:cNvSpPr txBox="1"/>
          <p:nvPr/>
        </p:nvSpPr>
        <p:spPr>
          <a:xfrm>
            <a:off x="10104120" y="2011680"/>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26" name="wire-10"/>
          <p:cNvSpPr/>
          <p:nvPr/>
        </p:nvSpPr>
        <p:spPr>
          <a:xfrm flipH="1">
            <a:off x="9418320" y="2807208"/>
            <a:ext cx="0" cy="438912"/>
          </a:xfrm>
          <a:prstGeom prst="line">
            <a:avLst/>
          </a:prstGeom>
          <a:noFill/>
          <a:ln w="15875">
            <a:solidFill>
              <a:srgbClr val="6B7280"/>
            </a:solidFill>
            <a:prstDash val="solid"/>
            <a:tailEnd type="triangle"/>
          </a:ln>
        </p:spPr>
      </p:sp>
      <p:sp>
        <p:nvSpPr>
          <p:cNvPr id="27" name="label-11"/>
          <p:cNvSpPr txBox="1"/>
          <p:nvPr/>
        </p:nvSpPr>
        <p:spPr>
          <a:xfrm>
            <a:off x="9509760" y="288036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rouge</a:t>
            </a:r>
            <a:endParaRPr lang="en-US" sz="1050" dirty="0"/>
          </a:p>
        </p:txBody>
      </p:sp>
      <p:sp>
        <p:nvSpPr>
          <p:cNvPr id="28" name="wire-12"/>
          <p:cNvSpPr/>
          <p:nvPr/>
        </p:nvSpPr>
        <p:spPr>
          <a:xfrm>
            <a:off x="9418320" y="4023360"/>
            <a:ext cx="0" cy="502920"/>
          </a:xfrm>
          <a:prstGeom prst="line">
            <a:avLst/>
          </a:prstGeom>
          <a:noFill/>
          <a:ln w="15875">
            <a:solidFill>
              <a:srgbClr val="6B7280"/>
            </a:solidFill>
            <a:prstDash val="solid"/>
            <a:tailEnd type="triangle"/>
          </a:ln>
        </p:spPr>
      </p:sp>
      <p:sp>
        <p:nvSpPr>
          <p:cNvPr id="29" name="wire-13"/>
          <p:cNvSpPr/>
          <p:nvPr/>
        </p:nvSpPr>
        <p:spPr>
          <a:xfrm flipH="1" flipV="1">
            <a:off x="7726680" y="4910328"/>
            <a:ext cx="914400" cy="4572"/>
          </a:xfrm>
          <a:prstGeom prst="line">
            <a:avLst/>
          </a:prstGeom>
          <a:noFill/>
          <a:ln w="15875">
            <a:solidFill>
              <a:srgbClr val="6B7280"/>
            </a:solidFill>
            <a:prstDash val="solid"/>
            <a:tailEnd type="triangle"/>
          </a:ln>
        </p:spPr>
      </p:sp>
      <p:sp>
        <p:nvSpPr>
          <p:cNvPr id="30" name="wire-14"/>
          <p:cNvSpPr/>
          <p:nvPr/>
        </p:nvSpPr>
        <p:spPr>
          <a:xfrm flipH="1">
            <a:off x="6080760" y="4910328"/>
            <a:ext cx="182880" cy="4572"/>
          </a:xfrm>
          <a:prstGeom prst="line">
            <a:avLst/>
          </a:prstGeom>
          <a:noFill/>
          <a:ln w="15875">
            <a:solidFill>
              <a:srgbClr val="6B7280"/>
            </a:solidFill>
            <a:prstDash val="solid"/>
            <a:tailEnd type="triangle"/>
          </a:ln>
        </p:spPr>
      </p:sp>
      <p:sp>
        <p:nvSpPr>
          <p:cNvPr id="31" name="label-15"/>
          <p:cNvSpPr txBox="1"/>
          <p:nvPr/>
        </p:nvSpPr>
        <p:spPr>
          <a:xfrm>
            <a:off x="6108192" y="4690872"/>
            <a:ext cx="27432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32" name="wire-16"/>
          <p:cNvSpPr/>
          <p:nvPr/>
        </p:nvSpPr>
        <p:spPr>
          <a:xfrm>
            <a:off x="6995160" y="5413248"/>
            <a:ext cx="0" cy="182880"/>
          </a:xfrm>
          <a:prstGeom prst="line">
            <a:avLst/>
          </a:prstGeom>
          <a:noFill/>
          <a:ln w="15875">
            <a:solidFill>
              <a:srgbClr val="6B7280"/>
            </a:solidFill>
            <a:prstDash val="solid"/>
            <a:tailEnd type="triangle"/>
          </a:ln>
        </p:spPr>
      </p:sp>
      <p:sp>
        <p:nvSpPr>
          <p:cNvPr id="33" name="label-17"/>
          <p:cNvSpPr txBox="1"/>
          <p:nvPr/>
        </p:nvSpPr>
        <p:spPr>
          <a:xfrm>
            <a:off x="7132320" y="5394960"/>
            <a:ext cx="822960" cy="201168"/>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 ×2</a:t>
            </a:r>
            <a:endParaRPr lang="en-US" sz="1050" dirty="0"/>
          </a:p>
        </p:txBody>
      </p:sp>
      <p:sp>
        <p:nvSpPr>
          <p:cNvPr id="34" name="group-18"/>
          <p:cNvSpPr/>
          <p:nvPr/>
        </p:nvSpPr>
        <p:spPr>
          <a:xfrm>
            <a:off x="457200" y="3108960"/>
            <a:ext cx="3200400" cy="3063240"/>
          </a:xfrm>
          <a:prstGeom prst="roundRect">
            <a:avLst>
              <a:gd name="adj" fmla="val 2985"/>
            </a:avLst>
          </a:prstGeom>
          <a:solidFill>
            <a:srgbClr val="FFFFFF">
              <a:alpha val="0"/>
            </a:srgbClr>
          </a:solidFill>
          <a:ln w="12700">
            <a:solidFill>
              <a:srgbClr val="A3AAB3"/>
            </a:solidFill>
            <a:prstDash val="dash"/>
          </a:ln>
        </p:spPr>
      </p:sp>
      <p:sp>
        <p:nvSpPr>
          <p:cNvPr id="35" name="group-label-19"/>
          <p:cNvSpPr txBox="1"/>
          <p:nvPr/>
        </p:nvSpPr>
        <p:spPr>
          <a:xfrm>
            <a:off x="566928" y="3145536"/>
            <a:ext cx="298094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dans la MR, pour chaque faille</a:t>
            </a:r>
            <a:endParaRPr lang="en-US" sz="1050" dirty="0"/>
          </a:p>
        </p:txBody>
      </p:sp>
      <p:sp>
        <p:nvSpPr>
          <p:cNvPr id="36" name="tag-20"/>
          <p:cNvSpPr/>
          <p:nvPr/>
        </p:nvSpPr>
        <p:spPr>
          <a:xfrm>
            <a:off x="640080" y="347472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gravité, fichier, correctif</a:t>
            </a:r>
            <a:endParaRPr lang="en-US" sz="1050" dirty="0"/>
          </a:p>
        </p:txBody>
      </p:sp>
      <p:sp>
        <p:nvSpPr>
          <p:cNvPr id="37" name="tag-21"/>
          <p:cNvSpPr/>
          <p:nvPr/>
        </p:nvSpPr>
        <p:spPr>
          <a:xfrm>
            <a:off x="640080" y="397764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couverture avant → après</a:t>
            </a:r>
            <a:endParaRPr lang="en-US" sz="1050" dirty="0"/>
          </a:p>
        </p:txBody>
      </p:sp>
      <p:sp>
        <p:nvSpPr>
          <p:cNvPr id="38" name="tag-22"/>
          <p:cNvSpPr/>
          <p:nvPr/>
        </p:nvSpPr>
        <p:spPr>
          <a:xfrm>
            <a:off x="640080" y="448056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 rouge avant, vert après</a:t>
            </a:r>
            <a:endParaRPr lang="en-US" sz="1050" dirty="0"/>
          </a:p>
        </p:txBody>
      </p:sp>
      <p:sp>
        <p:nvSpPr>
          <p:cNvPr id="39" name="tag-23"/>
          <p:cNvSpPr/>
          <p:nvPr/>
        </p:nvSpPr>
        <p:spPr>
          <a:xfrm>
            <a:off x="640080" y="498348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son commit</a:t>
            </a:r>
            <a:endParaRPr lang="en-US" sz="1050" dirty="0"/>
          </a:p>
        </p:txBody>
      </p:sp>
      <p:sp>
        <p:nvSpPr>
          <p:cNvPr id="40" name="tag-24"/>
          <p:cNvSpPr/>
          <p:nvPr/>
        </p:nvSpPr>
        <p:spPr>
          <a:xfrm>
            <a:off x="640080" y="5486400"/>
            <a:ext cx="2834640" cy="384048"/>
          </a:xfrm>
          <a:prstGeom prst="roundRect">
            <a:avLst>
              <a:gd name="adj" fmla="val 35714"/>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ce qui reste à faire, et pourquoi</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/fortify · ce que ça change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Une faille corrigée sans preuve est une faille dont on espère qu'elle est corrigée.</a:t>
            </a:r>
            <a:endParaRPr lang="en-US" sz="1500" dirty="0"/>
          </a:p>
        </p:txBody>
      </p:sp>
      <p:sp>
        <p:nvSpPr>
          <p:cNvPr id="5" name="benefit-0"/>
          <p:cNvSpPr/>
          <p:nvPr/>
        </p:nvSpPr>
        <p:spPr>
          <a:xfrm>
            <a:off x="457200" y="1554480"/>
            <a:ext cx="3630168" cy="2011680"/>
          </a:xfrm>
          <a:prstGeom prst="roundRect">
            <a:avLst>
              <a:gd name="adj" fmla="val 4545"/>
            </a:avLst>
          </a:prstGeom>
          <a:solidFill>
            <a:srgbClr val="E3F2E7"/>
          </a:solidFill>
          <a:ln w="15875">
            <a:solidFill>
              <a:srgbClr val="2F7D4F"/>
            </a:solidFill>
            <a:prstDash val="solid"/>
          </a:ln>
        </p:spPr>
      </p:sp>
      <p:sp>
        <p:nvSpPr>
          <p:cNvPr id="6" name="benefit-head-0"/>
          <p:cNvSpPr txBox="1"/>
          <p:nvPr/>
        </p:nvSpPr>
        <p:spPr>
          <a:xfrm>
            <a:off x="685800"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Prouvée</a:t>
            </a:r>
            <a:endParaRPr lang="en-US" sz="2400" dirty="0"/>
          </a:p>
        </p:txBody>
      </p:sp>
      <p:sp>
        <p:nvSpPr>
          <p:cNvPr id="7" name="benefit-line-0"/>
          <p:cNvSpPr txBox="1"/>
          <p:nvPr/>
        </p:nvSpPr>
        <p:spPr>
          <a:xfrm>
            <a:off x="685800"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 test par faille : rouge avant, vert après, deux fois.</a:t>
            </a:r>
            <a:endParaRPr lang="en-US" sz="1800" dirty="0"/>
          </a:p>
        </p:txBody>
      </p:sp>
      <p:sp>
        <p:nvSpPr>
          <p:cNvPr id="8" name="benefit-1"/>
          <p:cNvSpPr/>
          <p:nvPr/>
        </p:nvSpPr>
        <p:spPr>
          <a:xfrm>
            <a:off x="4279392" y="1554480"/>
            <a:ext cx="3630168" cy="2011680"/>
          </a:xfrm>
          <a:prstGeom prst="roundRect">
            <a:avLst>
              <a:gd name="adj" fmla="val 4545"/>
            </a:avLst>
          </a:prstGeom>
          <a:solidFill>
            <a:srgbClr val="E4EEF8"/>
          </a:solidFill>
          <a:ln w="15875">
            <a:solidFill>
              <a:srgbClr val="2E6DA4"/>
            </a:solidFill>
            <a:prstDash val="solid"/>
          </a:ln>
        </p:spPr>
      </p:sp>
      <p:sp>
        <p:nvSpPr>
          <p:cNvPr id="9" name="benefit-head-1"/>
          <p:cNvSpPr txBox="1"/>
          <p:nvPr/>
        </p:nvSpPr>
        <p:spPr>
          <a:xfrm>
            <a:off x="4507992"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Sans régression</a:t>
            </a:r>
            <a:endParaRPr lang="en-US" sz="2400" dirty="0"/>
          </a:p>
        </p:txBody>
      </p:sp>
      <p:sp>
        <p:nvSpPr>
          <p:cNvPr id="10" name="benefit-line-1"/>
          <p:cNvSpPr txBox="1"/>
          <p:nvPr/>
        </p:nvSpPr>
        <p:spPr>
          <a:xfrm>
            <a:off x="4507992"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 80 % des lignes touchées couvertes avant de corriger.</a:t>
            </a:r>
            <a:endParaRPr lang="en-US" sz="1800" dirty="0"/>
          </a:p>
        </p:txBody>
      </p:sp>
      <p:sp>
        <p:nvSpPr>
          <p:cNvPr id="11" name="benefit-2"/>
          <p:cNvSpPr/>
          <p:nvPr/>
        </p:nvSpPr>
        <p:spPr>
          <a:xfrm>
            <a:off x="8101584" y="1554480"/>
            <a:ext cx="3630168" cy="2011680"/>
          </a:xfrm>
          <a:prstGeom prst="roundRect">
            <a:avLst>
              <a:gd name="adj" fmla="val 4545"/>
            </a:avLst>
          </a:prstGeom>
          <a:solidFill>
            <a:srgbClr val="F1E9F7"/>
          </a:solidFill>
          <a:ln w="15875">
            <a:solidFill>
              <a:srgbClr val="7B4F96"/>
            </a:solidFill>
            <a:prstDash val="solid"/>
          </a:ln>
        </p:spPr>
      </p:sp>
      <p:sp>
        <p:nvSpPr>
          <p:cNvPr id="12" name="benefit-head-2"/>
          <p:cNvSpPr txBox="1"/>
          <p:nvPr/>
        </p:nvSpPr>
        <p:spPr>
          <a:xfrm>
            <a:off x="8330184" y="173736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Argumentée</a:t>
            </a:r>
            <a:endParaRPr lang="en-US" sz="2400" dirty="0"/>
          </a:p>
        </p:txBody>
      </p:sp>
      <p:sp>
        <p:nvSpPr>
          <p:cNvPr id="13" name="benefit-line-2"/>
          <p:cNvSpPr txBox="1"/>
          <p:nvPr/>
        </p:nvSpPr>
        <p:spPr>
          <a:xfrm>
            <a:off x="8330184" y="237744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Faux positif ou code qui résiste : la preuve est dans la MR.</a:t>
            </a:r>
            <a:endParaRPr lang="en-US" sz="1800" dirty="0"/>
          </a:p>
        </p:txBody>
      </p:sp>
      <p:sp>
        <p:nvSpPr>
          <p:cNvPr id="14" name="benefit-3"/>
          <p:cNvSpPr/>
          <p:nvPr/>
        </p:nvSpPr>
        <p:spPr>
          <a:xfrm>
            <a:off x="457200" y="3794760"/>
            <a:ext cx="3630168" cy="2011680"/>
          </a:xfrm>
          <a:prstGeom prst="roundRect">
            <a:avLst>
              <a:gd name="adj" fmla="val 4545"/>
            </a:avLst>
          </a:prstGeom>
          <a:solidFill>
            <a:srgbClr val="F4F5F7"/>
          </a:solidFill>
          <a:ln w="15875">
            <a:solidFill>
              <a:srgbClr val="7A828C"/>
            </a:solidFill>
            <a:prstDash val="solid"/>
          </a:ln>
        </p:spPr>
      </p:sp>
      <p:sp>
        <p:nvSpPr>
          <p:cNvPr id="15" name="benefit-head-3"/>
          <p:cNvSpPr txBox="1"/>
          <p:nvPr/>
        </p:nvSpPr>
        <p:spPr>
          <a:xfrm>
            <a:off x="685800"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Relisible</a:t>
            </a:r>
            <a:endParaRPr lang="en-US" sz="2400" dirty="0"/>
          </a:p>
        </p:txBody>
      </p:sp>
      <p:sp>
        <p:nvSpPr>
          <p:cNvPr id="16" name="benefit-line-3"/>
          <p:cNvSpPr txBox="1"/>
          <p:nvPr/>
        </p:nvSpPr>
        <p:spPr>
          <a:xfrm>
            <a:off x="685800"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5 failles max, même catégorie, un commit par faille.</a:t>
            </a:r>
            <a:endParaRPr lang="en-US" sz="1800" dirty="0"/>
          </a:p>
        </p:txBody>
      </p:sp>
      <p:sp>
        <p:nvSpPr>
          <p:cNvPr id="17" name="benefit-4"/>
          <p:cNvSpPr/>
          <p:nvPr/>
        </p:nvSpPr>
        <p:spPr>
          <a:xfrm>
            <a:off x="4279392" y="3794760"/>
            <a:ext cx="3630168" cy="2011680"/>
          </a:xfrm>
          <a:prstGeom prst="roundRect">
            <a:avLst>
              <a:gd name="adj" fmla="val 4545"/>
            </a:avLst>
          </a:prstGeom>
          <a:solidFill>
            <a:srgbClr val="EEF1F6"/>
          </a:solidFill>
          <a:ln w="15875">
            <a:solidFill>
              <a:srgbClr val="4A5B78"/>
            </a:solidFill>
            <a:prstDash val="dash"/>
          </a:ln>
        </p:spPr>
      </p:sp>
      <p:sp>
        <p:nvSpPr>
          <p:cNvPr id="18" name="benefit-head-4"/>
          <p:cNvSpPr txBox="1"/>
          <p:nvPr/>
        </p:nvSpPr>
        <p:spPr>
          <a:xfrm>
            <a:off x="4507992"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Plus rapide</a:t>
            </a:r>
            <a:endParaRPr lang="en-US" sz="2400" dirty="0"/>
          </a:p>
        </p:txBody>
      </p:sp>
      <p:sp>
        <p:nvSpPr>
          <p:cNvPr id="19" name="benefit-line-4"/>
          <p:cNvSpPr txBox="1"/>
          <p:nvPr/>
        </p:nvSpPr>
        <p:spPr>
          <a:xfrm>
            <a:off x="4507992"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Analyses et preuves en parallèle ; une commande, une relecture.</a:t>
            </a:r>
            <a:endParaRPr lang="en-US" sz="1800" dirty="0"/>
          </a:p>
        </p:txBody>
      </p:sp>
      <p:sp>
        <p:nvSpPr>
          <p:cNvPr id="20" name="benefit-5"/>
          <p:cNvSpPr/>
          <p:nvPr/>
        </p:nvSpPr>
        <p:spPr>
          <a:xfrm>
            <a:off x="8101584" y="3794760"/>
            <a:ext cx="3630168" cy="2011680"/>
          </a:xfrm>
          <a:prstGeom prst="roundRect">
            <a:avLst>
              <a:gd name="adj" fmla="val 4545"/>
            </a:avLst>
          </a:prstGeom>
          <a:solidFill>
            <a:srgbClr val="FDF0D5"/>
          </a:solidFill>
          <a:ln w="15875">
            <a:solidFill>
              <a:srgbClr val="B7791F"/>
            </a:solidFill>
            <a:prstDash val="solid"/>
          </a:ln>
        </p:spPr>
      </p:sp>
      <p:sp>
        <p:nvSpPr>
          <p:cNvPr id="21" name="benefit-head-5"/>
          <p:cNvSpPr txBox="1"/>
          <p:nvPr/>
        </p:nvSpPr>
        <p:spPr>
          <a:xfrm>
            <a:off x="8330184" y="3977640"/>
            <a:ext cx="3200400" cy="548640"/>
          </a:xfrm>
          <a:prstGeom prst="rect">
            <a:avLst/>
          </a:prstGeom>
          <a:noFill/>
          <a:ln/>
        </p:spPr>
        <p:txBody>
          <a:bodyPr wrap="square" lIns="0" tIns="0" rIns="0" bIns="0" rtlCol="0" anchor="ctr"/>
          <a:lstStyle/>
          <a:p>
            <a:pPr indent="0" marL="0">
              <a:buNone/>
            </a:pPr>
            <a:r>
              <a:rPr lang="en-US" sz="2400" b="1" dirty="0">
                <a:solidFill>
                  <a:srgbClr val="1F2933"/>
                </a:solidFill>
                <a:latin typeface="Calibri" pitchFamily="34" charset="0"/>
                <a:ea typeface="Calibri" pitchFamily="34" charset="-122"/>
                <a:cs typeface="Calibri" pitchFamily="34" charset="-120"/>
              </a:rPr>
              <a:t>Robuste</a:t>
            </a:r>
            <a:endParaRPr lang="en-US" sz="2400" dirty="0"/>
          </a:p>
        </p:txBody>
      </p:sp>
      <p:sp>
        <p:nvSpPr>
          <p:cNvPr id="22" name="benefit-line-5"/>
          <p:cNvSpPr txBox="1"/>
          <p:nvPr/>
        </p:nvSpPr>
        <p:spPr>
          <a:xfrm>
            <a:off x="8330184" y="4617720"/>
            <a:ext cx="3200400" cy="1005840"/>
          </a:xfrm>
          <a:prstGeom prst="rect">
            <a:avLst/>
          </a:prstGeom>
          <a:noFill/>
          <a:ln/>
        </p:spPr>
        <p:txBody>
          <a:bodyPr wrap="square" lIns="0" tIns="0" rIns="0" bIns="0" rtlCol="0" anchor="t"/>
          <a:lstStyle/>
          <a:p>
            <a:pPr indent="0" marL="0">
              <a:buNone/>
            </a:pPr>
            <a:r>
              <a:rPr lang="en-US" sz="1800" dirty="0">
                <a:solidFill>
                  <a:srgbClr val="3E4C59"/>
                </a:solidFill>
                <a:latin typeface="Calibri" pitchFamily="34" charset="0"/>
                <a:ea typeface="Calibri" pitchFamily="34" charset="-122"/>
                <a:cs typeface="Calibri" pitchFamily="34" charset="-120"/>
              </a:rPr>
              <a:t>Une faille qui échoue ne bloque pas le lot ; reprise là où ça s'est arrêté.</a:t>
            </a:r>
            <a:endParaRPr lang="en-US" sz="1800" dirty="0"/>
          </a:p>
        </p:txBody>
      </p:sp>
      <p:sp>
        <p:nvSpPr>
          <p:cNvPr id="23" name="readonly"/>
          <p:cNvSpPr txBox="1"/>
          <p:nvPr/>
        </p:nvSpPr>
        <p:spPr>
          <a:xfrm>
            <a:off x="457200" y="6053328"/>
            <a:ext cx="11274552" cy="274320"/>
          </a:xfrm>
          <a:prstGeom prst="rect">
            <a:avLst/>
          </a:prstGeom>
          <a:noFill/>
          <a:ln/>
        </p:spPr>
        <p:txBody>
          <a:bodyPr wrap="square" lIns="0" tIns="0" rIns="0" bIns="0" rtlCol="0" anchor="ctr"/>
          <a:lstStyle/>
          <a:p>
            <a:pPr algn="ctr" indent="0" marL="0">
              <a:buNone/>
            </a:pPr>
            <a:r>
              <a:rPr lang="en-US" sz="1300" i="1" dirty="0">
                <a:solidFill>
                  <a:srgbClr val="5B6470"/>
                </a:solidFill>
                <a:latin typeface="Calibri" pitchFamily="34" charset="0"/>
                <a:ea typeface="Calibri" pitchFamily="34" charset="-122"/>
                <a:cs typeface="Calibri" pitchFamily="34" charset="-120"/>
              </a:rPr>
              <a:t>Lecture seule sur Fortify : aucune faille masquée ou commentée par un agent.</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en un coup d'œil</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Un ticket entre, une MR en Draft sort. Trois temps, chacun avec ses arrêts.</a:t>
            </a:r>
            <a:endParaRPr lang="en-US" sz="1500" dirty="0"/>
          </a:p>
        </p:txBody>
      </p:sp>
      <p:sp>
        <p:nvSpPr>
          <p:cNvPr id="5" name="phase-1"/>
          <p:cNvSpPr/>
          <p:nvPr/>
        </p:nvSpPr>
        <p:spPr>
          <a:xfrm>
            <a:off x="457200" y="1600200"/>
            <a:ext cx="3749040" cy="777240"/>
          </a:xfrm>
          <a:prstGeom prst="homePlate">
            <a:avLst/>
          </a:prstGeom>
          <a:solidFill>
            <a:srgbClr val="1F2933"/>
          </a:solidFill>
          <a:ln>
            <a:solidFill>
              <a:srgbClr val="1F2933"/>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 · Préparer</a:t>
            </a:r>
            <a:endParaRPr lang="en-US" sz="1800" dirty="0"/>
          </a:p>
        </p:txBody>
      </p:sp>
      <p:sp>
        <p:nvSpPr>
          <p:cNvPr id="6" name="phase-2"/>
          <p:cNvSpPr/>
          <p:nvPr/>
        </p:nvSpPr>
        <p:spPr>
          <a:xfrm>
            <a:off x="3977640" y="1600200"/>
            <a:ext cx="3886200" cy="777240"/>
          </a:xfrm>
          <a:prstGeom prst="chevron">
            <a:avLst/>
          </a:prstGeom>
          <a:solidFill>
            <a:srgbClr val="3E4C59"/>
          </a:solidFill>
          <a:ln>
            <a:solidFill>
              <a:srgbClr val="3E4C59"/>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 · Coder, étape par étape</a:t>
            </a:r>
            <a:endParaRPr lang="en-US" sz="1800" dirty="0"/>
          </a:p>
        </p:txBody>
      </p:sp>
      <p:sp>
        <p:nvSpPr>
          <p:cNvPr id="7" name="phase-3"/>
          <p:cNvSpPr/>
          <p:nvPr/>
        </p:nvSpPr>
        <p:spPr>
          <a:xfrm>
            <a:off x="7635240" y="1600200"/>
            <a:ext cx="4096512" cy="777240"/>
          </a:xfrm>
          <a:prstGeom prst="chevron">
            <a:avLst/>
          </a:prstGeom>
          <a:solidFill>
            <a:srgbClr val="52606D"/>
          </a:solidFill>
          <a:ln>
            <a:solidFill>
              <a:srgbClr val="52606D"/>
            </a:solid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 · Vérifier et livrer</a:t>
            </a:r>
            <a:endParaRPr lang="en-US" sz="1800" dirty="0"/>
          </a:p>
        </p:txBody>
      </p:sp>
      <p:sp>
        <p:nvSpPr>
          <p:cNvPr id="8" name="c0-0"/>
          <p:cNvSpPr/>
          <p:nvPr/>
        </p:nvSpPr>
        <p:spPr>
          <a:xfrm>
            <a:off x="640080" y="2697480"/>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Branche du ticket</a:t>
            </a:r>
            <a:endParaRPr lang="en-US" sz="1300" dirty="0"/>
          </a:p>
        </p:txBody>
      </p:sp>
      <p:sp>
        <p:nvSpPr>
          <p:cNvPr id="9" name="c0-1"/>
          <p:cNvSpPr/>
          <p:nvPr/>
        </p:nvSpPr>
        <p:spPr>
          <a:xfrm>
            <a:off x="64008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Analyse → la fiche</a:t>
            </a:r>
            <a:endParaRPr lang="en-US" sz="1300" dirty="0"/>
          </a:p>
        </p:txBody>
      </p:sp>
      <p:sp>
        <p:nvSpPr>
          <p:cNvPr id="10" name="c0-2"/>
          <p:cNvSpPr/>
          <p:nvPr/>
        </p:nvSpPr>
        <p:spPr>
          <a:xfrm>
            <a:off x="64008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Build et tests de develop</a:t>
            </a:r>
            <a:endParaRPr lang="en-US" sz="1300" dirty="0"/>
          </a:p>
        </p:txBody>
      </p:sp>
      <p:sp>
        <p:nvSpPr>
          <p:cNvPr id="11" name="c0-3"/>
          <p:cNvSpPr/>
          <p:nvPr/>
        </p:nvSpPr>
        <p:spPr>
          <a:xfrm>
            <a:off x="640080" y="4562856"/>
            <a:ext cx="3200400" cy="475488"/>
          </a:xfrm>
          <a:prstGeom prst="roundRect">
            <a:avLst>
              <a:gd name="adj" fmla="val 15385"/>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Questions, une seule fois</a:t>
            </a:r>
            <a:endParaRPr lang="en-US" sz="1300" dirty="0"/>
          </a:p>
        </p:txBody>
      </p:sp>
      <p:sp>
        <p:nvSpPr>
          <p:cNvPr id="12" name="stop0"/>
          <p:cNvSpPr/>
          <p:nvPr/>
        </p:nvSpPr>
        <p:spPr>
          <a:xfrm>
            <a:off x="64008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ne compile pas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ou tests trop longs</a:t>
            </a:r>
            <a:endParaRPr lang="en-US" sz="1300" dirty="0"/>
          </a:p>
        </p:txBody>
      </p:sp>
      <p:sp>
        <p:nvSpPr>
          <p:cNvPr id="13" name="c1-0"/>
          <p:cNvSpPr/>
          <p:nvPr/>
        </p:nvSpPr>
        <p:spPr>
          <a:xfrm>
            <a:off x="4343400" y="2697480"/>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Non-régression, ou test du bug</a:t>
            </a:r>
            <a:endParaRPr lang="en-US" sz="1300" dirty="0"/>
          </a:p>
        </p:txBody>
      </p:sp>
      <p:sp>
        <p:nvSpPr>
          <p:cNvPr id="14" name="c1-1"/>
          <p:cNvSpPr/>
          <p:nvPr/>
        </p:nvSpPr>
        <p:spPr>
          <a:xfrm>
            <a:off x="434340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 sans toucher aux tests</a:t>
            </a:r>
            <a:endParaRPr lang="en-US" sz="1300" dirty="0"/>
          </a:p>
        </p:txBody>
      </p:sp>
      <p:sp>
        <p:nvSpPr>
          <p:cNvPr id="15" name="c1-2"/>
          <p:cNvSpPr/>
          <p:nvPr/>
        </p:nvSpPr>
        <p:spPr>
          <a:xfrm>
            <a:off x="434340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auto (script)</a:t>
            </a:r>
            <a:endParaRPr lang="en-US" sz="1300" dirty="0"/>
          </a:p>
        </p:txBody>
      </p:sp>
      <p:sp>
        <p:nvSpPr>
          <p:cNvPr id="16" name="c1-3"/>
          <p:cNvSpPr/>
          <p:nvPr/>
        </p:nvSpPr>
        <p:spPr>
          <a:xfrm>
            <a:off x="434340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commit par étape</a:t>
            </a:r>
            <a:endParaRPr lang="en-US" sz="1300" dirty="0"/>
          </a:p>
        </p:txBody>
      </p:sp>
      <p:sp>
        <p:nvSpPr>
          <p:cNvPr id="17" name="stop1"/>
          <p:cNvSpPr/>
          <p:nvPr/>
        </p:nvSpPr>
        <p:spPr>
          <a:xfrm>
            <a:off x="434340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2 échecs sur l'étape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8" name="c2-0"/>
          <p:cNvSpPr/>
          <p:nvPr/>
        </p:nvSpPr>
        <p:spPr>
          <a:xfrm>
            <a:off x="8092440" y="2697480"/>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 ∥ relecture</a:t>
            </a:r>
            <a:endParaRPr lang="en-US" sz="1300" dirty="0"/>
          </a:p>
        </p:txBody>
      </p:sp>
      <p:sp>
        <p:nvSpPr>
          <p:cNvPr id="19" name="c2-1"/>
          <p:cNvSpPr/>
          <p:nvPr/>
        </p:nvSpPr>
        <p:spPr>
          <a:xfrm>
            <a:off x="8092440" y="3319272"/>
            <a:ext cx="3200400" cy="475488"/>
          </a:xfrm>
          <a:prstGeom prst="roundRect">
            <a:avLst>
              <a:gd name="adj" fmla="val 15385"/>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 2 tours max</a:t>
            </a:r>
            <a:endParaRPr lang="en-US" sz="1300" dirty="0"/>
          </a:p>
        </p:txBody>
      </p:sp>
      <p:sp>
        <p:nvSpPr>
          <p:cNvPr id="20" name="c2-2"/>
          <p:cNvSpPr/>
          <p:nvPr/>
        </p:nvSpPr>
        <p:spPr>
          <a:xfrm>
            <a:off x="8092440" y="3941064"/>
            <a:ext cx="3200400" cy="475488"/>
          </a:xfrm>
          <a:prstGeom prst="roundRect">
            <a:avLst>
              <a:gd name="adj" fmla="val 15385"/>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p:txBody>
      </p:sp>
      <p:sp>
        <p:nvSpPr>
          <p:cNvPr id="21" name="c2-3"/>
          <p:cNvSpPr/>
          <p:nvPr/>
        </p:nvSpPr>
        <p:spPr>
          <a:xfrm>
            <a:off x="8092440" y="4562856"/>
            <a:ext cx="3200400" cy="475488"/>
          </a:xfrm>
          <a:prstGeom prst="roundRect">
            <a:avLst>
              <a:gd name="adj" fmla="val 15385"/>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p:txBody>
      </p:sp>
      <p:sp>
        <p:nvSpPr>
          <p:cNvPr id="22" name="stop2"/>
          <p:cNvSpPr/>
          <p:nvPr/>
        </p:nvSpPr>
        <p:spPr>
          <a:xfrm>
            <a:off x="8092440" y="5303520"/>
            <a:ext cx="32004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 identifiants</a:t>
            </a:r>
            <a:endParaRPr lang="en-US" sz="13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1. Préparer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Avant la première ligne de code : tout ce qui ferait échouer le ticket pour une raison extérieure.</a:t>
            </a:r>
            <a:endParaRPr lang="en-US" sz="1500" dirty="0"/>
          </a:p>
        </p:txBody>
      </p:sp>
      <p:sp>
        <p:nvSpPr>
          <p:cNvPr id="5" name="a"/>
          <p:cNvSpPr/>
          <p:nvPr/>
        </p:nvSpPr>
        <p:spPr>
          <a:xfrm>
            <a:off x="457200" y="2697480"/>
            <a:ext cx="137160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ABC-123</a:t>
            </a:r>
            <a:endParaRPr lang="en-US" sz="1300" dirty="0"/>
          </a:p>
        </p:txBody>
      </p:sp>
      <p:sp>
        <p:nvSpPr>
          <p:cNvPr id="6" name="b"/>
          <p:cNvSpPr/>
          <p:nvPr/>
        </p:nvSpPr>
        <p:spPr>
          <a:xfrm>
            <a:off x="2194560" y="2697480"/>
            <a:ext cx="18288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État git, branche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un fetch, la branche</a:t>
            </a:r>
            <a:endParaRPr lang="en-US" sz="1300" dirty="0"/>
          </a:p>
        </p:txBody>
      </p:sp>
      <p:sp>
        <p:nvSpPr>
          <p:cNvPr id="7" name="tag-1"/>
          <p:cNvSpPr/>
          <p:nvPr/>
        </p:nvSpPr>
        <p:spPr>
          <a:xfrm>
            <a:off x="2715768" y="254203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fetch : 3 s, 10 s</a:t>
            </a:r>
            <a:endParaRPr lang="en-US" sz="1050" dirty="0"/>
          </a:p>
        </p:txBody>
      </p:sp>
      <p:sp>
        <p:nvSpPr>
          <p:cNvPr id="8" name="group-2"/>
          <p:cNvSpPr/>
          <p:nvPr/>
        </p:nvSpPr>
        <p:spPr>
          <a:xfrm>
            <a:off x="4434840" y="1508760"/>
            <a:ext cx="2606040" cy="3291840"/>
          </a:xfrm>
          <a:prstGeom prst="roundRect">
            <a:avLst>
              <a:gd name="adj" fmla="val 3509"/>
            </a:avLst>
          </a:prstGeom>
          <a:solidFill>
            <a:srgbClr val="FFFFFF">
              <a:alpha val="0"/>
            </a:srgbClr>
          </a:solidFill>
          <a:ln w="12700">
            <a:solidFill>
              <a:srgbClr val="A3AAB3"/>
            </a:solidFill>
            <a:prstDash val="dash"/>
          </a:ln>
        </p:spPr>
      </p:sp>
      <p:sp>
        <p:nvSpPr>
          <p:cNvPr id="9" name="group-label-3"/>
          <p:cNvSpPr txBox="1"/>
          <p:nvPr/>
        </p:nvSpPr>
        <p:spPr>
          <a:xfrm>
            <a:off x="4544568" y="1545336"/>
            <a:ext cx="238658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10" name="an"/>
          <p:cNvSpPr/>
          <p:nvPr/>
        </p:nvSpPr>
        <p:spPr>
          <a:xfrm>
            <a:off x="4617720" y="1874520"/>
            <a:ext cx="224028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analyst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ticket, Confluence, code → la fiche</a:t>
            </a:r>
            <a:endParaRPr lang="en-US" sz="1300" dirty="0"/>
          </a:p>
        </p:txBody>
      </p:sp>
      <p:sp>
        <p:nvSpPr>
          <p:cNvPr id="11" name="tag-4"/>
          <p:cNvSpPr/>
          <p:nvPr/>
        </p:nvSpPr>
        <p:spPr>
          <a:xfrm>
            <a:off x="5596128" y="1719072"/>
            <a:ext cx="137160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Jira : 1 rappel</a:t>
            </a:r>
            <a:endParaRPr lang="en-US" sz="1050" dirty="0"/>
          </a:p>
        </p:txBody>
      </p:sp>
      <p:sp>
        <p:nvSpPr>
          <p:cNvPr id="12" name="me"/>
          <p:cNvSpPr/>
          <p:nvPr/>
        </p:nvSpPr>
        <p:spPr>
          <a:xfrm>
            <a:off x="4617720" y="3429000"/>
            <a:ext cx="224028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develop</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13" name="tag-5"/>
          <p:cNvSpPr/>
          <p:nvPr/>
        </p:nvSpPr>
        <p:spPr>
          <a:xfrm>
            <a:off x="5916168" y="327355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42 min</a:t>
            </a:r>
            <a:endParaRPr lang="en-US" sz="1050" dirty="0"/>
          </a:p>
        </p:txBody>
      </p:sp>
      <p:sp>
        <p:nvSpPr>
          <p:cNvPr id="14" name="q"/>
          <p:cNvSpPr/>
          <p:nvPr/>
        </p:nvSpPr>
        <p:spPr>
          <a:xfrm>
            <a:off x="7406640" y="2514600"/>
            <a:ext cx="1783080" cy="118872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Questions</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bloquantes ?</a:t>
            </a:r>
            <a:endParaRPr lang="en-US" sz="1200" dirty="0"/>
          </a:p>
        </p:txBody>
      </p:sp>
      <p:sp>
        <p:nvSpPr>
          <p:cNvPr id="15" name="qcm"/>
          <p:cNvSpPr/>
          <p:nvPr/>
        </p:nvSpPr>
        <p:spPr>
          <a:xfrm>
            <a:off x="9418320" y="1691640"/>
            <a:ext cx="228600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seul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ou « je demande au PO »</a:t>
            </a:r>
            <a:endParaRPr lang="en-US" sz="1300" dirty="0"/>
          </a:p>
        </p:txBody>
      </p:sp>
      <p:sp>
        <p:nvSpPr>
          <p:cNvPr id="16" name="plan"/>
          <p:cNvSpPr/>
          <p:nvPr/>
        </p:nvSpPr>
        <p:spPr>
          <a:xfrm>
            <a:off x="9418320" y="4069080"/>
            <a:ext cx="228600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plan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à 7 étapes</a:t>
            </a:r>
            <a:endParaRPr lang="en-US" sz="1300" dirty="0"/>
          </a:p>
        </p:txBody>
      </p:sp>
      <p:sp>
        <p:nvSpPr>
          <p:cNvPr id="17" name="s1"/>
          <p:cNvSpPr/>
          <p:nvPr/>
        </p:nvSpPr>
        <p:spPr>
          <a:xfrm>
            <a:off x="2514600" y="5257800"/>
            <a:ext cx="205740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develop cassé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régler hors du ticket</a:t>
            </a:r>
            <a:endParaRPr lang="en-US" sz="1300" dirty="0"/>
          </a:p>
        </p:txBody>
      </p:sp>
      <p:sp>
        <p:nvSpPr>
          <p:cNvPr id="18" name="s2"/>
          <p:cNvSpPr/>
          <p:nvPr/>
        </p:nvSpPr>
        <p:spPr>
          <a:xfrm>
            <a:off x="4709160" y="5257800"/>
            <a:ext cx="196596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Tests trop longs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pour ce poste</a:t>
            </a:r>
            <a:endParaRPr lang="en-US" sz="1300" dirty="0"/>
          </a:p>
        </p:txBody>
      </p:sp>
      <p:sp>
        <p:nvSpPr>
          <p:cNvPr id="19" name="s3"/>
          <p:cNvSpPr/>
          <p:nvPr/>
        </p:nvSpPr>
        <p:spPr>
          <a:xfrm>
            <a:off x="6812280" y="5257800"/>
            <a:ext cx="2011680" cy="685800"/>
          </a:xfrm>
          <a:prstGeom prst="roundRect">
            <a:avLst>
              <a:gd name="adj" fmla="val 10667"/>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Poste incomplet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SDK, Artifactory</a:t>
            </a:r>
            <a:endParaRPr lang="en-US" sz="1300" dirty="0"/>
          </a:p>
        </p:txBody>
      </p:sp>
      <p:sp>
        <p:nvSpPr>
          <p:cNvPr id="20" name="wire-6"/>
          <p:cNvSpPr/>
          <p:nvPr/>
        </p:nvSpPr>
        <p:spPr>
          <a:xfrm>
            <a:off x="1828800" y="3108960"/>
            <a:ext cx="365760" cy="0"/>
          </a:xfrm>
          <a:prstGeom prst="line">
            <a:avLst/>
          </a:prstGeom>
          <a:noFill/>
          <a:ln w="15875">
            <a:solidFill>
              <a:srgbClr val="6B7280"/>
            </a:solidFill>
            <a:prstDash val="solid"/>
            <a:tailEnd type="triangle"/>
          </a:ln>
        </p:spPr>
      </p:sp>
      <p:sp>
        <p:nvSpPr>
          <p:cNvPr id="21" name="wire-7"/>
          <p:cNvSpPr/>
          <p:nvPr/>
        </p:nvSpPr>
        <p:spPr>
          <a:xfrm flipV="1">
            <a:off x="4023360" y="3108960"/>
            <a:ext cx="274320" cy="0"/>
          </a:xfrm>
          <a:prstGeom prst="line">
            <a:avLst/>
          </a:prstGeom>
          <a:noFill/>
          <a:ln w="15875">
            <a:solidFill>
              <a:srgbClr val="6B7280"/>
            </a:solidFill>
            <a:prstDash val="solid"/>
          </a:ln>
        </p:spPr>
      </p:sp>
      <p:sp>
        <p:nvSpPr>
          <p:cNvPr id="22" name="wire-8"/>
          <p:cNvSpPr/>
          <p:nvPr/>
        </p:nvSpPr>
        <p:spPr>
          <a:xfrm>
            <a:off x="4297680" y="2304288"/>
            <a:ext cx="0" cy="1554480"/>
          </a:xfrm>
          <a:prstGeom prst="line">
            <a:avLst/>
          </a:prstGeom>
          <a:noFill/>
          <a:ln w="15875">
            <a:solidFill>
              <a:srgbClr val="6B7280"/>
            </a:solidFill>
            <a:prstDash val="solid"/>
          </a:ln>
        </p:spPr>
      </p:sp>
      <p:sp>
        <p:nvSpPr>
          <p:cNvPr id="23" name="wire-9"/>
          <p:cNvSpPr/>
          <p:nvPr/>
        </p:nvSpPr>
        <p:spPr>
          <a:xfrm>
            <a:off x="4297680" y="2304288"/>
            <a:ext cx="320040" cy="4572"/>
          </a:xfrm>
          <a:prstGeom prst="line">
            <a:avLst/>
          </a:prstGeom>
          <a:noFill/>
          <a:ln w="15875">
            <a:solidFill>
              <a:srgbClr val="6B7280"/>
            </a:solidFill>
            <a:prstDash val="solid"/>
            <a:tailEnd type="triangle"/>
          </a:ln>
        </p:spPr>
      </p:sp>
      <p:sp>
        <p:nvSpPr>
          <p:cNvPr id="24" name="wire-10"/>
          <p:cNvSpPr/>
          <p:nvPr/>
        </p:nvSpPr>
        <p:spPr>
          <a:xfrm>
            <a:off x="4297680" y="3858768"/>
            <a:ext cx="320040" cy="4572"/>
          </a:xfrm>
          <a:prstGeom prst="line">
            <a:avLst/>
          </a:prstGeom>
          <a:noFill/>
          <a:ln w="15875">
            <a:solidFill>
              <a:srgbClr val="6B7280"/>
            </a:solidFill>
            <a:prstDash val="solid"/>
            <a:tailEnd type="triangle"/>
          </a:ln>
        </p:spPr>
      </p:sp>
      <p:sp>
        <p:nvSpPr>
          <p:cNvPr id="25" name="wire-11"/>
          <p:cNvSpPr/>
          <p:nvPr/>
        </p:nvSpPr>
        <p:spPr>
          <a:xfrm flipV="1">
            <a:off x="6858000" y="2304288"/>
            <a:ext cx="411480" cy="4572"/>
          </a:xfrm>
          <a:prstGeom prst="line">
            <a:avLst/>
          </a:prstGeom>
          <a:noFill/>
          <a:ln w="15875">
            <a:solidFill>
              <a:srgbClr val="6B7280"/>
            </a:solidFill>
            <a:prstDash val="solid"/>
          </a:ln>
        </p:spPr>
      </p:sp>
      <p:sp>
        <p:nvSpPr>
          <p:cNvPr id="26" name="wire-12"/>
          <p:cNvSpPr/>
          <p:nvPr/>
        </p:nvSpPr>
        <p:spPr>
          <a:xfrm flipV="1">
            <a:off x="6858000" y="3858768"/>
            <a:ext cx="411480" cy="4572"/>
          </a:xfrm>
          <a:prstGeom prst="line">
            <a:avLst/>
          </a:prstGeom>
          <a:noFill/>
          <a:ln w="15875">
            <a:solidFill>
              <a:srgbClr val="6B7280"/>
            </a:solidFill>
            <a:prstDash val="solid"/>
          </a:ln>
        </p:spPr>
      </p:sp>
      <p:sp>
        <p:nvSpPr>
          <p:cNvPr id="27" name="wire-13"/>
          <p:cNvSpPr/>
          <p:nvPr/>
        </p:nvSpPr>
        <p:spPr>
          <a:xfrm>
            <a:off x="7269480" y="2304288"/>
            <a:ext cx="0" cy="1554480"/>
          </a:xfrm>
          <a:prstGeom prst="line">
            <a:avLst/>
          </a:prstGeom>
          <a:noFill/>
          <a:ln w="15875">
            <a:solidFill>
              <a:srgbClr val="6B7280"/>
            </a:solidFill>
            <a:prstDash val="solid"/>
          </a:ln>
        </p:spPr>
      </p:sp>
      <p:sp>
        <p:nvSpPr>
          <p:cNvPr id="28" name="wire-14"/>
          <p:cNvSpPr/>
          <p:nvPr/>
        </p:nvSpPr>
        <p:spPr>
          <a:xfrm>
            <a:off x="7269480" y="3108960"/>
            <a:ext cx="137160" cy="0"/>
          </a:xfrm>
          <a:prstGeom prst="line">
            <a:avLst/>
          </a:prstGeom>
          <a:noFill/>
          <a:ln w="15875">
            <a:solidFill>
              <a:srgbClr val="6B7280"/>
            </a:solidFill>
            <a:prstDash val="solid"/>
            <a:tailEnd type="triangle"/>
          </a:ln>
        </p:spPr>
      </p:sp>
      <p:sp>
        <p:nvSpPr>
          <p:cNvPr id="29" name="wire-15"/>
          <p:cNvSpPr/>
          <p:nvPr/>
        </p:nvSpPr>
        <p:spPr>
          <a:xfrm flipH="1">
            <a:off x="5733288" y="4297680"/>
            <a:ext cx="4572" cy="594360"/>
          </a:xfrm>
          <a:prstGeom prst="line">
            <a:avLst/>
          </a:prstGeom>
          <a:noFill/>
          <a:ln w="15875">
            <a:solidFill>
              <a:srgbClr val="6B7280"/>
            </a:solidFill>
            <a:prstDash val="solid"/>
          </a:ln>
        </p:spPr>
      </p:sp>
      <p:sp>
        <p:nvSpPr>
          <p:cNvPr id="30" name="wire-16"/>
          <p:cNvSpPr/>
          <p:nvPr/>
        </p:nvSpPr>
        <p:spPr>
          <a:xfrm>
            <a:off x="3543300" y="4892040"/>
            <a:ext cx="4274820" cy="0"/>
          </a:xfrm>
          <a:prstGeom prst="line">
            <a:avLst/>
          </a:prstGeom>
          <a:noFill/>
          <a:ln w="15875">
            <a:solidFill>
              <a:srgbClr val="6B7280"/>
            </a:solidFill>
            <a:prstDash val="solid"/>
          </a:ln>
        </p:spPr>
      </p:sp>
      <p:sp>
        <p:nvSpPr>
          <p:cNvPr id="31" name="wire-17"/>
          <p:cNvSpPr/>
          <p:nvPr/>
        </p:nvSpPr>
        <p:spPr>
          <a:xfrm>
            <a:off x="3543300" y="4892040"/>
            <a:ext cx="0" cy="365760"/>
          </a:xfrm>
          <a:prstGeom prst="line">
            <a:avLst/>
          </a:prstGeom>
          <a:noFill/>
          <a:ln w="15875">
            <a:solidFill>
              <a:srgbClr val="6B7280"/>
            </a:solidFill>
            <a:prstDash val="solid"/>
            <a:tailEnd type="triangle"/>
          </a:ln>
        </p:spPr>
      </p:sp>
      <p:sp>
        <p:nvSpPr>
          <p:cNvPr id="32" name="wire-18"/>
          <p:cNvSpPr/>
          <p:nvPr/>
        </p:nvSpPr>
        <p:spPr>
          <a:xfrm>
            <a:off x="5692140" y="4892040"/>
            <a:ext cx="0" cy="365760"/>
          </a:xfrm>
          <a:prstGeom prst="line">
            <a:avLst/>
          </a:prstGeom>
          <a:noFill/>
          <a:ln w="15875">
            <a:solidFill>
              <a:srgbClr val="6B7280"/>
            </a:solidFill>
            <a:prstDash val="solid"/>
            <a:tailEnd type="triangle"/>
          </a:ln>
        </p:spPr>
      </p:sp>
      <p:sp>
        <p:nvSpPr>
          <p:cNvPr id="33" name="wire-19"/>
          <p:cNvSpPr/>
          <p:nvPr/>
        </p:nvSpPr>
        <p:spPr>
          <a:xfrm>
            <a:off x="7818120" y="4892040"/>
            <a:ext cx="0" cy="365760"/>
          </a:xfrm>
          <a:prstGeom prst="line">
            <a:avLst/>
          </a:prstGeom>
          <a:noFill/>
          <a:ln w="15875">
            <a:solidFill>
              <a:srgbClr val="6B7280"/>
            </a:solidFill>
            <a:prstDash val="solid"/>
            <a:tailEnd type="triangle"/>
          </a:ln>
        </p:spPr>
      </p:sp>
      <p:sp>
        <p:nvSpPr>
          <p:cNvPr id="34" name="wire-20"/>
          <p:cNvSpPr/>
          <p:nvPr/>
        </p:nvSpPr>
        <p:spPr>
          <a:xfrm flipV="1">
            <a:off x="8298180" y="2103120"/>
            <a:ext cx="0" cy="411480"/>
          </a:xfrm>
          <a:prstGeom prst="line">
            <a:avLst/>
          </a:prstGeom>
          <a:noFill/>
          <a:ln w="15875">
            <a:solidFill>
              <a:srgbClr val="6B7280"/>
            </a:solidFill>
            <a:prstDash val="solid"/>
          </a:ln>
        </p:spPr>
      </p:sp>
      <p:sp>
        <p:nvSpPr>
          <p:cNvPr id="35" name="wire-21"/>
          <p:cNvSpPr/>
          <p:nvPr/>
        </p:nvSpPr>
        <p:spPr>
          <a:xfrm>
            <a:off x="8298180" y="2103120"/>
            <a:ext cx="1120140" cy="0"/>
          </a:xfrm>
          <a:prstGeom prst="line">
            <a:avLst/>
          </a:prstGeom>
          <a:noFill/>
          <a:ln w="15875">
            <a:solidFill>
              <a:srgbClr val="6B7280"/>
            </a:solidFill>
            <a:prstDash val="solid"/>
            <a:tailEnd type="triangle"/>
          </a:ln>
        </p:spPr>
      </p:sp>
      <p:sp>
        <p:nvSpPr>
          <p:cNvPr id="36" name="label-22"/>
          <p:cNvSpPr txBox="1"/>
          <p:nvPr/>
        </p:nvSpPr>
        <p:spPr>
          <a:xfrm>
            <a:off x="8412480" y="2176272"/>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37" name="wire-23"/>
          <p:cNvSpPr/>
          <p:nvPr/>
        </p:nvSpPr>
        <p:spPr>
          <a:xfrm>
            <a:off x="8298180" y="3703320"/>
            <a:ext cx="0" cy="777240"/>
          </a:xfrm>
          <a:prstGeom prst="line">
            <a:avLst/>
          </a:prstGeom>
          <a:noFill/>
          <a:ln w="15875">
            <a:solidFill>
              <a:srgbClr val="6B7280"/>
            </a:solidFill>
            <a:prstDash val="solid"/>
          </a:ln>
        </p:spPr>
      </p:sp>
      <p:sp>
        <p:nvSpPr>
          <p:cNvPr id="38" name="wire-24"/>
          <p:cNvSpPr/>
          <p:nvPr/>
        </p:nvSpPr>
        <p:spPr>
          <a:xfrm>
            <a:off x="8298180" y="4480560"/>
            <a:ext cx="1120140" cy="0"/>
          </a:xfrm>
          <a:prstGeom prst="line">
            <a:avLst/>
          </a:prstGeom>
          <a:noFill/>
          <a:ln w="15875">
            <a:solidFill>
              <a:srgbClr val="6B7280"/>
            </a:solidFill>
            <a:prstDash val="solid"/>
            <a:tailEnd type="triangle"/>
          </a:ln>
        </p:spPr>
      </p:sp>
      <p:sp>
        <p:nvSpPr>
          <p:cNvPr id="39" name="label-25"/>
          <p:cNvSpPr txBox="1"/>
          <p:nvPr/>
        </p:nvSpPr>
        <p:spPr>
          <a:xfrm>
            <a:off x="8412480" y="416052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40" name="wire-26"/>
          <p:cNvSpPr/>
          <p:nvPr/>
        </p:nvSpPr>
        <p:spPr>
          <a:xfrm>
            <a:off x="10561320" y="2514600"/>
            <a:ext cx="0" cy="1554480"/>
          </a:xfrm>
          <a:prstGeom prst="line">
            <a:avLst/>
          </a:prstGeom>
          <a:noFill/>
          <a:ln w="15875">
            <a:solidFill>
              <a:srgbClr val="6B7280"/>
            </a:solidFill>
            <a:prstDash val="solid"/>
            <a:tailEnd type="triangle"/>
          </a:ln>
        </p:spPr>
      </p:sp>
      <p:sp>
        <p:nvSpPr>
          <p:cNvPr id="41" name="label-27"/>
          <p:cNvSpPr txBox="1"/>
          <p:nvPr/>
        </p:nvSpPr>
        <p:spPr>
          <a:xfrm>
            <a:off x="10652760" y="2926080"/>
            <a:ext cx="1097280" cy="502920"/>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 sans question » :</a:t>
            </a:r>
            <a:endParaRPr lang="en-US" sz="1050" dirty="0"/>
          </a:p>
          <a:p>
            <a:pPr algn="l" indent="0" marL="0">
              <a:buNone/>
            </a:pPr>
            <a:r>
              <a:rPr lang="en-US" sz="1050" dirty="0">
                <a:solidFill>
                  <a:srgbClr val="5B6470"/>
                </a:solidFill>
                <a:latin typeface="Calibri" pitchFamily="34" charset="0"/>
                <a:ea typeface="Calibri" pitchFamily="34" charset="-122"/>
                <a:cs typeface="Calibri" pitchFamily="34" charset="-120"/>
              </a:rPr>
              <a:t>réponses recommandées</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2. Une étape du plan</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Chaque étape est prouvée avant son commit. Le coder ne touche jamais aux tests qui le jugent.</a:t>
            </a:r>
            <a:endParaRPr lang="en-US" sz="1500" dirty="0"/>
          </a:p>
        </p:txBody>
      </p:sp>
      <p:sp>
        <p:nvSpPr>
          <p:cNvPr id="5" name="a"/>
          <p:cNvSpPr/>
          <p:nvPr/>
        </p:nvSpPr>
        <p:spPr>
          <a:xfrm>
            <a:off x="457200" y="2011680"/>
            <a:ext cx="13716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Étape 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plan</a:t>
            </a:r>
            <a:endParaRPr lang="en-US" sz="1300" dirty="0"/>
          </a:p>
        </p:txBody>
      </p:sp>
      <p:sp>
        <p:nvSpPr>
          <p:cNvPr id="6" name="b"/>
          <p:cNvSpPr/>
          <p:nvPr/>
        </p:nvSpPr>
        <p:spPr>
          <a:xfrm>
            <a:off x="2240280" y="2011680"/>
            <a:ext cx="201168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ou test du bug</a:t>
            </a:r>
            <a:endParaRPr lang="en-US" sz="1300" dirty="0"/>
          </a:p>
        </p:txBody>
      </p:sp>
      <p:sp>
        <p:nvSpPr>
          <p:cNvPr id="7" name="c"/>
          <p:cNvSpPr/>
          <p:nvPr/>
        </p:nvSpPr>
        <p:spPr>
          <a:xfrm>
            <a:off x="4617720" y="2011680"/>
            <a:ext cx="1600200" cy="868680"/>
          </a:xfrm>
          <a:prstGeom prst="roundRect">
            <a:avLst>
              <a:gd name="adj" fmla="val 8421"/>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verrouillés</a:t>
            </a:r>
            <a:endParaRPr lang="en-US" sz="1300" dirty="0"/>
          </a:p>
        </p:txBody>
      </p:sp>
      <p:sp>
        <p:nvSpPr>
          <p:cNvPr id="8" name="d"/>
          <p:cNvSpPr/>
          <p:nvPr/>
        </p:nvSpPr>
        <p:spPr>
          <a:xfrm>
            <a:off x="6583680" y="201168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coder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l'étape + ses tests</a:t>
            </a:r>
            <a:endParaRPr lang="en-US" sz="1300" dirty="0"/>
          </a:p>
        </p:txBody>
      </p:sp>
      <p:sp>
        <p:nvSpPr>
          <p:cNvPr id="9" name="tag-1"/>
          <p:cNvSpPr/>
          <p:nvPr/>
        </p:nvSpPr>
        <p:spPr>
          <a:xfrm>
            <a:off x="7104888" y="1856232"/>
            <a:ext cx="13258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repris 1 fois</a:t>
            </a:r>
            <a:endParaRPr lang="en-US" sz="1050" dirty="0"/>
          </a:p>
        </p:txBody>
      </p:sp>
      <p:sp>
        <p:nvSpPr>
          <p:cNvPr id="10" name="e"/>
          <p:cNvSpPr/>
          <p:nvPr/>
        </p:nvSpPr>
        <p:spPr>
          <a:xfrm>
            <a:off x="8641080" y="1892808"/>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Contrôle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auto</a:t>
            </a:r>
            <a:endParaRPr lang="en-US" sz="1200" dirty="0"/>
          </a:p>
        </p:txBody>
      </p:sp>
      <p:sp>
        <p:nvSpPr>
          <p:cNvPr id="11" name="f"/>
          <p:cNvSpPr/>
          <p:nvPr/>
        </p:nvSpPr>
        <p:spPr>
          <a:xfrm>
            <a:off x="10469880" y="2011680"/>
            <a:ext cx="1234440" cy="868680"/>
          </a:xfrm>
          <a:prstGeom prst="roundRect">
            <a:avLst>
              <a:gd name="adj" fmla="val 8421"/>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Commit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case cochée</a:t>
            </a:r>
            <a:endParaRPr lang="en-US" sz="1300" dirty="0"/>
          </a:p>
        </p:txBody>
      </p:sp>
      <p:sp>
        <p:nvSpPr>
          <p:cNvPr id="12" name="g"/>
          <p:cNvSpPr/>
          <p:nvPr/>
        </p:nvSpPr>
        <p:spPr>
          <a:xfrm>
            <a:off x="6583680" y="3794760"/>
            <a:ext cx="173736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debugger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de l'échec</a:t>
            </a:r>
            <a:endParaRPr lang="en-US" sz="1300" dirty="0"/>
          </a:p>
        </p:txBody>
      </p:sp>
      <p:sp>
        <p:nvSpPr>
          <p:cNvPr id="13" name="h"/>
          <p:cNvSpPr/>
          <p:nvPr/>
        </p:nvSpPr>
        <p:spPr>
          <a:xfrm>
            <a:off x="8549640" y="3794760"/>
            <a:ext cx="1691640" cy="868680"/>
          </a:xfrm>
          <a:prstGeom prst="roundRect">
            <a:avLst>
              <a:gd name="adj" fmla="val 8421"/>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même session</a:t>
            </a:r>
            <a:endParaRPr lang="en-US" sz="1300" dirty="0"/>
          </a:p>
        </p:txBody>
      </p:sp>
      <p:sp>
        <p:nvSpPr>
          <p:cNvPr id="14" name="s"/>
          <p:cNvSpPr/>
          <p:nvPr/>
        </p:nvSpPr>
        <p:spPr>
          <a:xfrm>
            <a:off x="6583680" y="5120640"/>
            <a:ext cx="173736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Encore en échec</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raison dans la fiche</a:t>
            </a:r>
            <a:endParaRPr lang="en-US" sz="1300" dirty="0"/>
          </a:p>
        </p:txBody>
      </p:sp>
      <p:sp>
        <p:nvSpPr>
          <p:cNvPr id="15" name="wire-2"/>
          <p:cNvSpPr/>
          <p:nvPr/>
        </p:nvSpPr>
        <p:spPr>
          <a:xfrm>
            <a:off x="1828800" y="2446020"/>
            <a:ext cx="411480" cy="0"/>
          </a:xfrm>
          <a:prstGeom prst="line">
            <a:avLst/>
          </a:prstGeom>
          <a:noFill/>
          <a:ln w="15875">
            <a:solidFill>
              <a:srgbClr val="6B7280"/>
            </a:solidFill>
            <a:prstDash val="solid"/>
            <a:tailEnd type="triangle"/>
          </a:ln>
        </p:spPr>
      </p:sp>
      <p:sp>
        <p:nvSpPr>
          <p:cNvPr id="16" name="wire-3"/>
          <p:cNvSpPr/>
          <p:nvPr/>
        </p:nvSpPr>
        <p:spPr>
          <a:xfrm>
            <a:off x="4251960" y="2446020"/>
            <a:ext cx="365760" cy="0"/>
          </a:xfrm>
          <a:prstGeom prst="line">
            <a:avLst/>
          </a:prstGeom>
          <a:noFill/>
          <a:ln w="15875">
            <a:solidFill>
              <a:srgbClr val="6B7280"/>
            </a:solidFill>
            <a:prstDash val="solid"/>
            <a:tailEnd type="triangle"/>
          </a:ln>
        </p:spPr>
      </p:sp>
      <p:sp>
        <p:nvSpPr>
          <p:cNvPr id="17" name="wire-4"/>
          <p:cNvSpPr/>
          <p:nvPr/>
        </p:nvSpPr>
        <p:spPr>
          <a:xfrm>
            <a:off x="6217920" y="2446020"/>
            <a:ext cx="365760" cy="0"/>
          </a:xfrm>
          <a:prstGeom prst="line">
            <a:avLst/>
          </a:prstGeom>
          <a:noFill/>
          <a:ln w="15875">
            <a:solidFill>
              <a:srgbClr val="6B7280"/>
            </a:solidFill>
            <a:prstDash val="solid"/>
            <a:tailEnd type="triangle"/>
          </a:ln>
        </p:spPr>
      </p:sp>
      <p:sp>
        <p:nvSpPr>
          <p:cNvPr id="18" name="wire-5"/>
          <p:cNvSpPr/>
          <p:nvPr/>
        </p:nvSpPr>
        <p:spPr>
          <a:xfrm flipV="1">
            <a:off x="8321040" y="2441448"/>
            <a:ext cx="320040" cy="4572"/>
          </a:xfrm>
          <a:prstGeom prst="line">
            <a:avLst/>
          </a:prstGeom>
          <a:noFill/>
          <a:ln w="15875">
            <a:solidFill>
              <a:srgbClr val="6B7280"/>
            </a:solidFill>
            <a:prstDash val="solid"/>
            <a:tailEnd type="triangle"/>
          </a:ln>
        </p:spPr>
      </p:sp>
      <p:sp>
        <p:nvSpPr>
          <p:cNvPr id="19" name="wire-6"/>
          <p:cNvSpPr/>
          <p:nvPr/>
        </p:nvSpPr>
        <p:spPr>
          <a:xfrm>
            <a:off x="10104120" y="2441448"/>
            <a:ext cx="365760" cy="4572"/>
          </a:xfrm>
          <a:prstGeom prst="line">
            <a:avLst/>
          </a:prstGeom>
          <a:noFill/>
          <a:ln w="15875">
            <a:solidFill>
              <a:srgbClr val="6B7280"/>
            </a:solidFill>
            <a:prstDash val="solid"/>
            <a:tailEnd type="triangle"/>
          </a:ln>
        </p:spPr>
      </p:sp>
      <p:sp>
        <p:nvSpPr>
          <p:cNvPr id="20" name="label-7"/>
          <p:cNvSpPr txBox="1"/>
          <p:nvPr/>
        </p:nvSpPr>
        <p:spPr>
          <a:xfrm>
            <a:off x="10131552" y="2176272"/>
            <a:ext cx="320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OK</a:t>
            </a:r>
            <a:endParaRPr lang="en-US" sz="1050" dirty="0"/>
          </a:p>
        </p:txBody>
      </p:sp>
      <p:sp>
        <p:nvSpPr>
          <p:cNvPr id="21" name="wire-8"/>
          <p:cNvSpPr/>
          <p:nvPr/>
        </p:nvSpPr>
        <p:spPr>
          <a:xfrm flipV="1">
            <a:off x="1463040" y="1645920"/>
            <a:ext cx="0" cy="365760"/>
          </a:xfrm>
          <a:prstGeom prst="line">
            <a:avLst/>
          </a:prstGeom>
          <a:noFill/>
          <a:ln w="15875">
            <a:solidFill>
              <a:srgbClr val="6B7280"/>
            </a:solidFill>
            <a:prstDash val="dash"/>
          </a:ln>
        </p:spPr>
      </p:sp>
      <p:sp>
        <p:nvSpPr>
          <p:cNvPr id="22" name="wire-9"/>
          <p:cNvSpPr/>
          <p:nvPr/>
        </p:nvSpPr>
        <p:spPr>
          <a:xfrm>
            <a:off x="1463040" y="1645920"/>
            <a:ext cx="5486400" cy="0"/>
          </a:xfrm>
          <a:prstGeom prst="line">
            <a:avLst/>
          </a:prstGeom>
          <a:noFill/>
          <a:ln w="15875">
            <a:solidFill>
              <a:srgbClr val="6B7280"/>
            </a:solidFill>
            <a:prstDash val="dash"/>
          </a:ln>
        </p:spPr>
      </p:sp>
      <p:sp>
        <p:nvSpPr>
          <p:cNvPr id="23" name="wire-10"/>
          <p:cNvSpPr/>
          <p:nvPr/>
        </p:nvSpPr>
        <p:spPr>
          <a:xfrm>
            <a:off x="6949440" y="1645920"/>
            <a:ext cx="0" cy="365760"/>
          </a:xfrm>
          <a:prstGeom prst="line">
            <a:avLst/>
          </a:prstGeom>
          <a:noFill/>
          <a:ln w="15875">
            <a:solidFill>
              <a:srgbClr val="6B7280"/>
            </a:solidFill>
            <a:prstDash val="dash"/>
            <a:tailEnd type="triangle"/>
          </a:ln>
        </p:spPr>
      </p:sp>
      <p:sp>
        <p:nvSpPr>
          <p:cNvPr id="24" name="label-11"/>
          <p:cNvSpPr txBox="1"/>
          <p:nvPr/>
        </p:nvSpPr>
        <p:spPr>
          <a:xfrm>
            <a:off x="2926080" y="1673352"/>
            <a:ext cx="12801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code nouveau</a:t>
            </a:r>
            <a:endParaRPr lang="en-US" sz="1050" dirty="0"/>
          </a:p>
        </p:txBody>
      </p:sp>
      <p:sp>
        <p:nvSpPr>
          <p:cNvPr id="25" name="wire-12"/>
          <p:cNvSpPr/>
          <p:nvPr/>
        </p:nvSpPr>
        <p:spPr>
          <a:xfrm>
            <a:off x="7452360" y="2880360"/>
            <a:ext cx="0" cy="914400"/>
          </a:xfrm>
          <a:prstGeom prst="line">
            <a:avLst/>
          </a:prstGeom>
          <a:noFill/>
          <a:ln w="15875">
            <a:solidFill>
              <a:srgbClr val="6B7280"/>
            </a:solidFill>
            <a:prstDash val="solid"/>
            <a:tailEnd type="triangle"/>
          </a:ln>
        </p:spPr>
      </p:sp>
      <p:sp>
        <p:nvSpPr>
          <p:cNvPr id="26" name="label-13"/>
          <p:cNvSpPr txBox="1"/>
          <p:nvPr/>
        </p:nvSpPr>
        <p:spPr>
          <a:xfrm>
            <a:off x="7543800" y="3154680"/>
            <a:ext cx="64008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échec</a:t>
            </a:r>
            <a:endParaRPr lang="en-US" sz="1050" dirty="0"/>
          </a:p>
        </p:txBody>
      </p:sp>
      <p:sp>
        <p:nvSpPr>
          <p:cNvPr id="27" name="wire-14"/>
          <p:cNvSpPr/>
          <p:nvPr/>
        </p:nvSpPr>
        <p:spPr>
          <a:xfrm flipH="1" flipV="1">
            <a:off x="6355080" y="4224528"/>
            <a:ext cx="228600" cy="4572"/>
          </a:xfrm>
          <a:prstGeom prst="line">
            <a:avLst/>
          </a:prstGeom>
          <a:noFill/>
          <a:ln w="15875">
            <a:solidFill>
              <a:srgbClr val="6B7280"/>
            </a:solidFill>
            <a:prstDash val="solid"/>
          </a:ln>
        </p:spPr>
      </p:sp>
      <p:sp>
        <p:nvSpPr>
          <p:cNvPr id="28" name="wire-15"/>
          <p:cNvSpPr/>
          <p:nvPr/>
        </p:nvSpPr>
        <p:spPr>
          <a:xfrm flipV="1">
            <a:off x="6355080" y="2697480"/>
            <a:ext cx="0" cy="1527048"/>
          </a:xfrm>
          <a:prstGeom prst="line">
            <a:avLst/>
          </a:prstGeom>
          <a:noFill/>
          <a:ln w="15875">
            <a:solidFill>
              <a:srgbClr val="6B7280"/>
            </a:solidFill>
            <a:prstDash val="solid"/>
          </a:ln>
        </p:spPr>
      </p:sp>
      <p:sp>
        <p:nvSpPr>
          <p:cNvPr id="29" name="wire-16"/>
          <p:cNvSpPr/>
          <p:nvPr/>
        </p:nvSpPr>
        <p:spPr>
          <a:xfrm>
            <a:off x="6355080" y="2697480"/>
            <a:ext cx="228600" cy="0"/>
          </a:xfrm>
          <a:prstGeom prst="line">
            <a:avLst/>
          </a:prstGeom>
          <a:noFill/>
          <a:ln w="15875">
            <a:solidFill>
              <a:srgbClr val="6B7280"/>
            </a:solidFill>
            <a:prstDash val="solid"/>
            <a:tailEnd type="triangle"/>
          </a:ln>
        </p:spPr>
      </p:sp>
      <p:sp>
        <p:nvSpPr>
          <p:cNvPr id="30" name="label-17"/>
          <p:cNvSpPr txBox="1"/>
          <p:nvPr/>
        </p:nvSpPr>
        <p:spPr>
          <a:xfrm>
            <a:off x="5486400" y="3337560"/>
            <a:ext cx="822960"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2e essai</a:t>
            </a:r>
            <a:endParaRPr lang="en-US" sz="1050" dirty="0"/>
          </a:p>
        </p:txBody>
      </p:sp>
      <p:sp>
        <p:nvSpPr>
          <p:cNvPr id="31" name="wire-18"/>
          <p:cNvSpPr/>
          <p:nvPr/>
        </p:nvSpPr>
        <p:spPr>
          <a:xfrm>
            <a:off x="7452360" y="4663440"/>
            <a:ext cx="0" cy="457200"/>
          </a:xfrm>
          <a:prstGeom prst="line">
            <a:avLst/>
          </a:prstGeom>
          <a:noFill/>
          <a:ln w="15875">
            <a:solidFill>
              <a:srgbClr val="6B7280"/>
            </a:solidFill>
            <a:prstDash val="solid"/>
            <a:tailEnd type="triangle"/>
          </a:ln>
        </p:spPr>
      </p:sp>
      <p:sp>
        <p:nvSpPr>
          <p:cNvPr id="32" name="wire-19"/>
          <p:cNvSpPr/>
          <p:nvPr/>
        </p:nvSpPr>
        <p:spPr>
          <a:xfrm>
            <a:off x="9372600" y="2990088"/>
            <a:ext cx="0" cy="804672"/>
          </a:xfrm>
          <a:prstGeom prst="line">
            <a:avLst/>
          </a:prstGeom>
          <a:noFill/>
          <a:ln w="15875">
            <a:solidFill>
              <a:srgbClr val="6B7280"/>
            </a:solidFill>
            <a:prstDash val="solid"/>
            <a:tailEnd type="triangle"/>
          </a:ln>
        </p:spPr>
      </p:sp>
      <p:sp>
        <p:nvSpPr>
          <p:cNvPr id="33" name="label-20"/>
          <p:cNvSpPr txBox="1"/>
          <p:nvPr/>
        </p:nvSpPr>
        <p:spPr>
          <a:xfrm>
            <a:off x="9491472" y="3154680"/>
            <a:ext cx="82296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 vert</a:t>
            </a:r>
            <a:endParaRPr lang="en-US" sz="1050" dirty="0"/>
          </a:p>
        </p:txBody>
      </p:sp>
      <p:sp>
        <p:nvSpPr>
          <p:cNvPr id="34" name="wire-21"/>
          <p:cNvSpPr/>
          <p:nvPr/>
        </p:nvSpPr>
        <p:spPr>
          <a:xfrm flipV="1">
            <a:off x="10241280" y="4224528"/>
            <a:ext cx="841248" cy="4572"/>
          </a:xfrm>
          <a:prstGeom prst="line">
            <a:avLst/>
          </a:prstGeom>
          <a:noFill/>
          <a:ln w="15875">
            <a:solidFill>
              <a:srgbClr val="6B7280"/>
            </a:solidFill>
            <a:prstDash val="solid"/>
          </a:ln>
        </p:spPr>
      </p:sp>
      <p:sp>
        <p:nvSpPr>
          <p:cNvPr id="35" name="wire-22"/>
          <p:cNvSpPr/>
          <p:nvPr/>
        </p:nvSpPr>
        <p:spPr>
          <a:xfrm flipV="1">
            <a:off x="11082528" y="2880360"/>
            <a:ext cx="0" cy="1344168"/>
          </a:xfrm>
          <a:prstGeom prst="line">
            <a:avLst/>
          </a:prstGeom>
          <a:noFill/>
          <a:ln w="15875">
            <a:solidFill>
              <a:srgbClr val="6B7280"/>
            </a:solidFill>
            <a:prstDash val="solid"/>
            <a:tailEnd type="triangle"/>
          </a:ln>
        </p:spPr>
      </p:sp>
      <p:sp>
        <p:nvSpPr>
          <p:cNvPr id="36" name="label-23"/>
          <p:cNvSpPr txBox="1"/>
          <p:nvPr/>
        </p:nvSpPr>
        <p:spPr>
          <a:xfrm>
            <a:off x="11155680" y="3429000"/>
            <a:ext cx="5486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vert</a:t>
            </a:r>
            <a:endParaRPr lang="en-US" sz="1050" dirty="0"/>
          </a:p>
        </p:txBody>
      </p:sp>
      <p:sp>
        <p:nvSpPr>
          <p:cNvPr id="37" name="label-24"/>
          <p:cNvSpPr txBox="1"/>
          <p:nvPr/>
        </p:nvSpPr>
        <p:spPr>
          <a:xfrm>
            <a:off x="8549640" y="4709160"/>
            <a:ext cx="16916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régression → coder</a:t>
            </a:r>
            <a:endParaRPr lang="en-US" sz="1050" dirty="0"/>
          </a:p>
        </p:txBody>
      </p:sp>
      <p:sp>
        <p:nvSpPr>
          <p:cNvPr id="38" name="wire-25"/>
          <p:cNvSpPr/>
          <p:nvPr/>
        </p:nvSpPr>
        <p:spPr>
          <a:xfrm flipV="1">
            <a:off x="11082528" y="1389888"/>
            <a:ext cx="0" cy="621792"/>
          </a:xfrm>
          <a:prstGeom prst="line">
            <a:avLst/>
          </a:prstGeom>
          <a:noFill/>
          <a:ln w="15875">
            <a:solidFill>
              <a:srgbClr val="6B7280"/>
            </a:solidFill>
            <a:prstDash val="dash"/>
          </a:ln>
        </p:spPr>
      </p:sp>
      <p:sp>
        <p:nvSpPr>
          <p:cNvPr id="39" name="wire-26"/>
          <p:cNvSpPr/>
          <p:nvPr/>
        </p:nvSpPr>
        <p:spPr>
          <a:xfrm flipH="1">
            <a:off x="777240" y="1389888"/>
            <a:ext cx="10305288" cy="0"/>
          </a:xfrm>
          <a:prstGeom prst="line">
            <a:avLst/>
          </a:prstGeom>
          <a:noFill/>
          <a:ln w="15875">
            <a:solidFill>
              <a:srgbClr val="6B7280"/>
            </a:solidFill>
            <a:prstDash val="dash"/>
          </a:ln>
        </p:spPr>
      </p:sp>
      <p:sp>
        <p:nvSpPr>
          <p:cNvPr id="40" name="wire-27"/>
          <p:cNvSpPr/>
          <p:nvPr/>
        </p:nvSpPr>
        <p:spPr>
          <a:xfrm>
            <a:off x="777240" y="1389888"/>
            <a:ext cx="0" cy="621792"/>
          </a:xfrm>
          <a:prstGeom prst="line">
            <a:avLst/>
          </a:prstGeom>
          <a:noFill/>
          <a:ln w="15875">
            <a:solidFill>
              <a:srgbClr val="6B7280"/>
            </a:solidFill>
            <a:prstDash val="dash"/>
            <a:tailEnd type="triangle"/>
          </a:ln>
        </p:spPr>
      </p:sp>
      <p:sp>
        <p:nvSpPr>
          <p:cNvPr id="41" name="label-28"/>
          <p:cNvSpPr txBox="1"/>
          <p:nvPr/>
        </p:nvSpPr>
        <p:spPr>
          <a:xfrm>
            <a:off x="8778240" y="1152144"/>
            <a:ext cx="146304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étape suivante</a:t>
            </a:r>
            <a:endParaRPr lang="en-US" sz="105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/go · 3. Vérifier et livrer</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Tous les tests et la relecture tournent ensemble. Rien ne part sans le contrôle avant push.</a:t>
            </a:r>
            <a:endParaRPr lang="en-US" sz="1500" dirty="0"/>
          </a:p>
        </p:txBody>
      </p:sp>
      <p:sp>
        <p:nvSpPr>
          <p:cNvPr id="5" name="a"/>
          <p:cNvSpPr/>
          <p:nvPr/>
        </p:nvSpPr>
        <p:spPr>
          <a:xfrm>
            <a:off x="457200" y="2743200"/>
            <a:ext cx="12801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Plan fini</a:t>
            </a:r>
            <a:endParaRPr lang="en-US" sz="1300" dirty="0"/>
          </a:p>
        </p:txBody>
      </p:sp>
      <p:sp>
        <p:nvSpPr>
          <p:cNvPr id="6" name="group-1"/>
          <p:cNvSpPr/>
          <p:nvPr/>
        </p:nvSpPr>
        <p:spPr>
          <a:xfrm>
            <a:off x="2103120" y="1508760"/>
            <a:ext cx="2651760" cy="3246120"/>
          </a:xfrm>
          <a:prstGeom prst="roundRect">
            <a:avLst>
              <a:gd name="adj" fmla="val 3448"/>
            </a:avLst>
          </a:prstGeom>
          <a:solidFill>
            <a:srgbClr val="FFFFFF">
              <a:alpha val="0"/>
            </a:srgbClr>
          </a:solidFill>
          <a:ln w="12700">
            <a:solidFill>
              <a:srgbClr val="A3AAB3"/>
            </a:solidFill>
            <a:prstDash val="dash"/>
          </a:ln>
        </p:spPr>
      </p:sp>
      <p:sp>
        <p:nvSpPr>
          <p:cNvPr id="7" name="group-label-2"/>
          <p:cNvSpPr txBox="1"/>
          <p:nvPr/>
        </p:nvSpPr>
        <p:spPr>
          <a:xfrm>
            <a:off x="2212848" y="1545336"/>
            <a:ext cx="2432304"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en même temps</a:t>
            </a:r>
            <a:endParaRPr lang="en-US" sz="1050" dirty="0"/>
          </a:p>
        </p:txBody>
      </p:sp>
      <p:sp>
        <p:nvSpPr>
          <p:cNvPr id="8" name="su"/>
          <p:cNvSpPr/>
          <p:nvPr/>
        </p:nvSpPr>
        <p:spPr>
          <a:xfrm>
            <a:off x="2286000" y="1874520"/>
            <a:ext cx="2286000" cy="914400"/>
          </a:xfrm>
          <a:prstGeom prst="roundRect">
            <a:avLst>
              <a:gd name="adj" fmla="val 8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couverture modifiée</a:t>
            </a:r>
            <a:endParaRPr lang="en-US" sz="1300" dirty="0"/>
          </a:p>
        </p:txBody>
      </p:sp>
      <p:sp>
        <p:nvSpPr>
          <p:cNvPr id="9" name="tag-3"/>
          <p:cNvSpPr/>
          <p:nvPr/>
        </p:nvSpPr>
        <p:spPr>
          <a:xfrm>
            <a:off x="3630168" y="1719072"/>
            <a:ext cx="105156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25 min</a:t>
            </a:r>
            <a:endParaRPr lang="en-US" sz="1050" dirty="0"/>
          </a:p>
        </p:txBody>
      </p:sp>
      <p:sp>
        <p:nvSpPr>
          <p:cNvPr id="10" name="tag-4"/>
          <p:cNvSpPr/>
          <p:nvPr/>
        </p:nvSpPr>
        <p:spPr>
          <a:xfrm>
            <a:off x="2377440" y="2926080"/>
            <a:ext cx="2103120" cy="274320"/>
          </a:xfrm>
          <a:prstGeom prst="roundRect">
            <a:avLst>
              <a:gd name="adj" fmla="val 50000"/>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test rouge : rejoué 1 fois</a:t>
            </a:r>
            <a:endParaRPr lang="en-US" sz="1050" dirty="0"/>
          </a:p>
        </p:txBody>
      </p:sp>
      <p:sp>
        <p:nvSpPr>
          <p:cNvPr id="11" name="ck"/>
          <p:cNvSpPr/>
          <p:nvPr/>
        </p:nvSpPr>
        <p:spPr>
          <a:xfrm>
            <a:off x="2286000" y="3520440"/>
            <a:ext cx="2286000" cy="914400"/>
          </a:xfrm>
          <a:prstGeom prst="roundRect">
            <a:avLst>
              <a:gd name="adj" fmla="val 8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checker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relecture</a:t>
            </a:r>
            <a:endParaRPr lang="en-US" sz="1300" dirty="0"/>
          </a:p>
        </p:txBody>
      </p:sp>
      <p:sp>
        <p:nvSpPr>
          <p:cNvPr id="12" name="fx"/>
          <p:cNvSpPr/>
          <p:nvPr/>
        </p:nvSpPr>
        <p:spPr>
          <a:xfrm>
            <a:off x="5166360" y="2743200"/>
            <a:ext cx="173736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Corrections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2 tours max</a:t>
            </a:r>
            <a:endParaRPr lang="en-US" sz="1300" dirty="0"/>
          </a:p>
        </p:txBody>
      </p:sp>
      <p:sp>
        <p:nvSpPr>
          <p:cNvPr id="13" name="sh"/>
          <p:cNvSpPr/>
          <p:nvPr/>
        </p:nvSpPr>
        <p:spPr>
          <a:xfrm>
            <a:off x="7269480" y="2743200"/>
            <a:ext cx="182880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4" name="tag-5"/>
          <p:cNvSpPr/>
          <p:nvPr/>
        </p:nvSpPr>
        <p:spPr>
          <a:xfrm>
            <a:off x="7178040" y="2011680"/>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5" name="tag-6"/>
          <p:cNvSpPr/>
          <p:nvPr/>
        </p:nvSpPr>
        <p:spPr>
          <a:xfrm>
            <a:off x="7178040" y="2359152"/>
            <a:ext cx="201168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branche bougée : re-push</a:t>
            </a:r>
            <a:endParaRPr lang="en-US" sz="1050" dirty="0"/>
          </a:p>
        </p:txBody>
      </p:sp>
      <p:sp>
        <p:nvSpPr>
          <p:cNvPr id="16" name="mr"/>
          <p:cNvSpPr/>
          <p:nvPr/>
        </p:nvSpPr>
        <p:spPr>
          <a:xfrm>
            <a:off x="9509760" y="2743200"/>
            <a:ext cx="2194560" cy="822960"/>
          </a:xfrm>
          <a:prstGeom prst="roundRect">
            <a:avLst>
              <a:gd name="adj" fmla="val 8889"/>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décisions, tests</a:t>
            </a:r>
            <a:endParaRPr lang="en-US" sz="1300" dirty="0"/>
          </a:p>
        </p:txBody>
      </p:sp>
      <p:sp>
        <p:nvSpPr>
          <p:cNvPr id="17" name="tag-7"/>
          <p:cNvSpPr/>
          <p:nvPr/>
        </p:nvSpPr>
        <p:spPr>
          <a:xfrm>
            <a:off x="10396728" y="25877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GitLab : 1 rappel</a:t>
            </a:r>
            <a:endParaRPr lang="en-US" sz="1050" dirty="0"/>
          </a:p>
        </p:txBody>
      </p:sp>
      <p:sp>
        <p:nvSpPr>
          <p:cNvPr id="18" name="nx"/>
          <p:cNvSpPr/>
          <p:nvPr/>
        </p:nvSpPr>
        <p:spPr>
          <a:xfrm>
            <a:off x="9509760" y="4343400"/>
            <a:ext cx="219456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CI</a:t>
            </a:r>
            <a:endParaRPr lang="en-US" sz="1300" dirty="0"/>
          </a:p>
        </p:txBody>
      </p:sp>
      <p:sp>
        <p:nvSpPr>
          <p:cNvPr id="19" name="st"/>
          <p:cNvSpPr/>
          <p:nvPr/>
        </p:nvSpPr>
        <p:spPr>
          <a:xfrm>
            <a:off x="7269480" y="4343400"/>
            <a:ext cx="182880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Rien n'est poussé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secret, conflit</a:t>
            </a:r>
            <a:endParaRPr lang="en-US" sz="1300" dirty="0"/>
          </a:p>
        </p:txBody>
      </p:sp>
      <p:sp>
        <p:nvSpPr>
          <p:cNvPr id="20" name="wire-8"/>
          <p:cNvSpPr/>
          <p:nvPr/>
        </p:nvSpPr>
        <p:spPr>
          <a:xfrm>
            <a:off x="1737360" y="3154680"/>
            <a:ext cx="228600" cy="0"/>
          </a:xfrm>
          <a:prstGeom prst="line">
            <a:avLst/>
          </a:prstGeom>
          <a:noFill/>
          <a:ln w="15875">
            <a:solidFill>
              <a:srgbClr val="6B7280"/>
            </a:solidFill>
            <a:prstDash val="solid"/>
          </a:ln>
        </p:spPr>
      </p:sp>
      <p:sp>
        <p:nvSpPr>
          <p:cNvPr id="21" name="wire-9"/>
          <p:cNvSpPr/>
          <p:nvPr/>
        </p:nvSpPr>
        <p:spPr>
          <a:xfrm>
            <a:off x="1965960" y="2331720"/>
            <a:ext cx="0" cy="1645920"/>
          </a:xfrm>
          <a:prstGeom prst="line">
            <a:avLst/>
          </a:prstGeom>
          <a:noFill/>
          <a:ln w="15875">
            <a:solidFill>
              <a:srgbClr val="6B7280"/>
            </a:solidFill>
            <a:prstDash val="solid"/>
          </a:ln>
        </p:spPr>
      </p:sp>
      <p:sp>
        <p:nvSpPr>
          <p:cNvPr id="22" name="wire-10"/>
          <p:cNvSpPr/>
          <p:nvPr/>
        </p:nvSpPr>
        <p:spPr>
          <a:xfrm>
            <a:off x="1965960" y="2331720"/>
            <a:ext cx="320040" cy="0"/>
          </a:xfrm>
          <a:prstGeom prst="line">
            <a:avLst/>
          </a:prstGeom>
          <a:noFill/>
          <a:ln w="15875">
            <a:solidFill>
              <a:srgbClr val="6B7280"/>
            </a:solidFill>
            <a:prstDash val="solid"/>
            <a:tailEnd type="triangle"/>
          </a:ln>
        </p:spPr>
      </p:sp>
      <p:sp>
        <p:nvSpPr>
          <p:cNvPr id="23" name="wire-11"/>
          <p:cNvSpPr/>
          <p:nvPr/>
        </p:nvSpPr>
        <p:spPr>
          <a:xfrm>
            <a:off x="1965960" y="3977640"/>
            <a:ext cx="320040" cy="0"/>
          </a:xfrm>
          <a:prstGeom prst="line">
            <a:avLst/>
          </a:prstGeom>
          <a:noFill/>
          <a:ln w="15875">
            <a:solidFill>
              <a:srgbClr val="6B7280"/>
            </a:solidFill>
            <a:prstDash val="solid"/>
            <a:tailEnd type="triangle"/>
          </a:ln>
        </p:spPr>
      </p:sp>
      <p:sp>
        <p:nvSpPr>
          <p:cNvPr id="24" name="wire-12"/>
          <p:cNvSpPr/>
          <p:nvPr/>
        </p:nvSpPr>
        <p:spPr>
          <a:xfrm>
            <a:off x="4572000" y="2331720"/>
            <a:ext cx="365760" cy="0"/>
          </a:xfrm>
          <a:prstGeom prst="line">
            <a:avLst/>
          </a:prstGeom>
          <a:noFill/>
          <a:ln w="15875">
            <a:solidFill>
              <a:srgbClr val="6B7280"/>
            </a:solidFill>
            <a:prstDash val="solid"/>
          </a:ln>
        </p:spPr>
      </p:sp>
      <p:sp>
        <p:nvSpPr>
          <p:cNvPr id="25" name="wire-13"/>
          <p:cNvSpPr/>
          <p:nvPr/>
        </p:nvSpPr>
        <p:spPr>
          <a:xfrm>
            <a:off x="4572000" y="3977640"/>
            <a:ext cx="365760" cy="0"/>
          </a:xfrm>
          <a:prstGeom prst="line">
            <a:avLst/>
          </a:prstGeom>
          <a:noFill/>
          <a:ln w="15875">
            <a:solidFill>
              <a:srgbClr val="6B7280"/>
            </a:solidFill>
            <a:prstDash val="solid"/>
          </a:ln>
        </p:spPr>
      </p:sp>
      <p:sp>
        <p:nvSpPr>
          <p:cNvPr id="26" name="wire-14"/>
          <p:cNvSpPr/>
          <p:nvPr/>
        </p:nvSpPr>
        <p:spPr>
          <a:xfrm>
            <a:off x="4937760" y="2331720"/>
            <a:ext cx="0" cy="1645920"/>
          </a:xfrm>
          <a:prstGeom prst="line">
            <a:avLst/>
          </a:prstGeom>
          <a:noFill/>
          <a:ln w="15875">
            <a:solidFill>
              <a:srgbClr val="6B7280"/>
            </a:solidFill>
            <a:prstDash val="solid"/>
          </a:ln>
        </p:spPr>
      </p:sp>
      <p:sp>
        <p:nvSpPr>
          <p:cNvPr id="27" name="wire-15"/>
          <p:cNvSpPr/>
          <p:nvPr/>
        </p:nvSpPr>
        <p:spPr>
          <a:xfrm>
            <a:off x="4937760" y="3154680"/>
            <a:ext cx="228600" cy="0"/>
          </a:xfrm>
          <a:prstGeom prst="line">
            <a:avLst/>
          </a:prstGeom>
          <a:noFill/>
          <a:ln w="15875">
            <a:solidFill>
              <a:srgbClr val="6B7280"/>
            </a:solidFill>
            <a:prstDash val="solid"/>
            <a:tailEnd type="triangle"/>
          </a:ln>
        </p:spPr>
      </p:sp>
      <p:sp>
        <p:nvSpPr>
          <p:cNvPr id="28" name="wire-16"/>
          <p:cNvSpPr/>
          <p:nvPr/>
        </p:nvSpPr>
        <p:spPr>
          <a:xfrm>
            <a:off x="6903720" y="3154680"/>
            <a:ext cx="365760" cy="0"/>
          </a:xfrm>
          <a:prstGeom prst="line">
            <a:avLst/>
          </a:prstGeom>
          <a:noFill/>
          <a:ln w="15875">
            <a:solidFill>
              <a:srgbClr val="6B7280"/>
            </a:solidFill>
            <a:prstDash val="solid"/>
            <a:tailEnd type="triangle"/>
          </a:ln>
        </p:spPr>
      </p:sp>
      <p:sp>
        <p:nvSpPr>
          <p:cNvPr id="29" name="wire-17"/>
          <p:cNvSpPr/>
          <p:nvPr/>
        </p:nvSpPr>
        <p:spPr>
          <a:xfrm>
            <a:off x="9098280" y="3154680"/>
            <a:ext cx="411480" cy="0"/>
          </a:xfrm>
          <a:prstGeom prst="line">
            <a:avLst/>
          </a:prstGeom>
          <a:noFill/>
          <a:ln w="15875">
            <a:solidFill>
              <a:srgbClr val="6B7280"/>
            </a:solidFill>
            <a:prstDash val="solid"/>
            <a:tailEnd type="triangle"/>
          </a:ln>
        </p:spPr>
      </p:sp>
      <p:sp>
        <p:nvSpPr>
          <p:cNvPr id="30" name="wire-18"/>
          <p:cNvSpPr/>
          <p:nvPr/>
        </p:nvSpPr>
        <p:spPr>
          <a:xfrm>
            <a:off x="8183880" y="3566160"/>
            <a:ext cx="0" cy="777240"/>
          </a:xfrm>
          <a:prstGeom prst="line">
            <a:avLst/>
          </a:prstGeom>
          <a:noFill/>
          <a:ln w="15875">
            <a:solidFill>
              <a:srgbClr val="6B7280"/>
            </a:solidFill>
            <a:prstDash val="solid"/>
            <a:tailEnd type="triangle"/>
          </a:ln>
        </p:spPr>
      </p:sp>
      <p:sp>
        <p:nvSpPr>
          <p:cNvPr id="31" name="wire-19"/>
          <p:cNvSpPr/>
          <p:nvPr/>
        </p:nvSpPr>
        <p:spPr>
          <a:xfrm>
            <a:off x="10607040" y="3566160"/>
            <a:ext cx="0" cy="77724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Sans ticket Jira</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mêmes garanties qu'avec un ticket : la demande du développeur remplace le ticket.</a:t>
            </a:r>
            <a:endParaRPr lang="en-US" sz="1500" dirty="0"/>
          </a:p>
        </p:txBody>
      </p:sp>
      <p:sp>
        <p:nvSpPr>
          <p:cNvPr id="5" name="label-1"/>
          <p:cNvSpPr txBox="1"/>
          <p:nvPr/>
        </p:nvSpPr>
        <p:spPr>
          <a:xfrm>
            <a:off x="457200" y="160020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changement</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livrer</a:t>
            </a:r>
            <a:endParaRPr lang="en-US" sz="1300" dirty="0"/>
          </a:p>
        </p:txBody>
      </p:sp>
      <p:sp>
        <p:nvSpPr>
          <p:cNvPr id="6" name="label-2"/>
          <p:cNvSpPr txBox="1"/>
          <p:nvPr/>
        </p:nvSpPr>
        <p:spPr>
          <a:xfrm>
            <a:off x="457200" y="283464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 problème</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à comprendre</a:t>
            </a:r>
            <a:endParaRPr lang="en-US" sz="1300" dirty="0"/>
          </a:p>
        </p:txBody>
      </p:sp>
      <p:sp>
        <p:nvSpPr>
          <p:cNvPr id="7" name="label-3"/>
          <p:cNvSpPr txBox="1"/>
          <p:nvPr/>
        </p:nvSpPr>
        <p:spPr>
          <a:xfrm>
            <a:off x="457200" y="406908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Une petite modif,</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une doc, un POC</a:t>
            </a:r>
            <a:endParaRPr lang="en-US" sz="1300" dirty="0"/>
          </a:p>
        </p:txBody>
      </p:sp>
      <p:sp>
        <p:nvSpPr>
          <p:cNvPr id="8" name="label-4"/>
          <p:cNvSpPr txBox="1"/>
          <p:nvPr/>
        </p:nvSpPr>
        <p:spPr>
          <a:xfrm>
            <a:off x="457200" y="5303520"/>
            <a:ext cx="1737360" cy="731520"/>
          </a:xfrm>
          <a:prstGeom prst="rect">
            <a:avLst/>
          </a:prstGeom>
          <a:noFill/>
          <a:ln/>
        </p:spPr>
        <p:txBody>
          <a:bodyPr wrap="square" lIns="0" tIns="0" rIns="0" bIns="0" rtlCol="0" anchor="ctr"/>
          <a:lstStyle/>
          <a:p>
            <a:pPr algn="l" indent="0" marL="0">
              <a:buNone/>
            </a:pPr>
            <a:r>
              <a:rPr lang="en-US" sz="1300" b="1" dirty="0">
                <a:solidFill>
                  <a:srgbClr val="1F2933"/>
                </a:solidFill>
                <a:latin typeface="Calibri" pitchFamily="34" charset="0"/>
                <a:ea typeface="Calibri" pitchFamily="34" charset="-122"/>
                <a:cs typeface="Calibri" pitchFamily="34" charset="-120"/>
              </a:rPr>
              <a:t>Des tests sur</a:t>
            </a:r>
            <a:endParaRPr lang="en-US" sz="1300" dirty="0"/>
          </a:p>
          <a:p>
            <a:pPr algn="l" indent="0" marL="0">
              <a:buNone/>
            </a:pPr>
            <a:r>
              <a:rPr lang="en-US" sz="1300" b="1" dirty="0">
                <a:solidFill>
                  <a:srgbClr val="1F2933"/>
                </a:solidFill>
                <a:latin typeface="Calibri" pitchFamily="34" charset="0"/>
                <a:ea typeface="Calibri" pitchFamily="34" charset="-122"/>
                <a:cs typeface="Calibri" pitchFamily="34" charset="-120"/>
              </a:rPr>
              <a:t>l'existant</a:t>
            </a:r>
            <a:endParaRPr lang="en-US" sz="1300" dirty="0"/>
          </a:p>
        </p:txBody>
      </p:sp>
      <p:sp>
        <p:nvSpPr>
          <p:cNvPr id="9" name="g1"/>
          <p:cNvSpPr/>
          <p:nvPr/>
        </p:nvSpPr>
        <p:spPr>
          <a:xfrm>
            <a:off x="2286000" y="160020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/go sans ticket : …</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quoi, où, pourquoi</a:t>
            </a:r>
            <a:endParaRPr lang="en-US" sz="1300" dirty="0"/>
          </a:p>
        </p:txBody>
      </p:sp>
      <p:sp>
        <p:nvSpPr>
          <p:cNvPr id="10" name="g2"/>
          <p:cNvSpPr/>
          <p:nvPr/>
        </p:nvSpPr>
        <p:spPr>
          <a:xfrm>
            <a:off x="4892040" y="160020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 /go habituel</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analyse, plan, preuves</a:t>
            </a:r>
            <a:endParaRPr lang="en-US" sz="1300" dirty="0"/>
          </a:p>
        </p:txBody>
      </p:sp>
      <p:sp>
        <p:nvSpPr>
          <p:cNvPr id="11" name="g3"/>
          <p:cNvSpPr/>
          <p:nvPr/>
        </p:nvSpPr>
        <p:spPr>
          <a:xfrm>
            <a:off x="7360920" y="1600200"/>
            <a:ext cx="178308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Clé LOCAL-n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fiche</a:t>
            </a:r>
            <a:endParaRPr lang="en-US" sz="1300" dirty="0"/>
          </a:p>
        </p:txBody>
      </p:sp>
      <p:sp>
        <p:nvSpPr>
          <p:cNvPr id="12" name="g4"/>
          <p:cNvSpPr/>
          <p:nvPr/>
        </p:nvSpPr>
        <p:spPr>
          <a:xfrm>
            <a:off x="9509760" y="1600200"/>
            <a:ext cx="222199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en Draft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Sans ticket Jira »</a:t>
            </a:r>
            <a:endParaRPr lang="en-US" sz="1300" dirty="0"/>
          </a:p>
        </p:txBody>
      </p:sp>
      <p:sp>
        <p:nvSpPr>
          <p:cNvPr id="13" name="wire-5"/>
          <p:cNvSpPr/>
          <p:nvPr/>
        </p:nvSpPr>
        <p:spPr>
          <a:xfrm>
            <a:off x="4526280" y="1965960"/>
            <a:ext cx="365760" cy="0"/>
          </a:xfrm>
          <a:prstGeom prst="line">
            <a:avLst/>
          </a:prstGeom>
          <a:noFill/>
          <a:ln w="15875">
            <a:solidFill>
              <a:srgbClr val="6B7280"/>
            </a:solidFill>
            <a:prstDash val="solid"/>
            <a:tailEnd type="triangle"/>
          </a:ln>
        </p:spPr>
      </p:sp>
      <p:sp>
        <p:nvSpPr>
          <p:cNvPr id="14" name="wire-6"/>
          <p:cNvSpPr/>
          <p:nvPr/>
        </p:nvSpPr>
        <p:spPr>
          <a:xfrm>
            <a:off x="6995160" y="1965960"/>
            <a:ext cx="365760" cy="0"/>
          </a:xfrm>
          <a:prstGeom prst="line">
            <a:avLst/>
          </a:prstGeom>
          <a:noFill/>
          <a:ln w="15875">
            <a:solidFill>
              <a:srgbClr val="6B7280"/>
            </a:solidFill>
            <a:prstDash val="solid"/>
            <a:tailEnd type="triangle"/>
          </a:ln>
        </p:spPr>
      </p:sp>
      <p:sp>
        <p:nvSpPr>
          <p:cNvPr id="15" name="wire-7"/>
          <p:cNvSpPr/>
          <p:nvPr/>
        </p:nvSpPr>
        <p:spPr>
          <a:xfrm>
            <a:off x="9144000" y="1965960"/>
            <a:ext cx="365760" cy="0"/>
          </a:xfrm>
          <a:prstGeom prst="line">
            <a:avLst/>
          </a:prstGeom>
          <a:noFill/>
          <a:ln w="15875">
            <a:solidFill>
              <a:srgbClr val="6B7280"/>
            </a:solidFill>
            <a:prstDash val="solid"/>
            <a:tailEnd type="triangle"/>
          </a:ln>
        </p:spPr>
      </p:sp>
      <p:sp>
        <p:nvSpPr>
          <p:cNvPr id="16" name="e1"/>
          <p:cNvSpPr/>
          <p:nvPr/>
        </p:nvSpPr>
        <p:spPr>
          <a:xfrm>
            <a:off x="2286000" y="2834640"/>
            <a:ext cx="224028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Enquête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conversation, debugger</a:t>
            </a:r>
            <a:endParaRPr lang="en-US" sz="1300" dirty="0"/>
          </a:p>
        </p:txBody>
      </p:sp>
      <p:sp>
        <p:nvSpPr>
          <p:cNvPr id="17" name="e2"/>
          <p:cNvSpPr/>
          <p:nvPr/>
        </p:nvSpPr>
        <p:spPr>
          <a:xfrm>
            <a:off x="4892040" y="2834640"/>
            <a:ext cx="21031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conclusions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cause, fichiers, test</a:t>
            </a:r>
            <a:endParaRPr lang="en-US" sz="1300" dirty="0"/>
          </a:p>
        </p:txBody>
      </p:sp>
      <p:sp>
        <p:nvSpPr>
          <p:cNvPr id="18" name="wire-8"/>
          <p:cNvSpPr/>
          <p:nvPr/>
        </p:nvSpPr>
        <p:spPr>
          <a:xfrm>
            <a:off x="4526280" y="3200400"/>
            <a:ext cx="365760" cy="0"/>
          </a:xfrm>
          <a:prstGeom prst="line">
            <a:avLst/>
          </a:prstGeom>
          <a:noFill/>
          <a:ln w="15875">
            <a:solidFill>
              <a:srgbClr val="6B7280"/>
            </a:solidFill>
            <a:prstDash val="solid"/>
            <a:tailEnd type="triangle"/>
          </a:ln>
        </p:spPr>
      </p:sp>
      <p:sp>
        <p:nvSpPr>
          <p:cNvPr id="19" name="wire-9"/>
          <p:cNvSpPr/>
          <p:nvPr/>
        </p:nvSpPr>
        <p:spPr>
          <a:xfrm flipV="1">
            <a:off x="5943600" y="2331720"/>
            <a:ext cx="0" cy="502920"/>
          </a:xfrm>
          <a:prstGeom prst="line">
            <a:avLst/>
          </a:prstGeom>
          <a:noFill/>
          <a:ln w="15875">
            <a:solidFill>
              <a:srgbClr val="6B7280"/>
            </a:solidFill>
            <a:prstDash val="solid"/>
            <a:tailEnd type="triangle"/>
          </a:ln>
        </p:spPr>
      </p:sp>
      <p:sp>
        <p:nvSpPr>
          <p:cNvPr id="20" name="label-10"/>
          <p:cNvSpPr txBox="1"/>
          <p:nvPr/>
        </p:nvSpPr>
        <p:spPr>
          <a:xfrm>
            <a:off x="6035040" y="2450592"/>
            <a:ext cx="14630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passent à l'analyst</a:t>
            </a:r>
            <a:endParaRPr lang="en-US" sz="1050" dirty="0"/>
          </a:p>
        </p:txBody>
      </p:sp>
      <p:sp>
        <p:nvSpPr>
          <p:cNvPr id="21" name="tag-11"/>
          <p:cNvSpPr/>
          <p:nvPr/>
        </p:nvSpPr>
        <p:spPr>
          <a:xfrm>
            <a:off x="7360920" y="3063240"/>
            <a:ext cx="2377440" cy="292608"/>
          </a:xfrm>
          <a:prstGeom prst="roundRect">
            <a:avLst>
              <a:gd name="adj" fmla="val 46875"/>
            </a:avLst>
          </a:prstGeom>
          <a:solidFill>
            <a:srgbClr val="FFFFFF"/>
          </a:solidFill>
          <a:ln w="12700">
            <a:solidFill>
              <a:srgbClr val="A3AAB3"/>
            </a:solidFill>
            <a:prstDash val="solid"/>
          </a:ln>
        </p:spPr>
        <p:txBody>
          <a:bodyPr wrap="square" lIns="0" tIns="0" rIns="0" bIns="0" rtlCol="0" anchor="ctr"/>
          <a:lstStyle/>
          <a:p>
            <a:pPr algn="ctr" indent="0" marL="0">
              <a:buNone/>
            </a:pPr>
            <a:r>
              <a:rPr lang="en-US" sz="1050" b="1" dirty="0">
                <a:solidFill>
                  <a:srgbClr val="5B6470"/>
                </a:solidFill>
                <a:latin typeface="Calibri" pitchFamily="34" charset="0"/>
                <a:ea typeface="Calibri" pitchFamily="34" charset="-122"/>
                <a:cs typeface="Calibri" pitchFamily="34" charset="-120"/>
              </a:rPr>
              <a:t>rien n'est modifié pendant l'enquête</a:t>
            </a:r>
            <a:endParaRPr lang="en-US" sz="1050" dirty="0"/>
          </a:p>
        </p:txBody>
      </p:sp>
      <p:sp>
        <p:nvSpPr>
          <p:cNvPr id="22" name="p1"/>
          <p:cNvSpPr/>
          <p:nvPr/>
        </p:nvSpPr>
        <p:spPr>
          <a:xfrm>
            <a:off x="2286000" y="406908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Dans la conversation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build et tests</a:t>
            </a:r>
            <a:endParaRPr lang="en-US" sz="1300" dirty="0"/>
          </a:p>
        </p:txBody>
      </p:sp>
      <p:sp>
        <p:nvSpPr>
          <p:cNvPr id="23" name="p2"/>
          <p:cNvSpPr/>
          <p:nvPr/>
        </p:nvSpPr>
        <p:spPr>
          <a:xfrm>
            <a:off x="4892040" y="4069080"/>
            <a:ext cx="123444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24" name="p3"/>
          <p:cNvSpPr/>
          <p:nvPr/>
        </p:nvSpPr>
        <p:spPr>
          <a:xfrm>
            <a:off x="6492240" y="4069080"/>
            <a:ext cx="20116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commit, MR</a:t>
            </a:r>
            <a:endParaRPr lang="en-US" sz="1300" dirty="0"/>
          </a:p>
        </p:txBody>
      </p:sp>
      <p:sp>
        <p:nvSpPr>
          <p:cNvPr id="25" name="p4"/>
          <p:cNvSpPr/>
          <p:nvPr/>
        </p:nvSpPr>
        <p:spPr>
          <a:xfrm>
            <a:off x="8869680" y="4069080"/>
            <a:ext cx="1417320" cy="731520"/>
          </a:xfrm>
          <a:prstGeom prst="roundRect">
            <a:avLst>
              <a:gd name="adj" fmla="val 10000"/>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 push</a:t>
            </a:r>
            <a:endParaRPr lang="en-US" sz="1300" dirty="0"/>
          </a:p>
        </p:txBody>
      </p:sp>
      <p:sp>
        <p:nvSpPr>
          <p:cNvPr id="26" name="p5"/>
          <p:cNvSpPr/>
          <p:nvPr/>
        </p:nvSpPr>
        <p:spPr>
          <a:xfrm>
            <a:off x="10607040" y="4069080"/>
            <a:ext cx="1124712" cy="731520"/>
          </a:xfrm>
          <a:prstGeom prst="roundRect">
            <a:avLst>
              <a:gd name="adj" fmla="val 10000"/>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Poussé</a:t>
            </a:r>
            <a:endParaRPr lang="en-US" sz="1300" dirty="0"/>
          </a:p>
        </p:txBody>
      </p:sp>
      <p:sp>
        <p:nvSpPr>
          <p:cNvPr id="27" name="wire-12"/>
          <p:cNvSpPr/>
          <p:nvPr/>
        </p:nvSpPr>
        <p:spPr>
          <a:xfrm>
            <a:off x="4526280" y="4434840"/>
            <a:ext cx="365760" cy="0"/>
          </a:xfrm>
          <a:prstGeom prst="line">
            <a:avLst/>
          </a:prstGeom>
          <a:noFill/>
          <a:ln w="15875">
            <a:solidFill>
              <a:srgbClr val="6B7280"/>
            </a:solidFill>
            <a:prstDash val="solid"/>
            <a:tailEnd type="triangle"/>
          </a:ln>
        </p:spPr>
      </p:sp>
      <p:sp>
        <p:nvSpPr>
          <p:cNvPr id="28" name="wire-13"/>
          <p:cNvSpPr/>
          <p:nvPr/>
        </p:nvSpPr>
        <p:spPr>
          <a:xfrm>
            <a:off x="6126480" y="4434840"/>
            <a:ext cx="365760" cy="0"/>
          </a:xfrm>
          <a:prstGeom prst="line">
            <a:avLst/>
          </a:prstGeom>
          <a:noFill/>
          <a:ln w="15875">
            <a:solidFill>
              <a:srgbClr val="6B7280"/>
            </a:solidFill>
            <a:prstDash val="solid"/>
            <a:tailEnd type="triangle"/>
          </a:ln>
        </p:spPr>
      </p:sp>
      <p:sp>
        <p:nvSpPr>
          <p:cNvPr id="29" name="wire-14"/>
          <p:cNvSpPr/>
          <p:nvPr/>
        </p:nvSpPr>
        <p:spPr>
          <a:xfrm>
            <a:off x="8503920" y="4434840"/>
            <a:ext cx="365760" cy="0"/>
          </a:xfrm>
          <a:prstGeom prst="line">
            <a:avLst/>
          </a:prstGeom>
          <a:noFill/>
          <a:ln w="15875">
            <a:solidFill>
              <a:srgbClr val="6B7280"/>
            </a:solidFill>
            <a:prstDash val="solid"/>
            <a:tailEnd type="triangle"/>
          </a:ln>
        </p:spPr>
      </p:sp>
      <p:sp>
        <p:nvSpPr>
          <p:cNvPr id="30" name="wire-15"/>
          <p:cNvSpPr/>
          <p:nvPr/>
        </p:nvSpPr>
        <p:spPr>
          <a:xfrm>
            <a:off x="10287000" y="4434840"/>
            <a:ext cx="320040" cy="0"/>
          </a:xfrm>
          <a:prstGeom prst="line">
            <a:avLst/>
          </a:prstGeom>
          <a:noFill/>
          <a:ln w="15875">
            <a:solidFill>
              <a:srgbClr val="6B7280"/>
            </a:solidFill>
            <a:prstDash val="solid"/>
            <a:tailEnd type="triangle"/>
          </a:ln>
        </p:spPr>
      </p:sp>
      <p:sp>
        <p:nvSpPr>
          <p:cNvPr id="31" name="t1"/>
          <p:cNvSpPr/>
          <p:nvPr/>
        </p:nvSpPr>
        <p:spPr>
          <a:xfrm>
            <a:off x="2286000" y="5303520"/>
            <a:ext cx="22402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32" name="t2"/>
          <p:cNvSpPr/>
          <p:nvPr/>
        </p:nvSpPr>
        <p:spPr>
          <a:xfrm>
            <a:off x="4892040" y="53035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test-guardian</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branche test/…</a:t>
            </a:r>
            <a:endParaRPr lang="en-US" sz="1300" dirty="0"/>
          </a:p>
        </p:txBody>
      </p:sp>
      <p:sp>
        <p:nvSpPr>
          <p:cNvPr id="33" name="t3"/>
          <p:cNvSpPr/>
          <p:nvPr/>
        </p:nvSpPr>
        <p:spPr>
          <a:xfrm>
            <a:off x="7360920" y="5303520"/>
            <a:ext cx="178308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/push</a:t>
            </a:r>
            <a:endParaRPr lang="en-US" sz="1300" dirty="0"/>
          </a:p>
        </p:txBody>
      </p:sp>
      <p:sp>
        <p:nvSpPr>
          <p:cNvPr id="34" name="wire-16"/>
          <p:cNvSpPr/>
          <p:nvPr/>
        </p:nvSpPr>
        <p:spPr>
          <a:xfrm>
            <a:off x="4526280" y="5669280"/>
            <a:ext cx="365760" cy="0"/>
          </a:xfrm>
          <a:prstGeom prst="line">
            <a:avLst/>
          </a:prstGeom>
          <a:noFill/>
          <a:ln w="15875">
            <a:solidFill>
              <a:srgbClr val="6B7280"/>
            </a:solidFill>
            <a:prstDash val="solid"/>
            <a:tailEnd type="triangle"/>
          </a:ln>
        </p:spPr>
      </p:sp>
      <p:sp>
        <p:nvSpPr>
          <p:cNvPr id="35" name="wire-17"/>
          <p:cNvSpPr/>
          <p:nvPr/>
        </p:nvSpPr>
        <p:spPr>
          <a:xfrm>
            <a:off x="6995160" y="566928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/fix · après la CI ou la review</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Il attend la fin de la CI, trie les retours, corrige avec la même rigueur que /go.</a:t>
            </a:r>
            <a:endParaRPr lang="en-US" sz="1500" dirty="0"/>
          </a:p>
        </p:txBody>
      </p:sp>
      <p:sp>
        <p:nvSpPr>
          <p:cNvPr id="5" name="a"/>
          <p:cNvSpPr/>
          <p:nvPr/>
        </p:nvSpPr>
        <p:spPr>
          <a:xfrm>
            <a:off x="457200" y="1874520"/>
            <a:ext cx="109728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/fix</a:t>
            </a:r>
            <a:endParaRPr lang="en-US" sz="1300" dirty="0"/>
          </a:p>
        </p:txBody>
      </p:sp>
      <p:sp>
        <p:nvSpPr>
          <p:cNvPr id="6" name="b"/>
          <p:cNvSpPr/>
          <p:nvPr/>
        </p:nvSpPr>
        <p:spPr>
          <a:xfrm>
            <a:off x="1874520" y="1874520"/>
            <a:ext cx="20116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Lit les retours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MR, CI, Sonar, Fortify</a:t>
            </a:r>
            <a:endParaRPr lang="en-US" sz="1300" dirty="0"/>
          </a:p>
        </p:txBody>
      </p:sp>
      <p:sp>
        <p:nvSpPr>
          <p:cNvPr id="7" name="tag-1"/>
          <p:cNvSpPr/>
          <p:nvPr/>
        </p:nvSpPr>
        <p:spPr>
          <a:xfrm>
            <a:off x="2578608" y="171907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erreur : 1 rappel</a:t>
            </a:r>
            <a:endParaRPr lang="en-US" sz="1050" dirty="0"/>
          </a:p>
        </p:txBody>
      </p:sp>
      <p:sp>
        <p:nvSpPr>
          <p:cNvPr id="8" name="ci"/>
          <p:cNvSpPr/>
          <p:nvPr/>
        </p:nvSpPr>
        <p:spPr>
          <a:xfrm>
            <a:off x="4251960" y="1737360"/>
            <a:ext cx="146304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La CI</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tourne ?</a:t>
            </a:r>
            <a:endParaRPr lang="en-US" sz="1200" dirty="0"/>
          </a:p>
        </p:txBody>
      </p:sp>
      <p:sp>
        <p:nvSpPr>
          <p:cNvPr id="9" name="p"/>
          <p:cNvSpPr/>
          <p:nvPr/>
        </p:nvSpPr>
        <p:spPr>
          <a:xfrm>
            <a:off x="4297680" y="3246120"/>
            <a:ext cx="1371600" cy="685800"/>
          </a:xfrm>
          <a:prstGeom prst="roundRect">
            <a:avLst>
              <a:gd name="adj" fmla="val 10667"/>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Pause 4 min</a:t>
            </a:r>
            <a:endParaRPr lang="en-US" sz="1300" dirty="0"/>
          </a:p>
        </p:txBody>
      </p:sp>
      <p:sp>
        <p:nvSpPr>
          <p:cNvPr id="10" name="tag-2"/>
          <p:cNvSpPr/>
          <p:nvPr/>
        </p:nvSpPr>
        <p:spPr>
          <a:xfrm>
            <a:off x="4023360" y="4023360"/>
            <a:ext cx="1920240" cy="274320"/>
          </a:xfrm>
          <a:prstGeom prst="roundRect">
            <a:avLst>
              <a:gd name="adj" fmla="val 50000"/>
            </a:avLst>
          </a:prstGeom>
          <a:solidFill>
            <a:srgbClr val="EEF1F6"/>
          </a:solidFill>
          <a:ln w="12700">
            <a:solidFill>
              <a:srgbClr val="4A5B78"/>
            </a:solidFill>
            <a:prstDash val="dash"/>
          </a:ln>
        </p:spPr>
        <p:txBody>
          <a:bodyPr wrap="square" lIns="0" tIns="0" rIns="0" bIns="0" rtlCol="0" anchor="ctr"/>
          <a:lstStyle/>
          <a:p>
            <a:pPr algn="ctr" indent="0" marL="0">
              <a:buNone/>
            </a:pPr>
            <a:r>
              <a:rPr lang="en-US" sz="1050" b="1" dirty="0">
                <a:solidFill>
                  <a:srgbClr val="2F3B52"/>
                </a:solidFill>
                <a:latin typeface="Calibri" pitchFamily="34" charset="0"/>
                <a:ea typeface="Calibri" pitchFamily="34" charset="-122"/>
                <a:cs typeface="Calibri" pitchFamily="34" charset="-120"/>
              </a:rPr>
              <a:t>≤ 8 fois · 32 min *</a:t>
            </a:r>
            <a:endParaRPr lang="en-US" sz="1050" dirty="0"/>
          </a:p>
        </p:txBody>
      </p:sp>
      <p:sp>
        <p:nvSpPr>
          <p:cNvPr id="11" name="t"/>
          <p:cNvSpPr/>
          <p:nvPr/>
        </p:nvSpPr>
        <p:spPr>
          <a:xfrm>
            <a:off x="6172200" y="1874520"/>
            <a:ext cx="155448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Tri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corriger, répondre</a:t>
            </a:r>
            <a:endParaRPr lang="en-US" sz="1300" dirty="0"/>
          </a:p>
        </p:txBody>
      </p:sp>
      <p:sp>
        <p:nvSpPr>
          <p:cNvPr id="12" name="e"/>
          <p:cNvSpPr/>
          <p:nvPr/>
        </p:nvSpPr>
        <p:spPr>
          <a:xfrm>
            <a:off x="8229600" y="14173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Failles et bugs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non-régression + test</a:t>
            </a:r>
            <a:endParaRPr lang="en-US" sz="1300" dirty="0"/>
          </a:p>
        </p:txBody>
      </p:sp>
      <p:sp>
        <p:nvSpPr>
          <p:cNvPr id="13" name="f"/>
          <p:cNvSpPr/>
          <p:nvPr/>
        </p:nvSpPr>
        <p:spPr>
          <a:xfrm>
            <a:off x="8229600" y="2331720"/>
            <a:ext cx="210312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Autres points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coder, par fichiers</a:t>
            </a:r>
            <a:endParaRPr lang="en-US" sz="1300" dirty="0"/>
          </a:p>
        </p:txBody>
      </p:sp>
      <p:sp>
        <p:nvSpPr>
          <p:cNvPr id="14" name="g"/>
          <p:cNvSpPr/>
          <p:nvPr/>
        </p:nvSpPr>
        <p:spPr>
          <a:xfrm>
            <a:off x="8229600" y="3246120"/>
            <a:ext cx="2103120" cy="731520"/>
          </a:xfrm>
          <a:prstGeom prst="roundRect">
            <a:avLst>
              <a:gd name="adj" fmla="val 10000"/>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Job hors du code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à relancer dans GitLab</a:t>
            </a:r>
            <a:endParaRPr lang="en-US" sz="1300" dirty="0"/>
          </a:p>
        </p:txBody>
      </p:sp>
      <p:sp>
        <p:nvSpPr>
          <p:cNvPr id="15" name="h"/>
          <p:cNvSpPr/>
          <p:nvPr/>
        </p:nvSpPr>
        <p:spPr>
          <a:xfrm>
            <a:off x="8229600" y="4572000"/>
            <a:ext cx="210312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Tous les 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et relecture</a:t>
            </a:r>
            <a:endParaRPr lang="en-US" sz="1300" dirty="0"/>
          </a:p>
        </p:txBody>
      </p:sp>
      <p:sp>
        <p:nvSpPr>
          <p:cNvPr id="16" name="i"/>
          <p:cNvSpPr/>
          <p:nvPr/>
        </p:nvSpPr>
        <p:spPr>
          <a:xfrm>
            <a:off x="5852160" y="4572000"/>
            <a:ext cx="201168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Contrôle avant push</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puis le push</a:t>
            </a:r>
            <a:endParaRPr lang="en-US" sz="1300" dirty="0"/>
          </a:p>
        </p:txBody>
      </p:sp>
      <p:sp>
        <p:nvSpPr>
          <p:cNvPr id="17" name="tag-3"/>
          <p:cNvSpPr/>
          <p:nvPr/>
        </p:nvSpPr>
        <p:spPr>
          <a:xfrm>
            <a:off x="6556248" y="4416552"/>
            <a:ext cx="141732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réseau : 3 s, 10 s</a:t>
            </a:r>
            <a:endParaRPr lang="en-US" sz="1050" dirty="0"/>
          </a:p>
        </p:txBody>
      </p:sp>
      <p:sp>
        <p:nvSpPr>
          <p:cNvPr id="18" name="j"/>
          <p:cNvSpPr/>
          <p:nvPr/>
        </p:nvSpPr>
        <p:spPr>
          <a:xfrm>
            <a:off x="3017520" y="4572000"/>
            <a:ext cx="237744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MR mise à jour</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 réponses à coller</a:t>
            </a:r>
            <a:endParaRPr lang="en-US" sz="1300" dirty="0"/>
          </a:p>
        </p:txBody>
      </p:sp>
      <p:sp>
        <p:nvSpPr>
          <p:cNvPr id="19" name="k"/>
          <p:cNvSpPr/>
          <p:nvPr/>
        </p:nvSpPr>
        <p:spPr>
          <a:xfrm>
            <a:off x="457200" y="457200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/fix</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 la prochaine CI</a:t>
            </a:r>
            <a:endParaRPr lang="en-US" sz="1300" dirty="0"/>
          </a:p>
        </p:txBody>
      </p:sp>
      <p:sp>
        <p:nvSpPr>
          <p:cNvPr id="20" name="wire-4"/>
          <p:cNvSpPr/>
          <p:nvPr/>
        </p:nvSpPr>
        <p:spPr>
          <a:xfrm>
            <a:off x="1554480" y="2286000"/>
            <a:ext cx="320040" cy="0"/>
          </a:xfrm>
          <a:prstGeom prst="line">
            <a:avLst/>
          </a:prstGeom>
          <a:noFill/>
          <a:ln w="15875">
            <a:solidFill>
              <a:srgbClr val="6B7280"/>
            </a:solidFill>
            <a:prstDash val="solid"/>
            <a:tailEnd type="triangle"/>
          </a:ln>
        </p:spPr>
      </p:sp>
      <p:sp>
        <p:nvSpPr>
          <p:cNvPr id="21" name="wire-5"/>
          <p:cNvSpPr/>
          <p:nvPr/>
        </p:nvSpPr>
        <p:spPr>
          <a:xfrm>
            <a:off x="3886200" y="2286000"/>
            <a:ext cx="365760" cy="0"/>
          </a:xfrm>
          <a:prstGeom prst="line">
            <a:avLst/>
          </a:prstGeom>
          <a:noFill/>
          <a:ln w="15875">
            <a:solidFill>
              <a:srgbClr val="6B7280"/>
            </a:solidFill>
            <a:prstDash val="solid"/>
            <a:tailEnd type="triangle"/>
          </a:ln>
        </p:spPr>
      </p:sp>
      <p:sp>
        <p:nvSpPr>
          <p:cNvPr id="22" name="wire-6"/>
          <p:cNvSpPr/>
          <p:nvPr/>
        </p:nvSpPr>
        <p:spPr>
          <a:xfrm>
            <a:off x="4709160" y="2633472"/>
            <a:ext cx="0" cy="612648"/>
          </a:xfrm>
          <a:prstGeom prst="line">
            <a:avLst/>
          </a:prstGeom>
          <a:noFill/>
          <a:ln w="15875">
            <a:solidFill>
              <a:srgbClr val="6B7280"/>
            </a:solidFill>
            <a:prstDash val="solid"/>
            <a:tailEnd type="triangle"/>
          </a:ln>
        </p:spPr>
      </p:sp>
      <p:sp>
        <p:nvSpPr>
          <p:cNvPr id="23" name="label-7"/>
          <p:cNvSpPr txBox="1"/>
          <p:nvPr/>
        </p:nvSpPr>
        <p:spPr>
          <a:xfrm>
            <a:off x="4343400" y="2816352"/>
            <a:ext cx="347472" cy="237744"/>
          </a:xfrm>
          <a:prstGeom prst="rect">
            <a:avLst/>
          </a:prstGeom>
          <a:noFill/>
          <a:ln/>
        </p:spPr>
        <p:txBody>
          <a:bodyPr wrap="square" lIns="0" tIns="0" rIns="0" bIns="0" rtlCol="0" anchor="ctr"/>
          <a:lstStyle/>
          <a:p>
            <a:pPr algn="r"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4" name="wire-8"/>
          <p:cNvSpPr/>
          <p:nvPr/>
        </p:nvSpPr>
        <p:spPr>
          <a:xfrm flipV="1">
            <a:off x="5257800" y="2633472"/>
            <a:ext cx="0" cy="612648"/>
          </a:xfrm>
          <a:prstGeom prst="line">
            <a:avLst/>
          </a:prstGeom>
          <a:noFill/>
          <a:ln w="15875">
            <a:solidFill>
              <a:srgbClr val="6B7280"/>
            </a:solidFill>
            <a:prstDash val="solid"/>
            <a:tailEnd type="triangle"/>
          </a:ln>
        </p:spPr>
      </p:sp>
      <p:sp>
        <p:nvSpPr>
          <p:cNvPr id="25" name="wire-9"/>
          <p:cNvSpPr/>
          <p:nvPr/>
        </p:nvSpPr>
        <p:spPr>
          <a:xfrm>
            <a:off x="5715000" y="2286000"/>
            <a:ext cx="457200" cy="0"/>
          </a:xfrm>
          <a:prstGeom prst="line">
            <a:avLst/>
          </a:prstGeom>
          <a:noFill/>
          <a:ln w="15875">
            <a:solidFill>
              <a:srgbClr val="6B7280"/>
            </a:solidFill>
            <a:prstDash val="solid"/>
            <a:tailEnd type="triangle"/>
          </a:ln>
        </p:spPr>
      </p:sp>
      <p:sp>
        <p:nvSpPr>
          <p:cNvPr id="26" name="label-10"/>
          <p:cNvSpPr txBox="1"/>
          <p:nvPr/>
        </p:nvSpPr>
        <p:spPr>
          <a:xfrm>
            <a:off x="5715000" y="2029968"/>
            <a:ext cx="45720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finie</a:t>
            </a:r>
            <a:endParaRPr lang="en-US" sz="1050" dirty="0"/>
          </a:p>
        </p:txBody>
      </p:sp>
      <p:sp>
        <p:nvSpPr>
          <p:cNvPr id="27" name="wire-11"/>
          <p:cNvSpPr/>
          <p:nvPr/>
        </p:nvSpPr>
        <p:spPr>
          <a:xfrm>
            <a:off x="7726680" y="2286000"/>
            <a:ext cx="228600" cy="0"/>
          </a:xfrm>
          <a:prstGeom prst="line">
            <a:avLst/>
          </a:prstGeom>
          <a:noFill/>
          <a:ln w="15875">
            <a:solidFill>
              <a:srgbClr val="6B7280"/>
            </a:solidFill>
            <a:prstDash val="solid"/>
          </a:ln>
        </p:spPr>
      </p:sp>
      <p:sp>
        <p:nvSpPr>
          <p:cNvPr id="28" name="wire-12"/>
          <p:cNvSpPr/>
          <p:nvPr/>
        </p:nvSpPr>
        <p:spPr>
          <a:xfrm>
            <a:off x="7955280" y="1783080"/>
            <a:ext cx="0" cy="1828800"/>
          </a:xfrm>
          <a:prstGeom prst="line">
            <a:avLst/>
          </a:prstGeom>
          <a:noFill/>
          <a:ln w="15875">
            <a:solidFill>
              <a:srgbClr val="6B7280"/>
            </a:solidFill>
            <a:prstDash val="solid"/>
          </a:ln>
        </p:spPr>
      </p:sp>
      <p:sp>
        <p:nvSpPr>
          <p:cNvPr id="29" name="wire-13"/>
          <p:cNvSpPr/>
          <p:nvPr/>
        </p:nvSpPr>
        <p:spPr>
          <a:xfrm>
            <a:off x="7955280" y="1783080"/>
            <a:ext cx="274320" cy="0"/>
          </a:xfrm>
          <a:prstGeom prst="line">
            <a:avLst/>
          </a:prstGeom>
          <a:noFill/>
          <a:ln w="15875">
            <a:solidFill>
              <a:srgbClr val="6B7280"/>
            </a:solidFill>
            <a:prstDash val="solid"/>
            <a:tailEnd type="triangle"/>
          </a:ln>
        </p:spPr>
      </p:sp>
      <p:sp>
        <p:nvSpPr>
          <p:cNvPr id="30" name="wire-14"/>
          <p:cNvSpPr/>
          <p:nvPr/>
        </p:nvSpPr>
        <p:spPr>
          <a:xfrm flipV="1">
            <a:off x="7955280" y="2697480"/>
            <a:ext cx="274320" cy="0"/>
          </a:xfrm>
          <a:prstGeom prst="line">
            <a:avLst/>
          </a:prstGeom>
          <a:noFill/>
          <a:ln w="15875">
            <a:solidFill>
              <a:srgbClr val="6B7280"/>
            </a:solidFill>
            <a:prstDash val="solid"/>
            <a:tailEnd type="triangle"/>
          </a:ln>
        </p:spPr>
      </p:sp>
      <p:sp>
        <p:nvSpPr>
          <p:cNvPr id="31" name="wire-15"/>
          <p:cNvSpPr/>
          <p:nvPr/>
        </p:nvSpPr>
        <p:spPr>
          <a:xfrm flipV="1">
            <a:off x="7955280" y="3611880"/>
            <a:ext cx="274320" cy="0"/>
          </a:xfrm>
          <a:prstGeom prst="line">
            <a:avLst/>
          </a:prstGeom>
          <a:noFill/>
          <a:ln w="15875">
            <a:solidFill>
              <a:srgbClr val="6B7280"/>
            </a:solidFill>
            <a:prstDash val="solid"/>
            <a:tailEnd type="triangle"/>
          </a:ln>
        </p:spPr>
      </p:sp>
      <p:sp>
        <p:nvSpPr>
          <p:cNvPr id="32" name="wire-16"/>
          <p:cNvSpPr/>
          <p:nvPr/>
        </p:nvSpPr>
        <p:spPr>
          <a:xfrm flipV="1">
            <a:off x="10332720" y="1783080"/>
            <a:ext cx="274320" cy="0"/>
          </a:xfrm>
          <a:prstGeom prst="line">
            <a:avLst/>
          </a:prstGeom>
          <a:noFill/>
          <a:ln w="15875">
            <a:solidFill>
              <a:srgbClr val="6B7280"/>
            </a:solidFill>
            <a:prstDash val="solid"/>
          </a:ln>
        </p:spPr>
      </p:sp>
      <p:sp>
        <p:nvSpPr>
          <p:cNvPr id="33" name="wire-17"/>
          <p:cNvSpPr/>
          <p:nvPr/>
        </p:nvSpPr>
        <p:spPr>
          <a:xfrm>
            <a:off x="10332720" y="2697480"/>
            <a:ext cx="274320" cy="0"/>
          </a:xfrm>
          <a:prstGeom prst="line">
            <a:avLst/>
          </a:prstGeom>
          <a:noFill/>
          <a:ln w="15875">
            <a:solidFill>
              <a:srgbClr val="6B7280"/>
            </a:solidFill>
            <a:prstDash val="solid"/>
          </a:ln>
        </p:spPr>
      </p:sp>
      <p:sp>
        <p:nvSpPr>
          <p:cNvPr id="34" name="wire-18"/>
          <p:cNvSpPr/>
          <p:nvPr/>
        </p:nvSpPr>
        <p:spPr>
          <a:xfrm>
            <a:off x="10607040" y="1783080"/>
            <a:ext cx="0" cy="3172968"/>
          </a:xfrm>
          <a:prstGeom prst="line">
            <a:avLst/>
          </a:prstGeom>
          <a:noFill/>
          <a:ln w="15875">
            <a:solidFill>
              <a:srgbClr val="6B7280"/>
            </a:solidFill>
            <a:prstDash val="solid"/>
          </a:ln>
        </p:spPr>
      </p:sp>
      <p:sp>
        <p:nvSpPr>
          <p:cNvPr id="35" name="wire-19"/>
          <p:cNvSpPr/>
          <p:nvPr/>
        </p:nvSpPr>
        <p:spPr>
          <a:xfrm flipH="1">
            <a:off x="10332720" y="4956048"/>
            <a:ext cx="274320" cy="4572"/>
          </a:xfrm>
          <a:prstGeom prst="line">
            <a:avLst/>
          </a:prstGeom>
          <a:noFill/>
          <a:ln w="15875">
            <a:solidFill>
              <a:srgbClr val="6B7280"/>
            </a:solidFill>
            <a:prstDash val="solid"/>
            <a:tailEnd type="triangle"/>
          </a:ln>
        </p:spPr>
      </p:sp>
      <p:sp>
        <p:nvSpPr>
          <p:cNvPr id="36" name="wire-20"/>
          <p:cNvSpPr/>
          <p:nvPr/>
        </p:nvSpPr>
        <p:spPr>
          <a:xfrm flipH="1">
            <a:off x="7863840" y="4960620"/>
            <a:ext cx="365760" cy="0"/>
          </a:xfrm>
          <a:prstGeom prst="line">
            <a:avLst/>
          </a:prstGeom>
          <a:noFill/>
          <a:ln w="15875">
            <a:solidFill>
              <a:srgbClr val="6B7280"/>
            </a:solidFill>
            <a:prstDash val="solid"/>
            <a:tailEnd type="triangle"/>
          </a:ln>
        </p:spPr>
      </p:sp>
      <p:sp>
        <p:nvSpPr>
          <p:cNvPr id="37" name="wire-21"/>
          <p:cNvSpPr/>
          <p:nvPr/>
        </p:nvSpPr>
        <p:spPr>
          <a:xfrm flipH="1">
            <a:off x="5394960" y="4960620"/>
            <a:ext cx="457200" cy="0"/>
          </a:xfrm>
          <a:prstGeom prst="line">
            <a:avLst/>
          </a:prstGeom>
          <a:noFill/>
          <a:ln w="15875">
            <a:solidFill>
              <a:srgbClr val="6B7280"/>
            </a:solidFill>
            <a:prstDash val="solid"/>
            <a:tailEnd type="triangle"/>
          </a:ln>
        </p:spPr>
      </p:sp>
      <p:sp>
        <p:nvSpPr>
          <p:cNvPr id="38" name="wire-22"/>
          <p:cNvSpPr/>
          <p:nvPr/>
        </p:nvSpPr>
        <p:spPr>
          <a:xfrm flipH="1">
            <a:off x="2560320" y="4960620"/>
            <a:ext cx="457200" cy="0"/>
          </a:xfrm>
          <a:prstGeom prst="line">
            <a:avLst/>
          </a:prstGeom>
          <a:noFill/>
          <a:ln w="15875">
            <a:solidFill>
              <a:srgbClr val="6B7280"/>
            </a:solidFill>
            <a:prstDash val="solid"/>
            <a:tailEnd type="triangle"/>
          </a:ln>
        </p:spPr>
      </p:sp>
      <p:sp>
        <p:nvSpPr>
          <p:cNvPr id="39" name="label-23"/>
          <p:cNvSpPr txBox="1"/>
          <p:nvPr/>
        </p:nvSpPr>
        <p:spPr>
          <a:xfrm>
            <a:off x="10698480" y="1463040"/>
            <a:ext cx="100584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3 max par run</a:t>
            </a:r>
            <a:endParaRPr lang="en-US" sz="1050" dirty="0"/>
          </a:p>
        </p:txBody>
      </p:sp>
      <p:sp>
        <p:nvSpPr>
          <p:cNvPr id="40" name="foot-24"/>
          <p:cNvSpPr txBox="1"/>
          <p:nvPr/>
        </p:nvSpPr>
        <p:spPr>
          <a:xfrm>
            <a:off x="457200" y="6053328"/>
            <a:ext cx="11274552" cy="256032"/>
          </a:xfrm>
          <a:prstGeom prst="rect">
            <a:avLst/>
          </a:prstGeom>
          <a:noFill/>
          <a:ln/>
        </p:spPr>
        <p:txBody>
          <a:bodyPr wrap="square" lIns="0" tIns="0" rIns="0" bIns="0" rtlCol="0" anchor="ctr"/>
          <a:lstStyle/>
          <a:p>
            <a:pPr algn="l" indent="0" marL="0">
              <a:buNone/>
            </a:pPr>
            <a:r>
              <a:rPr lang="en-US" sz="1100" i="1" dirty="0">
                <a:solidFill>
                  <a:srgbClr val="5B6470"/>
                </a:solidFill>
                <a:latin typeface="Calibri" pitchFamily="34" charset="0"/>
                <a:ea typeface="Calibri" pitchFamily="34" charset="-122"/>
                <a:cs typeface="Calibri" pitchFamily="34" charset="-120"/>
              </a:rPr>
              <a:t>* Un coup d'œil au pipeline toutes les 4 min, 8 au plus. Au-delà, /fix traite ce qui est fini et propose de le relancer ; « sans attendre » saute l'attente.</a:t>
            </a:r>
            <a:endParaRPr lang="en-US" sz="11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/tests · des tests sur du code existant</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Des tests du comportement actuel, prouvés deux fois, sans toucher au code de production.</a:t>
            </a:r>
            <a:endParaRPr lang="en-US" sz="1500" dirty="0"/>
          </a:p>
        </p:txBody>
      </p:sp>
      <p:sp>
        <p:nvSpPr>
          <p:cNvPr id="5" name="a"/>
          <p:cNvSpPr/>
          <p:nvPr/>
        </p:nvSpPr>
        <p:spPr>
          <a:xfrm>
            <a:off x="457200" y="1828800"/>
            <a:ext cx="1828800" cy="822960"/>
          </a:xfrm>
          <a:prstGeom prst="roundRect">
            <a:avLst>
              <a:gd name="adj" fmla="val 8889"/>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InvoiceService</a:t>
            </a:r>
            <a:endParaRPr lang="en-US" sz="1300" dirty="0"/>
          </a:p>
        </p:txBody>
      </p:sp>
      <p:sp>
        <p:nvSpPr>
          <p:cNvPr id="6" name="b"/>
          <p:cNvSpPr/>
          <p:nvPr/>
        </p:nvSpPr>
        <p:spPr>
          <a:xfrm>
            <a:off x="2606040" y="1828800"/>
            <a:ext cx="1737360" cy="822960"/>
          </a:xfrm>
          <a:prstGeom prst="roundRect">
            <a:avLst>
              <a:gd name="adj" fmla="val 8889"/>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Les faits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projets de tests, bUnit</a:t>
            </a:r>
            <a:endParaRPr lang="en-US" sz="1300" dirty="0"/>
          </a:p>
        </p:txBody>
      </p:sp>
      <p:sp>
        <p:nvSpPr>
          <p:cNvPr id="7" name="q"/>
          <p:cNvSpPr/>
          <p:nvPr/>
        </p:nvSpPr>
        <p:spPr>
          <a:xfrm>
            <a:off x="4663440" y="1691640"/>
            <a:ext cx="1645920" cy="1097280"/>
          </a:xfrm>
          <a:prstGeom prst="diamond">
            <a:avLst/>
          </a:prstGeom>
          <a:solidFill>
            <a:srgbClr val="FFFFFF"/>
          </a:solidFill>
          <a:ln w="15875">
            <a:solidFill>
              <a:srgbClr val="7A828C"/>
            </a:solidFill>
          </a:ln>
        </p:spPr>
        <p:txBody>
          <a:bodyPr wrap="square" lIns="0" tIns="0" rIns="0" bIns="0" rtlCol="0" anchor="ctr"/>
          <a:lstStyle/>
          <a:p>
            <a:pPr algn="ctr" indent="0" marL="0">
              <a:buNone/>
            </a:pPr>
            <a:r>
              <a:rPr lang="en-US" sz="1200" b="1" dirty="0">
                <a:solidFill>
                  <a:srgbClr val="1F2933"/>
                </a:solidFill>
                <a:latin typeface="Calibri" pitchFamily="34" charset="0"/>
                <a:ea typeface="Calibri" pitchFamily="34" charset="-122"/>
                <a:cs typeface="Calibri" pitchFamily="34" charset="-120"/>
              </a:rPr>
              <a:t>Il manque</a:t>
            </a:r>
            <a:endParaRPr lang="en-US" sz="1200" dirty="0"/>
          </a:p>
          <a:p>
            <a:pPr algn="ctr" indent="0" marL="0">
              <a:buNone/>
            </a:pPr>
            <a:r>
              <a:rPr lang="en-US" sz="1200" b="1" dirty="0">
                <a:solidFill>
                  <a:srgbClr val="1F2933"/>
                </a:solidFill>
                <a:latin typeface="Calibri" pitchFamily="34" charset="0"/>
                <a:ea typeface="Calibri" pitchFamily="34" charset="-122"/>
                <a:cs typeface="Calibri" pitchFamily="34" charset="-120"/>
              </a:rPr>
              <a:t>quelque chose ?</a:t>
            </a:r>
            <a:endParaRPr lang="en-US" sz="1200" dirty="0"/>
          </a:p>
        </p:txBody>
      </p:sp>
      <p:sp>
        <p:nvSpPr>
          <p:cNvPr id="8" name="qcm"/>
          <p:cNvSpPr/>
          <p:nvPr/>
        </p:nvSpPr>
        <p:spPr>
          <a:xfrm>
            <a:off x="4709160" y="3291840"/>
            <a:ext cx="155448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Un QCM</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projet, bUnit</a:t>
            </a:r>
            <a:endParaRPr lang="en-US" sz="1300" dirty="0"/>
          </a:p>
        </p:txBody>
      </p:sp>
      <p:sp>
        <p:nvSpPr>
          <p:cNvPr id="9" name="group-1"/>
          <p:cNvSpPr/>
          <p:nvPr/>
        </p:nvSpPr>
        <p:spPr>
          <a:xfrm>
            <a:off x="6675120" y="1417320"/>
            <a:ext cx="5056632" cy="2514600"/>
          </a:xfrm>
          <a:prstGeom prst="roundRect">
            <a:avLst>
              <a:gd name="adj" fmla="val 3636"/>
            </a:avLst>
          </a:prstGeom>
          <a:solidFill>
            <a:srgbClr val="FFFFFF">
              <a:alpha val="0"/>
            </a:srgbClr>
          </a:solidFill>
          <a:ln w="12700">
            <a:solidFill>
              <a:srgbClr val="A3AAB3"/>
            </a:solidFill>
            <a:prstDash val="dash"/>
          </a:ln>
        </p:spPr>
      </p:sp>
      <p:sp>
        <p:nvSpPr>
          <p:cNvPr id="10" name="group-label-2"/>
          <p:cNvSpPr txBox="1"/>
          <p:nvPr/>
        </p:nvSpPr>
        <p:spPr>
          <a:xfrm>
            <a:off x="6784848" y="1453896"/>
            <a:ext cx="4837176" cy="237744"/>
          </a:xfrm>
          <a:prstGeom prst="rect">
            <a:avLst/>
          </a:prstGeom>
          <a:noFill/>
          <a:ln/>
        </p:spPr>
        <p:txBody>
          <a:bodyPr wrap="square" lIns="0" tIns="0" rIns="0" bIns="0" rtlCol="0" anchor="ctr"/>
          <a:lstStyle/>
          <a:p>
            <a:pPr indent="0" marL="0">
              <a:buNone/>
            </a:pPr>
            <a:r>
              <a:rPr lang="en-US" sz="1050" i="1" dirty="0">
                <a:solidFill>
                  <a:srgbClr val="5B6470"/>
                </a:solidFill>
                <a:latin typeface="Calibri" pitchFamily="34" charset="0"/>
                <a:ea typeface="Calibri" pitchFamily="34" charset="-122"/>
                <a:cs typeface="Calibri" pitchFamily="34" charset="-120"/>
              </a:rPr>
              <a:t>test-guardian</a:t>
            </a:r>
            <a:endParaRPr lang="en-US" sz="1050" dirty="0"/>
          </a:p>
        </p:txBody>
      </p:sp>
      <p:sp>
        <p:nvSpPr>
          <p:cNvPr id="11" name="t1"/>
          <p:cNvSpPr/>
          <p:nvPr/>
        </p:nvSpPr>
        <p:spPr>
          <a:xfrm>
            <a:off x="6858000" y="1828800"/>
            <a:ext cx="141732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avant</a:t>
            </a:r>
            <a:endParaRPr lang="en-US" sz="1300" dirty="0"/>
          </a:p>
        </p:txBody>
      </p:sp>
      <p:sp>
        <p:nvSpPr>
          <p:cNvPr id="12" name="t2"/>
          <p:cNvSpPr/>
          <p:nvPr/>
        </p:nvSpPr>
        <p:spPr>
          <a:xfrm>
            <a:off x="8458200" y="1828800"/>
            <a:ext cx="155448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du comportement</a:t>
            </a:r>
            <a:endParaRPr lang="en-US" sz="1300" dirty="0"/>
          </a:p>
        </p:txBody>
      </p:sp>
      <p:sp>
        <p:nvSpPr>
          <p:cNvPr id="13" name="t3"/>
          <p:cNvSpPr/>
          <p:nvPr/>
        </p:nvSpPr>
        <p:spPr>
          <a:xfrm>
            <a:off x="10195560" y="1828800"/>
            <a:ext cx="1371600" cy="822960"/>
          </a:xfrm>
          <a:prstGeom prst="roundRect">
            <a:avLst>
              <a:gd name="adj" fmla="val 8889"/>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Verts ×2</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sans test creux</a:t>
            </a:r>
            <a:endParaRPr lang="en-US" sz="1300" dirty="0"/>
          </a:p>
        </p:txBody>
      </p:sp>
      <p:sp>
        <p:nvSpPr>
          <p:cNvPr id="14" name="t4"/>
          <p:cNvSpPr/>
          <p:nvPr/>
        </p:nvSpPr>
        <p:spPr>
          <a:xfrm>
            <a:off x="10195560" y="2926080"/>
            <a:ext cx="1371600" cy="731520"/>
          </a:xfrm>
          <a:prstGeom prst="roundRect">
            <a:avLst>
              <a:gd name="adj" fmla="val 10000"/>
            </a:avLst>
          </a:prstGeom>
          <a:solidFill>
            <a:srgbClr val="E4EEF8"/>
          </a:solidFill>
          <a:ln w="15875">
            <a:solidFill>
              <a:srgbClr val="2E6DA4"/>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Couverture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après</a:t>
            </a:r>
            <a:endParaRPr lang="en-US" sz="1300" dirty="0"/>
          </a:p>
        </p:txBody>
      </p:sp>
      <p:sp>
        <p:nvSpPr>
          <p:cNvPr id="15" name="bug"/>
          <p:cNvSpPr/>
          <p:nvPr/>
        </p:nvSpPr>
        <p:spPr>
          <a:xfrm>
            <a:off x="8458200" y="2926080"/>
            <a:ext cx="1554480" cy="731520"/>
          </a:xfrm>
          <a:prstGeom prst="roundRect">
            <a:avLst>
              <a:gd name="adj" fmla="val 10000"/>
            </a:avLst>
          </a:prstGeom>
          <a:solidFill>
            <a:srgbClr val="FBE6E3"/>
          </a:solidFill>
          <a:ln w="15875">
            <a:solidFill>
              <a:srgbClr val="B23A30"/>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Un bug révélé</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écarté, signalé</a:t>
            </a:r>
            <a:endParaRPr lang="en-US" sz="1300" dirty="0"/>
          </a:p>
        </p:txBody>
      </p:sp>
      <p:sp>
        <p:nvSpPr>
          <p:cNvPr id="16" name="d"/>
          <p:cNvSpPr/>
          <p:nvPr/>
        </p:nvSpPr>
        <p:spPr>
          <a:xfrm>
            <a:off x="8229600" y="4389120"/>
            <a:ext cx="2194560" cy="777240"/>
          </a:xfrm>
          <a:prstGeom prst="roundRect">
            <a:avLst>
              <a:gd name="adj" fmla="val 9412"/>
            </a:avLst>
          </a:prstGeom>
          <a:solidFill>
            <a:srgbClr val="E3F2E7"/>
          </a:solidFill>
          <a:ln w="15875">
            <a:solidFill>
              <a:srgbClr val="2F7D4F"/>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commit test(…)</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couverture avant, après</a:t>
            </a:r>
            <a:endParaRPr lang="en-US" sz="1300" dirty="0"/>
          </a:p>
        </p:txBody>
      </p:sp>
      <p:sp>
        <p:nvSpPr>
          <p:cNvPr id="17" name="e"/>
          <p:cNvSpPr/>
          <p:nvPr/>
        </p:nvSpPr>
        <p:spPr>
          <a:xfrm>
            <a:off x="5760720" y="4389120"/>
            <a:ext cx="2103120" cy="777240"/>
          </a:xfrm>
          <a:prstGeom prst="roundRect">
            <a:avLst>
              <a:gd name="adj" fmla="val 9412"/>
            </a:avLst>
          </a:prstGeom>
          <a:solidFill>
            <a:srgbClr val="F1E9F7"/>
          </a:solidFill>
          <a:ln w="15875">
            <a:solidFill>
              <a:srgbClr val="7B4F96"/>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 Ensuite : /push</a:t>
            </a:r>
            <a:endParaRPr lang="en-US" sz="1300" dirty="0"/>
          </a:p>
        </p:txBody>
      </p:sp>
      <p:sp>
        <p:nvSpPr>
          <p:cNvPr id="18" name="label-3"/>
          <p:cNvSpPr txBox="1"/>
          <p:nvPr/>
        </p:nvSpPr>
        <p:spPr>
          <a:xfrm>
            <a:off x="457200" y="4069080"/>
            <a:ext cx="2743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Les variantes</a:t>
            </a:r>
            <a:endParaRPr lang="en-US" sz="1050" dirty="0"/>
          </a:p>
        </p:txBody>
      </p:sp>
      <p:sp>
        <p:nvSpPr>
          <p:cNvPr id="19" name="v1"/>
          <p:cNvSpPr/>
          <p:nvPr/>
        </p:nvSpPr>
        <p:spPr>
          <a:xfrm>
            <a:off x="45720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api</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factory, puis les scénarios</a:t>
            </a:r>
            <a:endParaRPr lang="en-US" sz="1300" dirty="0"/>
          </a:p>
        </p:txBody>
      </p:sp>
      <p:sp>
        <p:nvSpPr>
          <p:cNvPr id="20" name="v2"/>
          <p:cNvSpPr/>
          <p:nvPr/>
        </p:nvSpPr>
        <p:spPr>
          <a:xfrm>
            <a:off x="3063240" y="4389120"/>
            <a:ext cx="2377440" cy="777240"/>
          </a:xfrm>
          <a:prstGeom prst="roundRect">
            <a:avLst>
              <a:gd name="adj" fmla="val 9412"/>
            </a:avLst>
          </a:prstGeom>
          <a:solidFill>
            <a:srgbClr val="F4F5F7"/>
          </a:solidFill>
          <a:ln w="15875">
            <a:solidFill>
              <a:srgbClr val="7A828C"/>
            </a:solidFill>
          </a:ln>
        </p:spPr>
        <p:txBody>
          <a:bodyPr wrap="square" lIns="38100" tIns="38100" rIns="38100" bIns="38100" rtlCol="0" anchor="ctr"/>
          <a:lstStyle/>
          <a:p>
            <a:pPr algn="ctr" indent="0" marL="0">
              <a:buNone/>
            </a:pPr>
            <a:r>
              <a:rPr lang="en-US" sz="1300" b="1" dirty="0">
                <a:solidFill>
                  <a:srgbClr val="1F2933"/>
                </a:solidFill>
                <a:latin typeface="Calibri" pitchFamily="34" charset="0"/>
                <a:ea typeface="Calibri" pitchFamily="34" charset="-122"/>
                <a:cs typeface="Calibri" pitchFamily="34" charset="-120"/>
              </a:rPr>
              <a:t>/tests env recette</a:t>
            </a:r>
            <a:endParaRPr lang="en-US" sz="1300" dirty="0"/>
          </a:p>
          <a:p>
            <a:pPr algn="ctr" indent="0" marL="0">
              <a:buNone/>
            </a:pPr>
            <a:r>
              <a:rPr lang="en-US" sz="1100" dirty="0">
                <a:solidFill>
                  <a:srgbClr val="3E4C59"/>
                </a:solidFill>
                <a:latin typeface="Calibri" pitchFamily="34" charset="0"/>
                <a:ea typeface="Calibri" pitchFamily="34" charset="-122"/>
                <a:cs typeface="Calibri" pitchFamily="34" charset="-120"/>
              </a:rPr>
              <a:t>lecture seule, jamais la prod</a:t>
            </a:r>
            <a:endParaRPr lang="en-US" sz="1300" dirty="0"/>
          </a:p>
        </p:txBody>
      </p:sp>
      <p:sp>
        <p:nvSpPr>
          <p:cNvPr id="21" name="tag-4"/>
          <p:cNvSpPr/>
          <p:nvPr/>
        </p:nvSpPr>
        <p:spPr>
          <a:xfrm>
            <a:off x="4315968" y="4233672"/>
            <a:ext cx="1234440" cy="274320"/>
          </a:xfrm>
          <a:prstGeom prst="roundRect">
            <a:avLst>
              <a:gd name="adj" fmla="val 50000"/>
            </a:avLst>
          </a:prstGeom>
          <a:solidFill>
            <a:srgbClr val="FDF0D5"/>
          </a:solidFill>
          <a:ln w="12700">
            <a:solidFill>
              <a:srgbClr val="B7791F"/>
            </a:solidFill>
            <a:prstDash val="solid"/>
          </a:ln>
        </p:spPr>
        <p:txBody>
          <a:bodyPr wrap="square" lIns="0" tIns="0" rIns="0" bIns="0" rtlCol="0" anchor="ctr"/>
          <a:lstStyle/>
          <a:p>
            <a:pPr algn="ctr" indent="0" marL="0">
              <a:buNone/>
            </a:pPr>
            <a:r>
              <a:rPr lang="en-US" sz="1050" b="1" dirty="0">
                <a:solidFill>
                  <a:srgbClr val="6B4A0E"/>
                </a:solidFill>
                <a:latin typeface="Calibri" pitchFamily="34" charset="0"/>
                <a:ea typeface="Calibri" pitchFamily="34" charset="-122"/>
                <a:cs typeface="Calibri" pitchFamily="34" charset="-120"/>
              </a:rPr>
              <a:t>↻ 503 : 3 s, 10 s</a:t>
            </a:r>
            <a:endParaRPr lang="en-US" sz="1050" dirty="0"/>
          </a:p>
        </p:txBody>
      </p:sp>
      <p:sp>
        <p:nvSpPr>
          <p:cNvPr id="22" name="wire-5"/>
          <p:cNvSpPr/>
          <p:nvPr/>
        </p:nvSpPr>
        <p:spPr>
          <a:xfrm>
            <a:off x="2286000" y="2240280"/>
            <a:ext cx="320040" cy="0"/>
          </a:xfrm>
          <a:prstGeom prst="line">
            <a:avLst/>
          </a:prstGeom>
          <a:noFill/>
          <a:ln w="15875">
            <a:solidFill>
              <a:srgbClr val="6B7280"/>
            </a:solidFill>
            <a:prstDash val="solid"/>
            <a:tailEnd type="triangle"/>
          </a:ln>
        </p:spPr>
      </p:sp>
      <p:sp>
        <p:nvSpPr>
          <p:cNvPr id="23" name="wire-6"/>
          <p:cNvSpPr/>
          <p:nvPr/>
        </p:nvSpPr>
        <p:spPr>
          <a:xfrm>
            <a:off x="4343400" y="2240280"/>
            <a:ext cx="320040" cy="0"/>
          </a:xfrm>
          <a:prstGeom prst="line">
            <a:avLst/>
          </a:prstGeom>
          <a:noFill/>
          <a:ln w="15875">
            <a:solidFill>
              <a:srgbClr val="6B7280"/>
            </a:solidFill>
            <a:prstDash val="solid"/>
            <a:tailEnd type="triangle"/>
          </a:ln>
        </p:spPr>
      </p:sp>
      <p:sp>
        <p:nvSpPr>
          <p:cNvPr id="24" name="wire-7"/>
          <p:cNvSpPr/>
          <p:nvPr/>
        </p:nvSpPr>
        <p:spPr>
          <a:xfrm>
            <a:off x="5486400" y="2788920"/>
            <a:ext cx="0" cy="502920"/>
          </a:xfrm>
          <a:prstGeom prst="line">
            <a:avLst/>
          </a:prstGeom>
          <a:noFill/>
          <a:ln w="15875">
            <a:solidFill>
              <a:srgbClr val="6B7280"/>
            </a:solidFill>
            <a:prstDash val="solid"/>
            <a:tailEnd type="triangle"/>
          </a:ln>
        </p:spPr>
      </p:sp>
      <p:sp>
        <p:nvSpPr>
          <p:cNvPr id="25" name="label-8"/>
          <p:cNvSpPr txBox="1"/>
          <p:nvPr/>
        </p:nvSpPr>
        <p:spPr>
          <a:xfrm>
            <a:off x="5559552" y="2944368"/>
            <a:ext cx="457200" cy="237744"/>
          </a:xfrm>
          <a:prstGeom prst="rect">
            <a:avLst/>
          </a:prstGeom>
          <a:noFill/>
          <a:ln/>
        </p:spPr>
        <p:txBody>
          <a:bodyPr wrap="square" lIns="0" tIns="0" rIns="0" bIns="0" rtlCol="0" anchor="ctr"/>
          <a:lstStyle/>
          <a:p>
            <a:pPr algn="l" indent="0" marL="0">
              <a:buNone/>
            </a:pPr>
            <a:r>
              <a:rPr lang="en-US" sz="1050" dirty="0">
                <a:solidFill>
                  <a:srgbClr val="5B6470"/>
                </a:solidFill>
                <a:latin typeface="Calibri" pitchFamily="34" charset="0"/>
                <a:ea typeface="Calibri" pitchFamily="34" charset="-122"/>
                <a:cs typeface="Calibri" pitchFamily="34" charset="-120"/>
              </a:rPr>
              <a:t>oui</a:t>
            </a:r>
            <a:endParaRPr lang="en-US" sz="1050" dirty="0"/>
          </a:p>
        </p:txBody>
      </p:sp>
      <p:sp>
        <p:nvSpPr>
          <p:cNvPr id="26" name="wire-9"/>
          <p:cNvSpPr/>
          <p:nvPr/>
        </p:nvSpPr>
        <p:spPr>
          <a:xfrm>
            <a:off x="6309360" y="2240280"/>
            <a:ext cx="548640" cy="0"/>
          </a:xfrm>
          <a:prstGeom prst="line">
            <a:avLst/>
          </a:prstGeom>
          <a:noFill/>
          <a:ln w="15875">
            <a:solidFill>
              <a:srgbClr val="6B7280"/>
            </a:solidFill>
            <a:prstDash val="solid"/>
            <a:tailEnd type="triangle"/>
          </a:ln>
        </p:spPr>
      </p:sp>
      <p:sp>
        <p:nvSpPr>
          <p:cNvPr id="27" name="label-10"/>
          <p:cNvSpPr txBox="1"/>
          <p:nvPr/>
        </p:nvSpPr>
        <p:spPr>
          <a:xfrm>
            <a:off x="6355080" y="1993392"/>
            <a:ext cx="365760" cy="237744"/>
          </a:xfrm>
          <a:prstGeom prst="rect">
            <a:avLst/>
          </a:prstGeom>
          <a:noFill/>
          <a:ln/>
        </p:spPr>
        <p:txBody>
          <a:bodyPr wrap="square" lIns="0" tIns="0" rIns="0" bIns="0" rtlCol="0" anchor="ctr"/>
          <a:lstStyle/>
          <a:p>
            <a:pPr algn="ctr" indent="0" marL="0">
              <a:buNone/>
            </a:pPr>
            <a:r>
              <a:rPr lang="en-US" sz="1050" dirty="0">
                <a:solidFill>
                  <a:srgbClr val="5B6470"/>
                </a:solidFill>
                <a:latin typeface="Calibri" pitchFamily="34" charset="0"/>
                <a:ea typeface="Calibri" pitchFamily="34" charset="-122"/>
                <a:cs typeface="Calibri" pitchFamily="34" charset="-120"/>
              </a:rPr>
              <a:t>non</a:t>
            </a:r>
            <a:endParaRPr lang="en-US" sz="1050" dirty="0"/>
          </a:p>
        </p:txBody>
      </p:sp>
      <p:sp>
        <p:nvSpPr>
          <p:cNvPr id="28" name="wire-11"/>
          <p:cNvSpPr/>
          <p:nvPr/>
        </p:nvSpPr>
        <p:spPr>
          <a:xfrm flipV="1">
            <a:off x="6263640" y="3675888"/>
            <a:ext cx="1298448" cy="4572"/>
          </a:xfrm>
          <a:prstGeom prst="line">
            <a:avLst/>
          </a:prstGeom>
          <a:noFill/>
          <a:ln w="15875">
            <a:solidFill>
              <a:srgbClr val="6B7280"/>
            </a:solidFill>
            <a:prstDash val="solid"/>
          </a:ln>
        </p:spPr>
      </p:sp>
      <p:sp>
        <p:nvSpPr>
          <p:cNvPr id="29" name="wire-12"/>
          <p:cNvSpPr/>
          <p:nvPr/>
        </p:nvSpPr>
        <p:spPr>
          <a:xfrm flipV="1">
            <a:off x="7562088" y="2651760"/>
            <a:ext cx="4572" cy="1024128"/>
          </a:xfrm>
          <a:prstGeom prst="line">
            <a:avLst/>
          </a:prstGeom>
          <a:noFill/>
          <a:ln w="15875">
            <a:solidFill>
              <a:srgbClr val="6B7280"/>
            </a:solidFill>
            <a:prstDash val="solid"/>
            <a:tailEnd type="triangle"/>
          </a:ln>
        </p:spPr>
      </p:sp>
      <p:sp>
        <p:nvSpPr>
          <p:cNvPr id="30" name="wire-13"/>
          <p:cNvSpPr/>
          <p:nvPr/>
        </p:nvSpPr>
        <p:spPr>
          <a:xfrm>
            <a:off x="8275320" y="2240280"/>
            <a:ext cx="182880" cy="0"/>
          </a:xfrm>
          <a:prstGeom prst="line">
            <a:avLst/>
          </a:prstGeom>
          <a:noFill/>
          <a:ln w="15875">
            <a:solidFill>
              <a:srgbClr val="6B7280"/>
            </a:solidFill>
            <a:prstDash val="solid"/>
            <a:tailEnd type="triangle"/>
          </a:ln>
        </p:spPr>
      </p:sp>
      <p:sp>
        <p:nvSpPr>
          <p:cNvPr id="31" name="wire-14"/>
          <p:cNvSpPr/>
          <p:nvPr/>
        </p:nvSpPr>
        <p:spPr>
          <a:xfrm>
            <a:off x="10012680" y="2240280"/>
            <a:ext cx="182880" cy="0"/>
          </a:xfrm>
          <a:prstGeom prst="line">
            <a:avLst/>
          </a:prstGeom>
          <a:noFill/>
          <a:ln w="15875">
            <a:solidFill>
              <a:srgbClr val="6B7280"/>
            </a:solidFill>
            <a:prstDash val="solid"/>
            <a:tailEnd type="triangle"/>
          </a:ln>
        </p:spPr>
      </p:sp>
      <p:sp>
        <p:nvSpPr>
          <p:cNvPr id="32" name="wire-15"/>
          <p:cNvSpPr/>
          <p:nvPr/>
        </p:nvSpPr>
        <p:spPr>
          <a:xfrm>
            <a:off x="10881360" y="2651760"/>
            <a:ext cx="0" cy="274320"/>
          </a:xfrm>
          <a:prstGeom prst="line">
            <a:avLst/>
          </a:prstGeom>
          <a:noFill/>
          <a:ln w="15875">
            <a:solidFill>
              <a:srgbClr val="6B7280"/>
            </a:solidFill>
            <a:prstDash val="solid"/>
            <a:tailEnd type="triangle"/>
          </a:ln>
        </p:spPr>
      </p:sp>
      <p:sp>
        <p:nvSpPr>
          <p:cNvPr id="33" name="wire-16"/>
          <p:cNvSpPr/>
          <p:nvPr/>
        </p:nvSpPr>
        <p:spPr>
          <a:xfrm>
            <a:off x="9235440" y="2651760"/>
            <a:ext cx="0" cy="274320"/>
          </a:xfrm>
          <a:prstGeom prst="line">
            <a:avLst/>
          </a:prstGeom>
          <a:noFill/>
          <a:ln w="15875">
            <a:solidFill>
              <a:srgbClr val="6B7280"/>
            </a:solidFill>
            <a:prstDash val="solid"/>
            <a:tailEnd type="triangle"/>
          </a:ln>
        </p:spPr>
      </p:sp>
      <p:sp>
        <p:nvSpPr>
          <p:cNvPr id="34" name="wire-17"/>
          <p:cNvSpPr/>
          <p:nvPr/>
        </p:nvSpPr>
        <p:spPr>
          <a:xfrm>
            <a:off x="10881360" y="3657600"/>
            <a:ext cx="0" cy="1115568"/>
          </a:xfrm>
          <a:prstGeom prst="line">
            <a:avLst/>
          </a:prstGeom>
          <a:noFill/>
          <a:ln w="15875">
            <a:solidFill>
              <a:srgbClr val="6B7280"/>
            </a:solidFill>
            <a:prstDash val="solid"/>
          </a:ln>
        </p:spPr>
      </p:sp>
      <p:sp>
        <p:nvSpPr>
          <p:cNvPr id="35" name="wire-18"/>
          <p:cNvSpPr/>
          <p:nvPr/>
        </p:nvSpPr>
        <p:spPr>
          <a:xfrm flipH="1">
            <a:off x="10424160" y="4773168"/>
            <a:ext cx="457200" cy="4572"/>
          </a:xfrm>
          <a:prstGeom prst="line">
            <a:avLst/>
          </a:prstGeom>
          <a:noFill/>
          <a:ln w="15875">
            <a:solidFill>
              <a:srgbClr val="6B7280"/>
            </a:solidFill>
            <a:prstDash val="solid"/>
            <a:tailEnd type="triangle"/>
          </a:ln>
        </p:spPr>
      </p:sp>
      <p:sp>
        <p:nvSpPr>
          <p:cNvPr id="36" name="wire-19"/>
          <p:cNvSpPr/>
          <p:nvPr/>
        </p:nvSpPr>
        <p:spPr>
          <a:xfrm flipH="1">
            <a:off x="7863840" y="4777740"/>
            <a:ext cx="365760" cy="0"/>
          </a:xfrm>
          <a:prstGeom prst="line">
            <a:avLst/>
          </a:prstGeom>
          <a:noFill/>
          <a:ln w="15875">
            <a:solidFill>
              <a:srgbClr val="6B7280"/>
            </a:solidFill>
            <a:prstDash val="solid"/>
            <a:tailEnd type="triangle"/>
          </a:ln>
        </p:spPr>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Quand ça coince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Ce qui ne dépend que d'un instant repart seul. Ce qui échouerait pareil s'arrête, avec sa raison.</a:t>
            </a:r>
            <a:endParaRPr lang="en-US" sz="1500" dirty="0"/>
          </a:p>
        </p:txBody>
      </p:sp>
      <p:sp>
        <p:nvSpPr>
          <p:cNvPr id="5" name="card-↻  Relancé tout seul"/>
          <p:cNvSpPr/>
          <p:nvPr/>
        </p:nvSpPr>
        <p:spPr>
          <a:xfrm>
            <a:off x="457200" y="1554480"/>
            <a:ext cx="3520440" cy="4343400"/>
          </a:xfrm>
          <a:prstGeom prst="roundRect">
            <a:avLst>
              <a:gd name="adj" fmla="val 2597"/>
            </a:avLst>
          </a:prstGeom>
          <a:solidFill>
            <a:srgbClr val="FDF0D5"/>
          </a:solidFill>
          <a:ln w="15875">
            <a:solidFill>
              <a:srgbClr val="B7791F"/>
            </a:solidFill>
            <a:prstDash val="solid"/>
          </a:ln>
        </p:spPr>
      </p:sp>
      <p:sp>
        <p:nvSpPr>
          <p:cNvPr id="6" name="card-head-↻  Relancé tout seul"/>
          <p:cNvSpPr txBox="1"/>
          <p:nvPr/>
        </p:nvSpPr>
        <p:spPr>
          <a:xfrm>
            <a:off x="658368"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Relancé tout seul</a:t>
            </a:r>
            <a:endParaRPr lang="en-US" sz="2000" dirty="0"/>
          </a:p>
        </p:txBody>
      </p:sp>
      <p:sp>
        <p:nvSpPr>
          <p:cNvPr id="7" name="item-↻  Relancé tout seul-0"/>
          <p:cNvSpPr/>
          <p:nvPr/>
        </p:nvSpPr>
        <p:spPr>
          <a:xfrm>
            <a:off x="621792" y="2267712"/>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Fetch, push : 3 s, puis 10 s</a:t>
            </a:r>
            <a:endParaRPr lang="en-US" sz="1400" dirty="0"/>
          </a:p>
        </p:txBody>
      </p:sp>
      <p:sp>
        <p:nvSpPr>
          <p:cNvPr id="8" name="item-↻  Relancé tout seul-1"/>
          <p:cNvSpPr/>
          <p:nvPr/>
        </p:nvSpPr>
        <p:spPr>
          <a:xfrm>
            <a:off x="621792" y="2834640"/>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Paquets NuGet : 20 s, puis 60 s</a:t>
            </a:r>
            <a:endParaRPr lang="en-US" sz="1400" dirty="0"/>
          </a:p>
        </p:txBody>
      </p:sp>
      <p:sp>
        <p:nvSpPr>
          <p:cNvPr id="9" name="item-↻  Relancé tout seul-2"/>
          <p:cNvSpPr/>
          <p:nvPr/>
        </p:nvSpPr>
        <p:spPr>
          <a:xfrm>
            <a:off x="621792" y="3401568"/>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Registre npm : 15 s, puis 45 s</a:t>
            </a:r>
            <a:endParaRPr lang="en-US" sz="1400" dirty="0"/>
          </a:p>
        </p:txBody>
      </p:sp>
      <p:sp>
        <p:nvSpPr>
          <p:cNvPr id="10" name="item-↻  Relancé tout seul-3"/>
          <p:cNvSpPr/>
          <p:nvPr/>
        </p:nvSpPr>
        <p:spPr>
          <a:xfrm>
            <a:off x="621792" y="3968496"/>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Index git tenu : 1, 2, 3 s</a:t>
            </a:r>
            <a:endParaRPr lang="en-US" sz="1400" dirty="0"/>
          </a:p>
        </p:txBody>
      </p:sp>
      <p:sp>
        <p:nvSpPr>
          <p:cNvPr id="11" name="item-↻  Relancé tout seul-4"/>
          <p:cNvSpPr/>
          <p:nvPr/>
        </p:nvSpPr>
        <p:spPr>
          <a:xfrm>
            <a:off x="621792" y="4535424"/>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Jira, GitLab en erreur : 1 rappel</a:t>
            </a:r>
            <a:endParaRPr lang="en-US" sz="1400" dirty="0"/>
          </a:p>
        </p:txBody>
      </p:sp>
      <p:sp>
        <p:nvSpPr>
          <p:cNvPr id="12" name="item-↻  Relancé tout seul-5"/>
          <p:cNvSpPr/>
          <p:nvPr/>
        </p:nvSpPr>
        <p:spPr>
          <a:xfrm>
            <a:off x="621792" y="5102352"/>
            <a:ext cx="3191256" cy="457200"/>
          </a:xfrm>
          <a:prstGeom prst="roundRect">
            <a:avLst>
              <a:gd name="adj" fmla="val 12000"/>
            </a:avLst>
          </a:prstGeom>
          <a:solidFill>
            <a:srgbClr val="FFFFFF"/>
          </a:solidFill>
          <a:ln w="9525">
            <a:solidFill>
              <a:srgbClr val="B7791F"/>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Serveur du modèle : 10 essais, 8 min</a:t>
            </a:r>
            <a:endParaRPr lang="en-US" sz="1400" dirty="0"/>
          </a:p>
        </p:txBody>
      </p:sp>
      <p:sp>
        <p:nvSpPr>
          <p:cNvPr id="13" name="card-≤  Borné dans le temps"/>
          <p:cNvSpPr/>
          <p:nvPr/>
        </p:nvSpPr>
        <p:spPr>
          <a:xfrm>
            <a:off x="4334256" y="1554480"/>
            <a:ext cx="3520440" cy="4343400"/>
          </a:xfrm>
          <a:prstGeom prst="roundRect">
            <a:avLst>
              <a:gd name="adj" fmla="val 2597"/>
            </a:avLst>
          </a:prstGeom>
          <a:solidFill>
            <a:srgbClr val="EEF1F6"/>
          </a:solidFill>
          <a:ln w="15875">
            <a:solidFill>
              <a:srgbClr val="4A5B78"/>
            </a:solidFill>
            <a:prstDash val="dash"/>
          </a:ln>
        </p:spPr>
      </p:sp>
      <p:sp>
        <p:nvSpPr>
          <p:cNvPr id="14" name="card-head-≤  Borné dans le temps"/>
          <p:cNvSpPr txBox="1"/>
          <p:nvPr/>
        </p:nvSpPr>
        <p:spPr>
          <a:xfrm>
            <a:off x="4535424"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Borné dans le temps</a:t>
            </a:r>
            <a:endParaRPr lang="en-US" sz="2000" dirty="0"/>
          </a:p>
        </p:txBody>
      </p:sp>
      <p:sp>
        <p:nvSpPr>
          <p:cNvPr id="15" name="item-≤  Borné dans le temps-0"/>
          <p:cNvSpPr/>
          <p:nvPr/>
        </p:nvSpPr>
        <p:spPr>
          <a:xfrm>
            <a:off x="4498848" y="2267712"/>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Build et tests : 42 min</a:t>
            </a:r>
            <a:endParaRPr lang="en-US" sz="1400" dirty="0"/>
          </a:p>
        </p:txBody>
      </p:sp>
      <p:sp>
        <p:nvSpPr>
          <p:cNvPr id="16" name="item-≤  Borné dans le temps-1"/>
          <p:cNvSpPr/>
          <p:nvPr/>
        </p:nvSpPr>
        <p:spPr>
          <a:xfrm>
            <a:off x="4498848" y="2834640"/>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exécution des tests : 25 min</a:t>
            </a:r>
            <a:endParaRPr lang="en-US" sz="1400" dirty="0"/>
          </a:p>
        </p:txBody>
      </p:sp>
      <p:sp>
        <p:nvSpPr>
          <p:cNvPr id="17" name="item-≤  Borné dans le temps-2"/>
          <p:cNvSpPr/>
          <p:nvPr/>
        </p:nvSpPr>
        <p:spPr>
          <a:xfrm>
            <a:off x="4498848" y="3401568"/>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 5 min</a:t>
            </a:r>
            <a:endParaRPr lang="en-US" sz="1400" dirty="0"/>
          </a:p>
        </p:txBody>
      </p:sp>
      <p:sp>
        <p:nvSpPr>
          <p:cNvPr id="18" name="item-≤  Borné dans le temps-3"/>
          <p:cNvSpPr/>
          <p:nvPr/>
        </p:nvSpPr>
        <p:spPr>
          <a:xfrm>
            <a:off x="4498848" y="3968496"/>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Attente d'un autre build : 20 min</a:t>
            </a:r>
            <a:endParaRPr lang="en-US" sz="1400" dirty="0"/>
          </a:p>
        </p:txBody>
      </p:sp>
      <p:sp>
        <p:nvSpPr>
          <p:cNvPr id="19" name="item-≤  Borné dans le temps-4"/>
          <p:cNvSpPr/>
          <p:nvPr/>
        </p:nvSpPr>
        <p:spPr>
          <a:xfrm>
            <a:off x="4498848" y="4535424"/>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Appel Jira, GitLab… : 5 min</a:t>
            </a:r>
            <a:endParaRPr lang="en-US" sz="1400" dirty="0"/>
          </a:p>
        </p:txBody>
      </p:sp>
      <p:sp>
        <p:nvSpPr>
          <p:cNvPr id="20" name="item-≤  Borné dans le temps-5"/>
          <p:cNvSpPr/>
          <p:nvPr/>
        </p:nvSpPr>
        <p:spPr>
          <a:xfrm>
            <a:off x="4498848" y="5102352"/>
            <a:ext cx="3191256" cy="457200"/>
          </a:xfrm>
          <a:prstGeom prst="roundRect">
            <a:avLst>
              <a:gd name="adj" fmla="val 12000"/>
            </a:avLst>
          </a:prstGeom>
          <a:solidFill>
            <a:srgbClr val="FFFFFF"/>
          </a:solidFill>
          <a:ln w="9525">
            <a:solidFill>
              <a:srgbClr val="4A5B78"/>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Reprise auto : 2 puis 5 min</a:t>
            </a:r>
            <a:endParaRPr lang="en-US" sz="1400" dirty="0"/>
          </a:p>
        </p:txBody>
      </p:sp>
      <p:sp>
        <p:nvSpPr>
          <p:cNvPr id="21" name="card-⛔  Jamais relancé"/>
          <p:cNvSpPr/>
          <p:nvPr/>
        </p:nvSpPr>
        <p:spPr>
          <a:xfrm>
            <a:off x="8211312" y="1554480"/>
            <a:ext cx="3520440" cy="4343400"/>
          </a:xfrm>
          <a:prstGeom prst="roundRect">
            <a:avLst>
              <a:gd name="adj" fmla="val 2597"/>
            </a:avLst>
          </a:prstGeom>
          <a:solidFill>
            <a:srgbClr val="FBE6E3"/>
          </a:solidFill>
          <a:ln w="15875">
            <a:solidFill>
              <a:srgbClr val="B23A30"/>
            </a:solidFill>
            <a:prstDash val="solid"/>
          </a:ln>
        </p:spPr>
      </p:sp>
      <p:sp>
        <p:nvSpPr>
          <p:cNvPr id="22" name="card-head-⛔  Jamais relancé"/>
          <p:cNvSpPr txBox="1"/>
          <p:nvPr/>
        </p:nvSpPr>
        <p:spPr>
          <a:xfrm>
            <a:off x="8412480" y="1682496"/>
            <a:ext cx="3118104" cy="457200"/>
          </a:xfrm>
          <a:prstGeom prst="rect">
            <a:avLst/>
          </a:prstGeom>
          <a:noFill/>
          <a:ln/>
        </p:spPr>
        <p:txBody>
          <a:bodyPr wrap="square" lIns="0" tIns="0" rIns="0" bIns="0" rtlCol="0" anchor="ctr"/>
          <a:lstStyle/>
          <a:p>
            <a:pPr indent="0" marL="0">
              <a:buNone/>
            </a:pPr>
            <a:r>
              <a:rPr lang="en-US" sz="2000" b="1" dirty="0">
                <a:solidFill>
                  <a:srgbClr val="1F2933"/>
                </a:solidFill>
                <a:latin typeface="Calibri" pitchFamily="34" charset="0"/>
                <a:ea typeface="Calibri" pitchFamily="34" charset="-122"/>
                <a:cs typeface="Calibri" pitchFamily="34" charset="-120"/>
              </a:rPr>
              <a:t>⛔  Jamais relancé</a:t>
            </a:r>
            <a:endParaRPr lang="en-US" sz="2000" dirty="0"/>
          </a:p>
        </p:txBody>
      </p:sp>
      <p:sp>
        <p:nvSpPr>
          <p:cNvPr id="23" name="item-⛔  Jamais relancé-0"/>
          <p:cNvSpPr/>
          <p:nvPr/>
        </p:nvSpPr>
        <p:spPr>
          <a:xfrm>
            <a:off x="8375904" y="2267712"/>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rouge</a:t>
            </a:r>
            <a:endParaRPr lang="en-US" sz="1400" dirty="0"/>
          </a:p>
        </p:txBody>
      </p:sp>
      <p:sp>
        <p:nvSpPr>
          <p:cNvPr id="24" name="item-⛔  Jamais relancé-1"/>
          <p:cNvSpPr/>
          <p:nvPr/>
        </p:nvSpPr>
        <p:spPr>
          <a:xfrm>
            <a:off x="8375904" y="2834640"/>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test instable</a:t>
            </a:r>
            <a:endParaRPr lang="en-US" sz="1400" dirty="0"/>
          </a:p>
        </p:txBody>
      </p:sp>
      <p:sp>
        <p:nvSpPr>
          <p:cNvPr id="25" name="item-⛔  Jamais relancé-2"/>
          <p:cNvSpPr/>
          <p:nvPr/>
        </p:nvSpPr>
        <p:spPr>
          <a:xfrm>
            <a:off x="8375904" y="3401568"/>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Une erreur de compilation</a:t>
            </a:r>
            <a:endParaRPr lang="en-US" sz="1400" dirty="0"/>
          </a:p>
        </p:txBody>
      </p:sp>
      <p:sp>
        <p:nvSpPr>
          <p:cNvPr id="26" name="item-⛔  Jamais relancé-3"/>
          <p:cNvSpPr/>
          <p:nvPr/>
        </p:nvSpPr>
        <p:spPr>
          <a:xfrm>
            <a:off x="8375904" y="3968496"/>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identifiants refusés</a:t>
            </a:r>
            <a:endParaRPr lang="en-US" sz="1400" dirty="0"/>
          </a:p>
        </p:txBody>
      </p:sp>
      <p:sp>
        <p:nvSpPr>
          <p:cNvPr id="27" name="item-⛔  Jamais relancé-4"/>
          <p:cNvSpPr/>
          <p:nvPr/>
        </p:nvSpPr>
        <p:spPr>
          <a:xfrm>
            <a:off x="8375904" y="4535424"/>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Un conflit de merge</a:t>
            </a:r>
            <a:endParaRPr lang="en-US" sz="1400" dirty="0"/>
          </a:p>
        </p:txBody>
      </p:sp>
      <p:sp>
        <p:nvSpPr>
          <p:cNvPr id="28" name="item-⛔  Jamais relancé-5"/>
          <p:cNvSpPr/>
          <p:nvPr/>
        </p:nvSpPr>
        <p:spPr>
          <a:xfrm>
            <a:off x="8375904" y="5102352"/>
            <a:ext cx="3191256" cy="457200"/>
          </a:xfrm>
          <a:prstGeom prst="roundRect">
            <a:avLst>
              <a:gd name="adj" fmla="val 12000"/>
            </a:avLst>
          </a:prstGeom>
          <a:solidFill>
            <a:srgbClr val="FFFFFF"/>
          </a:solidFill>
          <a:ln w="9525">
            <a:solidFill>
              <a:srgbClr val="B23A30"/>
            </a:solidFill>
          </a:ln>
        </p:spPr>
        <p:txBody>
          <a:bodyPr wrap="square" lIns="114300" tIns="0" rIns="101600" bIns="0" rtlCol="0" anchor="ctr"/>
          <a:lstStyle/>
          <a:p>
            <a:pPr algn="l" indent="0" marL="0">
              <a:buNone/>
            </a:pPr>
            <a:r>
              <a:rPr lang="en-US" sz="1400" dirty="0">
                <a:solidFill>
                  <a:srgbClr val="1F2933"/>
                </a:solidFill>
                <a:latin typeface="Calibri" pitchFamily="34" charset="0"/>
                <a:ea typeface="Calibri" pitchFamily="34" charset="-122"/>
                <a:cs typeface="Calibri" pitchFamily="34" charset="-120"/>
              </a:rPr>
              <a:t>Des tests trop longs</a:t>
            </a:r>
            <a:endParaRPr lang="en-US" sz="1400" dirty="0"/>
          </a:p>
        </p:txBody>
      </p:sp>
      <p:sp>
        <p:nvSpPr>
          <p:cNvPr id="29" name="after"/>
          <p:cNvSpPr txBox="1"/>
          <p:nvPr/>
        </p:nvSpPr>
        <p:spPr>
          <a:xfrm>
            <a:off x="457200" y="6035040"/>
            <a:ext cx="11274552" cy="320040"/>
          </a:xfrm>
          <a:prstGeom prst="rect">
            <a:avLst/>
          </a:prstGeom>
          <a:noFill/>
          <a:ln/>
        </p:spPr>
        <p:txBody>
          <a:bodyPr wrap="square" lIns="0" tIns="0" rIns="0" bIns="0" rtlCol="0" anchor="ctr"/>
          <a:lstStyle/>
          <a:p>
            <a:pPr algn="ctr" indent="0" marL="0">
              <a:buNone/>
            </a:pPr>
            <a:r>
              <a:rPr lang="en-US" sz="1400" i="1" dirty="0">
                <a:solidFill>
                  <a:srgbClr val="5B6470"/>
                </a:solidFill>
                <a:latin typeface="Calibri" pitchFamily="34" charset="0"/>
                <a:ea typeface="Calibri" pitchFamily="34" charset="-122"/>
                <a:cs typeface="Calibri" pitchFamily="34" charset="-120"/>
              </a:rPr>
              <a:t>Après les essais : un message dit quoi régler, et où.</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74552" cy="640080"/>
          </a:xfrm>
          <a:prstGeom prst="rect">
            <a:avLst/>
          </a:prstGeom>
          <a:noFill/>
          <a:ln/>
        </p:spPr>
        <p:txBody>
          <a:bodyPr wrap="square" lIns="0" tIns="0" rIns="0" bIns="0" rtlCol="0" anchor="ctr"/>
          <a:lstStyle/>
          <a:p>
            <a:pPr algn="l" indent="0" marL="0">
              <a:buNone/>
            </a:pPr>
            <a:r>
              <a:rPr lang="en-US" sz="3000" b="1" dirty="0">
                <a:solidFill>
                  <a:srgbClr val="1F2933"/>
                </a:solidFill>
                <a:latin typeface="Calibri" pitchFamily="34" charset="0"/>
                <a:ea typeface="Calibri" pitchFamily="34" charset="-122"/>
                <a:cs typeface="Calibri" pitchFamily="34" charset="-120"/>
              </a:rPr>
              <a:t>Les questions qu'on nous pose</a:t>
            </a:r>
            <a:endParaRPr lang="en-US" sz="3000" dirty="0"/>
          </a:p>
        </p:txBody>
      </p:sp>
      <p:sp>
        <p:nvSpPr>
          <p:cNvPr id="3" name="Text 0"/>
          <p:cNvSpPr/>
          <p:nvPr>
            <p:ph idx="101" type="body" hasCustomPrompt="1"/>
          </p:nvPr>
        </p:nvSpPr>
        <p:spPr>
          <a:xfrm>
            <a:off x="457200" y="896112"/>
            <a:ext cx="11274552" cy="411480"/>
          </a:xfrm>
          <a:prstGeom prst="rect">
            <a:avLst/>
          </a:prstGeom>
          <a:noFill/>
          <a:ln/>
        </p:spPr>
        <p:txBody>
          <a:bodyPr wrap="square" lIns="0" tIns="0" rIns="0" bIns="0" rtlCol="0" anchor="t"/>
          <a:lstStyle/>
          <a:p>
            <a:pPr algn="l" indent="0" marL="0">
              <a:buNone/>
            </a:pPr>
            <a:r>
              <a:rPr lang="en-US" sz="1500" dirty="0">
                <a:solidFill>
                  <a:srgbClr val="5B6470"/>
                </a:solidFill>
                <a:latin typeface="Calibri" pitchFamily="34" charset="0"/>
                <a:ea typeface="Calibri" pitchFamily="34" charset="-122"/>
                <a:cs typeface="Calibri" pitchFamily="34" charset="-120"/>
              </a:rPr>
              <a:t>Les réponses courtes ; le détail est dans les notes et dans la carte des flux.</a:t>
            </a:r>
            <a:endParaRPr lang="en-US" sz="1500" dirty="0"/>
          </a:p>
        </p:txBody>
      </p:sp>
      <p:sp>
        <p:nvSpPr>
          <p:cNvPr id="5" name="qa-0"/>
          <p:cNvSpPr/>
          <p:nvPr/>
        </p:nvSpPr>
        <p:spPr>
          <a:xfrm>
            <a:off x="457200" y="1463040"/>
            <a:ext cx="5568696" cy="1078992"/>
          </a:xfrm>
          <a:prstGeom prst="roundRect">
            <a:avLst>
              <a:gd name="adj" fmla="val 6780"/>
            </a:avLst>
          </a:prstGeom>
          <a:solidFill>
            <a:srgbClr val="F7F8FA"/>
          </a:solidFill>
          <a:ln w="12700">
            <a:solidFill>
              <a:srgbClr val="C7CCD3"/>
            </a:solidFill>
            <a:prstDash val="solid"/>
          </a:ln>
        </p:spPr>
      </p:sp>
      <p:sp>
        <p:nvSpPr>
          <p:cNvPr id="6" name="qa-q-0"/>
          <p:cNvSpPr txBox="1"/>
          <p:nvPr/>
        </p:nvSpPr>
        <p:spPr>
          <a:xfrm>
            <a:off x="685800"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Qui valide le code ?</a:t>
            </a:r>
            <a:endParaRPr lang="en-US" sz="1700" dirty="0"/>
          </a:p>
        </p:txBody>
      </p:sp>
      <p:sp>
        <p:nvSpPr>
          <p:cNvPr id="7" name="qa-a-0"/>
          <p:cNvSpPr txBox="1"/>
          <p:nvPr/>
        </p:nvSpPr>
        <p:spPr>
          <a:xfrm>
            <a:off x="685800"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 développeur, en review. MR en Draft ; jamais de merge, jamais de push sur develop.</a:t>
            </a:r>
            <a:endParaRPr lang="en-US" sz="1400" dirty="0"/>
          </a:p>
        </p:txBody>
      </p:sp>
      <p:sp>
        <p:nvSpPr>
          <p:cNvPr id="8" name="qa-1"/>
          <p:cNvSpPr/>
          <p:nvPr/>
        </p:nvSpPr>
        <p:spPr>
          <a:xfrm>
            <a:off x="6163056" y="1463040"/>
            <a:ext cx="5568696" cy="1078992"/>
          </a:xfrm>
          <a:prstGeom prst="roundRect">
            <a:avLst>
              <a:gd name="adj" fmla="val 6780"/>
            </a:avLst>
          </a:prstGeom>
          <a:solidFill>
            <a:srgbClr val="F7F8FA"/>
          </a:solidFill>
          <a:ln w="12700">
            <a:solidFill>
              <a:srgbClr val="C7CCD3"/>
            </a:solidFill>
            <a:prstDash val="solid"/>
          </a:ln>
        </p:spPr>
      </p:sp>
      <p:sp>
        <p:nvSpPr>
          <p:cNvPr id="9" name="qa-q-1"/>
          <p:cNvSpPr txBox="1"/>
          <p:nvPr/>
        </p:nvSpPr>
        <p:spPr>
          <a:xfrm>
            <a:off x="6391656" y="155448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un correctif casse autre chose ?</a:t>
            </a:r>
            <a:endParaRPr lang="en-US" sz="1700" dirty="0"/>
          </a:p>
        </p:txBody>
      </p:sp>
      <p:sp>
        <p:nvSpPr>
          <p:cNvPr id="10" name="qa-a-1"/>
          <p:cNvSpPr txBox="1"/>
          <p:nvPr/>
        </p:nvSpPr>
        <p:spPr>
          <a:xfrm>
            <a:off x="6391656" y="193852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Non-régression avant, tous les tests et une relecture après.</a:t>
            </a:r>
            <a:endParaRPr lang="en-US" sz="1400" dirty="0"/>
          </a:p>
        </p:txBody>
      </p:sp>
      <p:sp>
        <p:nvSpPr>
          <p:cNvPr id="11" name="qa-2"/>
          <p:cNvSpPr/>
          <p:nvPr/>
        </p:nvSpPr>
        <p:spPr>
          <a:xfrm>
            <a:off x="457200" y="2651760"/>
            <a:ext cx="5568696" cy="1078992"/>
          </a:xfrm>
          <a:prstGeom prst="roundRect">
            <a:avLst>
              <a:gd name="adj" fmla="val 6780"/>
            </a:avLst>
          </a:prstGeom>
          <a:solidFill>
            <a:srgbClr val="F7F8FA"/>
          </a:solidFill>
          <a:ln w="12700">
            <a:solidFill>
              <a:srgbClr val="C7CCD3"/>
            </a:solidFill>
            <a:prstDash val="solid"/>
          </a:ln>
        </p:spPr>
      </p:sp>
      <p:sp>
        <p:nvSpPr>
          <p:cNvPr id="12" name="qa-q-2"/>
          <p:cNvSpPr txBox="1"/>
          <p:nvPr/>
        </p:nvSpPr>
        <p:spPr>
          <a:xfrm>
            <a:off x="685800"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L'IA voit-elle nos secrets ?</a:t>
            </a:r>
            <a:endParaRPr lang="en-US" sz="1700" dirty="0"/>
          </a:p>
        </p:txBody>
      </p:sp>
      <p:sp>
        <p:nvSpPr>
          <p:cNvPr id="13" name="qa-a-2"/>
          <p:cNvSpPr txBox="1"/>
          <p:nvPr/>
        </p:nvSpPr>
        <p:spPr>
          <a:xfrm>
            <a:off x="685800"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Non : secrets et identifiants refusés, pas de web, Jira et Fortify en lecture.</a:t>
            </a:r>
            <a:endParaRPr lang="en-US" sz="1400" dirty="0"/>
          </a:p>
        </p:txBody>
      </p:sp>
      <p:sp>
        <p:nvSpPr>
          <p:cNvPr id="14" name="qa-3"/>
          <p:cNvSpPr/>
          <p:nvPr/>
        </p:nvSpPr>
        <p:spPr>
          <a:xfrm>
            <a:off x="6163056" y="2651760"/>
            <a:ext cx="5568696" cy="1078992"/>
          </a:xfrm>
          <a:prstGeom prst="roundRect">
            <a:avLst>
              <a:gd name="adj" fmla="val 6780"/>
            </a:avLst>
          </a:prstGeom>
          <a:solidFill>
            <a:srgbClr val="F7F8FA"/>
          </a:solidFill>
          <a:ln w="12700">
            <a:solidFill>
              <a:srgbClr val="C7CCD3"/>
            </a:solidFill>
            <a:prstDash val="solid"/>
          </a:ln>
        </p:spPr>
      </p:sp>
      <p:sp>
        <p:nvSpPr>
          <p:cNvPr id="15" name="qa-q-3"/>
          <p:cNvSpPr txBox="1"/>
          <p:nvPr/>
        </p:nvSpPr>
        <p:spPr>
          <a:xfrm>
            <a:off x="6391656" y="274320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l'IA tourne en rond ?</a:t>
            </a:r>
            <a:endParaRPr lang="en-US" sz="1700" dirty="0"/>
          </a:p>
        </p:txBody>
      </p:sp>
      <p:sp>
        <p:nvSpPr>
          <p:cNvPr id="16" name="qa-a-3"/>
          <p:cNvSpPr txBox="1"/>
          <p:nvPr/>
        </p:nvSpPr>
        <p:spPr>
          <a:xfrm>
            <a:off x="6391656" y="312724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Boucles coupées, étapes bornées ; l'arrêt dit pourquoi.</a:t>
            </a:r>
            <a:endParaRPr lang="en-US" sz="1400" dirty="0"/>
          </a:p>
        </p:txBody>
      </p:sp>
      <p:sp>
        <p:nvSpPr>
          <p:cNvPr id="17" name="qa-4"/>
          <p:cNvSpPr/>
          <p:nvPr/>
        </p:nvSpPr>
        <p:spPr>
          <a:xfrm>
            <a:off x="457200" y="3840480"/>
            <a:ext cx="5568696" cy="1078992"/>
          </a:xfrm>
          <a:prstGeom prst="roundRect">
            <a:avLst>
              <a:gd name="adj" fmla="val 6780"/>
            </a:avLst>
          </a:prstGeom>
          <a:solidFill>
            <a:srgbClr val="F7F8FA"/>
          </a:solidFill>
          <a:ln w="12700">
            <a:solidFill>
              <a:srgbClr val="C7CCD3"/>
            </a:solidFill>
            <a:prstDash val="solid"/>
          </a:ln>
        </p:spPr>
      </p:sp>
      <p:sp>
        <p:nvSpPr>
          <p:cNvPr id="18" name="qa-q-4"/>
          <p:cNvSpPr txBox="1"/>
          <p:nvPr/>
        </p:nvSpPr>
        <p:spPr>
          <a:xfrm>
            <a:off x="685800"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Le poste est-il bloqué ?</a:t>
            </a:r>
            <a:endParaRPr lang="en-US" sz="1700" dirty="0"/>
          </a:p>
        </p:txBody>
      </p:sp>
      <p:sp>
        <p:nvSpPr>
          <p:cNvPr id="19" name="qa-a-4"/>
          <p:cNvSpPr txBox="1"/>
          <p:nvPr/>
        </p:nvSpPr>
        <p:spPr>
          <a:xfrm>
            <a:off x="685800"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Rien n'attend sans limite ; le développeur travaille ailleurs pendant le run.</a:t>
            </a:r>
            <a:endParaRPr lang="en-US" sz="1400" dirty="0"/>
          </a:p>
        </p:txBody>
      </p:sp>
      <p:sp>
        <p:nvSpPr>
          <p:cNvPr id="20" name="qa-5"/>
          <p:cNvSpPr/>
          <p:nvPr/>
        </p:nvSpPr>
        <p:spPr>
          <a:xfrm>
            <a:off x="6163056" y="3840480"/>
            <a:ext cx="5568696" cy="1078992"/>
          </a:xfrm>
          <a:prstGeom prst="roundRect">
            <a:avLst>
              <a:gd name="adj" fmla="val 6780"/>
            </a:avLst>
          </a:prstGeom>
          <a:solidFill>
            <a:srgbClr val="F7F8FA"/>
          </a:solidFill>
          <a:ln w="12700">
            <a:solidFill>
              <a:srgbClr val="C7CCD3"/>
            </a:solidFill>
            <a:prstDash val="solid"/>
          </a:ln>
        </p:spPr>
      </p:sp>
      <p:sp>
        <p:nvSpPr>
          <p:cNvPr id="21" name="qa-q-5"/>
          <p:cNvSpPr txBox="1"/>
          <p:nvPr/>
        </p:nvSpPr>
        <p:spPr>
          <a:xfrm>
            <a:off x="6391656" y="393192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si ça s'arrête au milieu ?</a:t>
            </a:r>
            <a:endParaRPr lang="en-US" sz="1700" dirty="0"/>
          </a:p>
        </p:txBody>
      </p:sp>
      <p:sp>
        <p:nvSpPr>
          <p:cNvPr id="22" name="qa-a-5"/>
          <p:cNvSpPr txBox="1"/>
          <p:nvPr/>
        </p:nvSpPr>
        <p:spPr>
          <a:xfrm>
            <a:off x="6391656" y="431596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Fiche, commits, travail mis de côté : la commande reprend là.</a:t>
            </a:r>
            <a:endParaRPr lang="en-US" sz="1400" dirty="0"/>
          </a:p>
        </p:txBody>
      </p:sp>
      <p:sp>
        <p:nvSpPr>
          <p:cNvPr id="23" name="qa-6"/>
          <p:cNvSpPr/>
          <p:nvPr/>
        </p:nvSpPr>
        <p:spPr>
          <a:xfrm>
            <a:off x="457200" y="5029200"/>
            <a:ext cx="5568696" cy="1078992"/>
          </a:xfrm>
          <a:prstGeom prst="roundRect">
            <a:avLst>
              <a:gd name="adj" fmla="val 6780"/>
            </a:avLst>
          </a:prstGeom>
          <a:solidFill>
            <a:srgbClr val="F7F8FA"/>
          </a:solidFill>
          <a:ln w="12700">
            <a:solidFill>
              <a:srgbClr val="C7CCD3"/>
            </a:solidFill>
            <a:prstDash val="solid"/>
          </a:ln>
        </p:spPr>
      </p:sp>
      <p:sp>
        <p:nvSpPr>
          <p:cNvPr id="24" name="qa-q-6"/>
          <p:cNvSpPr txBox="1"/>
          <p:nvPr/>
        </p:nvSpPr>
        <p:spPr>
          <a:xfrm>
            <a:off x="685800"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les skills trouvés sur Internet ?</a:t>
            </a:r>
            <a:endParaRPr lang="en-US" sz="1700" dirty="0"/>
          </a:p>
        </p:txBody>
      </p:sp>
      <p:sp>
        <p:nvSpPr>
          <p:cNvPr id="25" name="qa-a-6"/>
          <p:cNvSpPr txBox="1"/>
          <p:nvPr/>
        </p:nvSpPr>
        <p:spPr>
          <a:xfrm>
            <a:off x="685800"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Ignorés : seuls nos skills, relus et versionnés, sont chargés.</a:t>
            </a:r>
            <a:endParaRPr lang="en-US" sz="1400" dirty="0"/>
          </a:p>
        </p:txBody>
      </p:sp>
      <p:sp>
        <p:nvSpPr>
          <p:cNvPr id="26" name="qa-7"/>
          <p:cNvSpPr/>
          <p:nvPr/>
        </p:nvSpPr>
        <p:spPr>
          <a:xfrm>
            <a:off x="6163056" y="5029200"/>
            <a:ext cx="5568696" cy="1078992"/>
          </a:xfrm>
          <a:prstGeom prst="roundRect">
            <a:avLst>
              <a:gd name="adj" fmla="val 6780"/>
            </a:avLst>
          </a:prstGeom>
          <a:solidFill>
            <a:srgbClr val="F7F8FA"/>
          </a:solidFill>
          <a:ln w="12700">
            <a:solidFill>
              <a:srgbClr val="C7CCD3"/>
            </a:solidFill>
            <a:prstDash val="solid"/>
          </a:ln>
        </p:spPr>
      </p:sp>
      <p:sp>
        <p:nvSpPr>
          <p:cNvPr id="27" name="qa-q-7"/>
          <p:cNvSpPr txBox="1"/>
          <p:nvPr/>
        </p:nvSpPr>
        <p:spPr>
          <a:xfrm>
            <a:off x="6391656" y="5120640"/>
            <a:ext cx="5120640" cy="365760"/>
          </a:xfrm>
          <a:prstGeom prst="rect">
            <a:avLst/>
          </a:prstGeom>
          <a:noFill/>
          <a:ln/>
        </p:spPr>
        <p:txBody>
          <a:bodyPr wrap="square" lIns="0" tIns="0" rIns="0" bIns="0" rtlCol="0" anchor="ctr"/>
          <a:lstStyle/>
          <a:p>
            <a:pPr indent="0" marL="0">
              <a:buNone/>
            </a:pPr>
            <a:r>
              <a:rPr lang="en-US" sz="1700" b="1" dirty="0">
                <a:solidFill>
                  <a:srgbClr val="1F2933"/>
                </a:solidFill>
                <a:latin typeface="Calibri" pitchFamily="34" charset="0"/>
                <a:ea typeface="Calibri" pitchFamily="34" charset="-122"/>
                <a:cs typeface="Calibri" pitchFamily="34" charset="-120"/>
              </a:rPr>
              <a:t>Et une longue session ?</a:t>
            </a:r>
            <a:endParaRPr lang="en-US" sz="1700" dirty="0"/>
          </a:p>
        </p:txBody>
      </p:sp>
      <p:sp>
        <p:nvSpPr>
          <p:cNvPr id="28" name="qa-a-7"/>
          <p:cNvSpPr txBox="1"/>
          <p:nvPr/>
        </p:nvSpPr>
        <p:spPr>
          <a:xfrm>
            <a:off x="6391656" y="5504688"/>
            <a:ext cx="5120640" cy="530352"/>
          </a:xfrm>
          <a:prstGeom prst="rect">
            <a:avLst/>
          </a:prstGeom>
          <a:noFill/>
          <a:ln/>
        </p:spPr>
        <p:txBody>
          <a:bodyPr wrap="square" lIns="0" tIns="0" rIns="0" bIns="0" rtlCol="0" anchor="t"/>
          <a:lstStyle/>
          <a:p>
            <a:pPr indent="0" marL="0">
              <a:buNone/>
            </a:pPr>
            <a:r>
              <a:rPr lang="en-US" sz="1400" dirty="0">
                <a:solidFill>
                  <a:srgbClr val="3E4C59"/>
                </a:solidFill>
                <a:latin typeface="Calibri" pitchFamily="34" charset="0"/>
                <a:ea typeface="Calibri" pitchFamily="34" charset="-122"/>
                <a:cs typeface="Calibri" pitchFamily="34" charset="-120"/>
              </a:rPr>
              <a:t>Les vieilles sorties d'outils sont allégées avant que le contexte sature.</a:t>
            </a:r>
            <a:endParaRPr lang="en-US" sz="1400" dirty="0"/>
          </a:p>
        </p:txBody>
      </p:sp>
      <p:sp>
        <p:nvSpPr>
          <p:cNvPr id="25" name="Slide Number Placeholder 0"/>
          <p:cNvSpPr>
            <a:spLocks noGrp="1"/>
          </p:cNvSpPr>
          <p:nvPr>
            <p:ph type="sldNum" sz="quarter" idx="4294967295"/>
          </p:nvPr>
        </p:nvSpPr>
        <p:spPr>
          <a:xfrm>
            <a:off x="1129284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9C"/>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end"/>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À retenir</a:t>
            </a:r>
            <a:endParaRPr lang="en-US" sz="4000" dirty="0"/>
          </a:p>
        </p:txBody>
      </p:sp>
      <p:sp>
        <p:nvSpPr>
          <p:cNvPr id="3" name="big-0"/>
          <p:cNvSpPr txBox="1"/>
          <p:nvPr/>
        </p:nvSpPr>
        <p:spPr>
          <a:xfrm>
            <a:off x="731520" y="2011680"/>
            <a:ext cx="2560320" cy="1188720"/>
          </a:xfrm>
          <a:prstGeom prst="rect">
            <a:avLst/>
          </a:prstGeom>
          <a:noFill/>
          <a:ln/>
        </p:spPr>
        <p:txBody>
          <a:bodyPr wrap="square" lIns="0" tIns="0" rIns="0" bIns="0" rtlCol="0" anchor="ctr"/>
          <a:lstStyle/>
          <a:p>
            <a:pPr indent="0" marL="0">
              <a:buNone/>
            </a:pPr>
            <a:r>
              <a:rPr lang="en-US" sz="6600" b="1" dirty="0">
                <a:solidFill>
                  <a:srgbClr val="C3A6E0"/>
                </a:solidFill>
                <a:latin typeface="Calibri" pitchFamily="34" charset="0"/>
                <a:ea typeface="Calibri" pitchFamily="34" charset="-122"/>
                <a:cs typeface="Calibri" pitchFamily="34" charset="-120"/>
              </a:rPr>
              <a:t>2</a:t>
            </a:r>
            <a:endParaRPr lang="en-US" sz="6600" dirty="0"/>
          </a:p>
        </p:txBody>
      </p:sp>
      <p:sp>
        <p:nvSpPr>
          <p:cNvPr id="4" name="point-0"/>
          <p:cNvSpPr txBox="1"/>
          <p:nvPr/>
        </p:nvSpPr>
        <p:spPr>
          <a:xfrm>
            <a:off x="73152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moments pour le développeur</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le QCM du début, la relecture de la MR</a:t>
            </a:r>
            <a:endParaRPr lang="en-US" sz="2000" dirty="0"/>
          </a:p>
        </p:txBody>
      </p:sp>
      <p:sp>
        <p:nvSpPr>
          <p:cNvPr id="5" name="big-1"/>
          <p:cNvSpPr txBox="1"/>
          <p:nvPr/>
        </p:nvSpPr>
        <p:spPr>
          <a:xfrm>
            <a:off x="3520440" y="2011680"/>
            <a:ext cx="2560320" cy="1188720"/>
          </a:xfrm>
          <a:prstGeom prst="rect">
            <a:avLst/>
          </a:prstGeom>
          <a:noFill/>
          <a:ln/>
        </p:spPr>
        <p:txBody>
          <a:bodyPr wrap="square" lIns="0" tIns="0" rIns="0" bIns="0" rtlCol="0" anchor="ctr"/>
          <a:lstStyle/>
          <a:p>
            <a:pPr indent="0" marL="0">
              <a:buNone/>
            </a:pPr>
            <a:r>
              <a:rPr lang="en-US" sz="6600" b="1" dirty="0">
                <a:solidFill>
                  <a:srgbClr val="86B2E6"/>
                </a:solidFill>
                <a:latin typeface="Calibri" pitchFamily="34" charset="0"/>
                <a:ea typeface="Calibri" pitchFamily="34" charset="-122"/>
                <a:cs typeface="Calibri" pitchFamily="34" charset="-120"/>
              </a:rPr>
              <a:t>×2</a:t>
            </a:r>
            <a:endParaRPr lang="en-US" sz="6600" dirty="0"/>
          </a:p>
        </p:txBody>
      </p:sp>
      <p:sp>
        <p:nvSpPr>
          <p:cNvPr id="6" name="point-1"/>
          <p:cNvSpPr txBox="1"/>
          <p:nvPr/>
        </p:nvSpPr>
        <p:spPr>
          <a:xfrm>
            <a:off x="352044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chaque preuve, deux fois</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un test instable est refusé, jamais relancé</a:t>
            </a:r>
            <a:endParaRPr lang="en-US" sz="2000" dirty="0"/>
          </a:p>
        </p:txBody>
      </p:sp>
      <p:sp>
        <p:nvSpPr>
          <p:cNvPr id="7" name="big-2"/>
          <p:cNvSpPr txBox="1"/>
          <p:nvPr/>
        </p:nvSpPr>
        <p:spPr>
          <a:xfrm>
            <a:off x="6309360" y="2011680"/>
            <a:ext cx="2560320" cy="1188720"/>
          </a:xfrm>
          <a:prstGeom prst="rect">
            <a:avLst/>
          </a:prstGeom>
          <a:noFill/>
          <a:ln/>
        </p:spPr>
        <p:txBody>
          <a:bodyPr wrap="square" lIns="0" tIns="0" rIns="0" bIns="0" rtlCol="0" anchor="ctr"/>
          <a:lstStyle/>
          <a:p>
            <a:pPr indent="0" marL="0">
              <a:buNone/>
            </a:pPr>
            <a:r>
              <a:rPr lang="en-US" sz="6600" b="1" dirty="0">
                <a:solidFill>
                  <a:srgbClr val="E58C83"/>
                </a:solidFill>
                <a:latin typeface="Calibri" pitchFamily="34" charset="0"/>
                <a:ea typeface="Calibri" pitchFamily="34" charset="-122"/>
                <a:cs typeface="Calibri" pitchFamily="34" charset="-120"/>
              </a:rPr>
              <a:t>1</a:t>
            </a:r>
            <a:endParaRPr lang="en-US" sz="6600" dirty="0"/>
          </a:p>
        </p:txBody>
      </p:sp>
      <p:sp>
        <p:nvSpPr>
          <p:cNvPr id="8" name="point-2"/>
          <p:cNvSpPr txBox="1"/>
          <p:nvPr/>
        </p:nvSpPr>
        <p:spPr>
          <a:xfrm>
            <a:off x="630936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commit par faille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/fortify : 5 failles au plus, une MR</a:t>
            </a:r>
            <a:endParaRPr lang="en-US" sz="2000" dirty="0"/>
          </a:p>
        </p:txBody>
      </p:sp>
      <p:sp>
        <p:nvSpPr>
          <p:cNvPr id="9" name="big-3"/>
          <p:cNvSpPr txBox="1"/>
          <p:nvPr/>
        </p:nvSpPr>
        <p:spPr>
          <a:xfrm>
            <a:off x="9098280" y="2011680"/>
            <a:ext cx="2560320" cy="1188720"/>
          </a:xfrm>
          <a:prstGeom prst="rect">
            <a:avLst/>
          </a:prstGeom>
          <a:noFill/>
          <a:ln/>
        </p:spPr>
        <p:txBody>
          <a:bodyPr wrap="square" lIns="0" tIns="0" rIns="0" bIns="0" rtlCol="0" anchor="ctr"/>
          <a:lstStyle/>
          <a:p>
            <a:pPr indent="0" marL="0">
              <a:buNone/>
            </a:pPr>
            <a:r>
              <a:rPr lang="en-US" sz="6600" b="1" dirty="0">
                <a:solidFill>
                  <a:srgbClr val="E0A64A"/>
                </a:solidFill>
                <a:latin typeface="Calibri" pitchFamily="34" charset="0"/>
                <a:ea typeface="Calibri" pitchFamily="34" charset="-122"/>
                <a:cs typeface="Calibri" pitchFamily="34" charset="-120"/>
              </a:rPr>
              <a:t>0</a:t>
            </a:r>
            <a:endParaRPr lang="en-US" sz="6600" dirty="0"/>
          </a:p>
        </p:txBody>
      </p:sp>
      <p:sp>
        <p:nvSpPr>
          <p:cNvPr id="10" name="point-3"/>
          <p:cNvSpPr txBox="1"/>
          <p:nvPr/>
        </p:nvSpPr>
        <p:spPr>
          <a:xfrm>
            <a:off x="9098280" y="3291840"/>
            <a:ext cx="2560320" cy="146304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attente sans borne</a:t>
            </a:r>
            <a:endParaRPr lang="en-US" sz="2000" dirty="0"/>
          </a:p>
          <a:p>
            <a:pPr indent="0" marL="0">
              <a:buNone/>
            </a:pPr>
            <a:r>
              <a:rPr lang="en-US" sz="1500" dirty="0">
                <a:solidFill>
                  <a:srgbClr val="C9D2DC"/>
                </a:solidFill>
                <a:latin typeface="Calibri" pitchFamily="34" charset="0"/>
                <a:ea typeface="Calibri" pitchFamily="34" charset="-122"/>
                <a:cs typeface="Calibri" pitchFamily="34" charset="-120"/>
              </a:rPr>
              <a:t>ce qui coince un instant repart seul</a:t>
            </a:r>
            <a:endParaRPr lang="en-US" sz="2000" dirty="0"/>
          </a:p>
        </p:txBody>
      </p:sp>
      <p:sp>
        <p:nvSpPr>
          <p:cNvPr id="11" name="more"/>
          <p:cNvSpPr txBox="1"/>
          <p:nvPr/>
        </p:nvSpPr>
        <p:spPr>
          <a:xfrm>
            <a:off x="731520" y="5989320"/>
            <a:ext cx="10698480" cy="365760"/>
          </a:xfrm>
          <a:prstGeom prst="rect">
            <a:avLst/>
          </a:prstGeom>
          <a:noFill/>
          <a:ln/>
        </p:spPr>
        <p:txBody>
          <a:bodyPr wrap="square" lIns="0" tIns="0" rIns="0" bIns="0" rtlCol="0" anchor="ctr"/>
          <a:lstStyle/>
          <a:p>
            <a:pPr indent="0" marL="0">
              <a:buNone/>
            </a:pPr>
            <a:r>
              <a:rPr lang="en-US" sz="1300" dirty="0">
                <a:solidFill>
                  <a:srgbClr val="9AA5B1"/>
                </a:solidFill>
                <a:latin typeface="Calibri" pitchFamily="34" charset="0"/>
                <a:ea typeface="Calibri" pitchFamily="34" charset="-122"/>
                <a:cs typeface="Calibri" pitchFamily="34" charset="-120"/>
              </a:rPr>
              <a:t>Le détail de chaque flux : docs/carte-des-flux.html</a:t>
            </a:r>
            <a:endParaRPr lang="en-US" sz="1300" dirty="0"/>
          </a:p>
        </p:txBody>
      </p:sp>
      <p:sp>
        <p:nvSpPr>
          <p:cNvPr id="13" name="Text 0"/>
          <p:cNvSpPr/>
          <p:nvPr>
            <p:ph idx="100" type="title" hasCustomPrompt="1"/>
          </p:nvPr>
        </p:nvSpPr>
        <p:spPr>
          <a:xfrm>
            <a:off x="731520" y="1737360"/>
            <a:ext cx="10698480" cy="1463040"/>
          </a:xfrm>
          <a:prstGeom prst="rect">
            <a:avLst/>
          </a:prstGeom>
          <a:noFill/>
          <a:ln/>
        </p:spPr>
        <p:txBody>
          <a:bodyPr wrap="square" lIns="0" tIns="0" rIns="0" bIns="0" rtlCol="0" anchor="b"/>
          <a:lstStyle/>
          <a:p>
            <a:pPr algn="l" indent="0" marL="0">
              <a:buNone/>
            </a:pPr>
            <a:endParaRPr lang="en-US" sz="4400" dirty="0"/>
          </a:p>
        </p:txBody>
      </p:sp>
      <p:sp>
        <p:nvSpPr>
          <p:cNvPr id="14" name="Text 0"/>
          <p:cNvSpPr/>
          <p:nvPr>
            <p:ph idx="101" type="body" hasCustomPrompt="1"/>
          </p:nvPr>
        </p:nvSpPr>
        <p:spPr>
          <a:xfrm>
            <a:off x="731520" y="3383280"/>
            <a:ext cx="10698480" cy="1097280"/>
          </a:xfrm>
          <a:prstGeom prst="rect">
            <a:avLst/>
          </a:prstGeom>
          <a:noFill/>
          <a:ln/>
        </p:spPr>
        <p:txBody>
          <a:bodyPr wrap="square" lIns="0" tIns="0" rIns="0" bIns="0" rtlCol="0" anchor="t"/>
          <a:lstStyle/>
          <a:p>
            <a:pPr algn="l" indent="0" marL="0">
              <a:buNone/>
            </a:pPr>
            <a:endParaRPr lang="en-US" sz="2000" dirty="0"/>
          </a:p>
        </p:txBody>
      </p:sp>
    </p:spTree>
  </p:cSld>
  <p:clrMapOvr>
    <a:masterClrMapping/>
  </p:clrMapOvr>
</p:sld>
</file>

<file path=ppt/theme/theme1.xml><?xml version="1.0" encoding="utf-8"?>
<a:theme xmlns:a="http://schemas.openxmlformats.org/drawingml/2006/main" name="Flux">
  <a:themeElements>
    <a:clrScheme name="Flux">
      <a:dk1>
        <a:srgbClr val="1F2933"/>
      </a:dk1>
      <a:lt1>
        <a:srgbClr val="FFFFFF"/>
      </a:lt1>
      <a:dk2>
        <a:srgbClr val="3E4C59"/>
      </a:dk2>
      <a:lt2>
        <a:srgbClr val="F4F5F7"/>
      </a:lt2>
      <a:accent1>
        <a:srgbClr val="2E6DA4"/>
      </a:accent1>
      <a:accent2>
        <a:srgbClr val="7B4F96"/>
      </a:accent2>
      <a:accent3>
        <a:srgbClr val="B7791F"/>
      </a:accent3>
      <a:accent4>
        <a:srgbClr val="B23A30"/>
      </a:accent4>
      <a:accent5>
        <a:srgbClr val="2F7D4F"/>
      </a:accent5>
      <a:accent6>
        <a:srgbClr val="4A5B78"/>
      </a:accent6>
      <a:hlink>
        <a:srgbClr val="2E6DA4"/>
      </a:hlink>
      <a:folHlink>
        <a:srgbClr val="7B4F96"/>
      </a:folHlink>
    </a:clrScheme>
    <a:fontScheme name="Flu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 ticket à la merge request</dc:title>
  <dc:subject>/fortify, /go, /fix, /tests, sans ticket</dc:subject>
  <dc:creator/>
  <cp:lastModifiedBy/>
  <cp:revision>1</cp:revision>
  <dcterms:created xsi:type="dcterms:W3CDTF">2026-10-27T10:39:51Z</dcterms:created>
  <dcterms:modified xsi:type="dcterms:W3CDTF">2026-10-27T10:39:51Z</dcterms:modified>
</cp:coreProperties>
</file>